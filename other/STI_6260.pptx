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6" r:id="rId1"/>
  </p:sldMasterIdLst>
  <p:notesMasterIdLst>
    <p:notesMasterId r:id="rId19"/>
  </p:notesMasterIdLst>
  <p:sldIdLst>
    <p:sldId id="256" r:id="rId2"/>
    <p:sldId id="257" r:id="rId3"/>
    <p:sldId id="258" r:id="rId4"/>
    <p:sldId id="285" r:id="rId5"/>
    <p:sldId id="259" r:id="rId6"/>
    <p:sldId id="260" r:id="rId7"/>
    <p:sldId id="273" r:id="rId8"/>
    <p:sldId id="277" r:id="rId9"/>
    <p:sldId id="290" r:id="rId10"/>
    <p:sldId id="279" r:id="rId11"/>
    <p:sldId id="289" r:id="rId12"/>
    <p:sldId id="284" r:id="rId13"/>
    <p:sldId id="263" r:id="rId14"/>
    <p:sldId id="286" r:id="rId15"/>
    <p:sldId id="287" r:id="rId16"/>
    <p:sldId id="291" r:id="rId17"/>
    <p:sldId id="28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>
        <p:scale>
          <a:sx n="75" d="100"/>
          <a:sy n="75" d="100"/>
        </p:scale>
        <p:origin x="1950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image" Target="../media/image3.jp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image" Target="../media/image3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1F138F-8E3F-4E90-9207-7F152DD3A134}" type="doc">
      <dgm:prSet loTypeId="urn:microsoft.com/office/officeart/2005/8/layout/hList7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64B8F6-B95D-4A11-A10A-D2C1DF36FBF1}">
      <dgm:prSet phldrT="[Text]"/>
      <dgm:spPr>
        <a:solidFill>
          <a:schemeClr val="accent5">
            <a:lumMod val="75000"/>
          </a:schemeClr>
        </a:solidFill>
        <a:ln>
          <a:noFill/>
        </a:ln>
      </dgm:spPr>
      <dgm:t>
        <a:bodyPr/>
        <a:lstStyle/>
        <a:p>
          <a:endParaRPr lang="en-US" sz="1600" dirty="0"/>
        </a:p>
      </dgm:t>
    </dgm:pt>
    <dgm:pt modelId="{0FBC023C-533F-47EA-B694-CD5155309DAE}" type="parTrans" cxnId="{3E3AFF9D-681E-49AF-B5A5-1427AD15E0EA}">
      <dgm:prSet/>
      <dgm:spPr/>
      <dgm:t>
        <a:bodyPr/>
        <a:lstStyle/>
        <a:p>
          <a:endParaRPr lang="en-US"/>
        </a:p>
      </dgm:t>
    </dgm:pt>
    <dgm:pt modelId="{BEB56A62-2A7B-4ADE-A5C5-ECCD39D65E0F}" type="sibTrans" cxnId="{3E3AFF9D-681E-49AF-B5A5-1427AD15E0EA}">
      <dgm:prSet/>
      <dgm:spPr/>
      <dgm:t>
        <a:bodyPr/>
        <a:lstStyle/>
        <a:p>
          <a:endParaRPr lang="en-US"/>
        </a:p>
      </dgm:t>
    </dgm:pt>
    <dgm:pt modelId="{956DD655-D8D0-4F61-8636-F9E94DCC8291}">
      <dgm:prSet phldrT="[Text]" custT="1"/>
      <dgm:spPr/>
      <dgm:t>
        <a:bodyPr/>
        <a:lstStyle/>
        <a:p>
          <a:r>
            <a:rPr lang="en-US" sz="1800" dirty="0"/>
            <a:t>Designing rooftop PV solar system using </a:t>
          </a:r>
          <a:r>
            <a:rPr lang="en-US" sz="1800" dirty="0" err="1"/>
            <a:t>HelioScope</a:t>
          </a:r>
          <a:endParaRPr lang="en-US" sz="1800" dirty="0"/>
        </a:p>
      </dgm:t>
    </dgm:pt>
    <dgm:pt modelId="{D70610DD-8643-4C79-A48A-FFBEF142F147}" type="parTrans" cxnId="{B82128AA-F185-4C32-9934-44299F4D299B}">
      <dgm:prSet/>
      <dgm:spPr/>
      <dgm:t>
        <a:bodyPr/>
        <a:lstStyle/>
        <a:p>
          <a:endParaRPr lang="en-US"/>
        </a:p>
      </dgm:t>
    </dgm:pt>
    <dgm:pt modelId="{B2BE1743-D091-45B9-BA38-15AED66D4A12}" type="sibTrans" cxnId="{B82128AA-F185-4C32-9934-44299F4D299B}">
      <dgm:prSet/>
      <dgm:spPr/>
      <dgm:t>
        <a:bodyPr/>
        <a:lstStyle/>
        <a:p>
          <a:endParaRPr lang="en-US"/>
        </a:p>
      </dgm:t>
    </dgm:pt>
    <dgm:pt modelId="{EE7BA085-08E2-4B34-B114-C4923A3B2674}">
      <dgm:prSet phldrT="[Text]"/>
      <dgm:spPr>
        <a:solidFill>
          <a:schemeClr val="accent5">
            <a:lumMod val="75000"/>
          </a:schemeClr>
        </a:solidFill>
        <a:ln>
          <a:noFill/>
        </a:ln>
      </dgm:spPr>
      <dgm:t>
        <a:bodyPr/>
        <a:lstStyle/>
        <a:p>
          <a:endParaRPr lang="en-US" sz="1600" dirty="0"/>
        </a:p>
      </dgm:t>
    </dgm:pt>
    <dgm:pt modelId="{F46547E4-0C4C-4402-94C3-1742BA7503E1}" type="parTrans" cxnId="{02EA98C9-287D-4FC6-ACB5-69DF6641C65D}">
      <dgm:prSet/>
      <dgm:spPr/>
      <dgm:t>
        <a:bodyPr/>
        <a:lstStyle/>
        <a:p>
          <a:endParaRPr lang="en-US"/>
        </a:p>
      </dgm:t>
    </dgm:pt>
    <dgm:pt modelId="{C695F210-3911-4334-B747-33F65CD7181F}" type="sibTrans" cxnId="{02EA98C9-287D-4FC6-ACB5-69DF6641C65D}">
      <dgm:prSet/>
      <dgm:spPr/>
      <dgm:t>
        <a:bodyPr/>
        <a:lstStyle/>
        <a:p>
          <a:endParaRPr lang="en-US"/>
        </a:p>
      </dgm:t>
    </dgm:pt>
    <dgm:pt modelId="{80836822-A9B1-4BD8-8F4E-234097CE05B7}">
      <dgm:prSet phldrT="[Text]" custT="1"/>
      <dgm:spPr/>
      <dgm:t>
        <a:bodyPr/>
        <a:lstStyle/>
        <a:p>
          <a:r>
            <a:rPr lang="en-US" sz="1800" dirty="0"/>
            <a:t>To reduce the telecommunication towers power consumption by using Airdolphin Turbine.</a:t>
          </a:r>
        </a:p>
      </dgm:t>
    </dgm:pt>
    <dgm:pt modelId="{108971CF-C305-4A31-A76B-BD99C8497813}" type="parTrans" cxnId="{A9A927DF-9D31-4D93-A36F-28134E3CB514}">
      <dgm:prSet/>
      <dgm:spPr/>
      <dgm:t>
        <a:bodyPr/>
        <a:lstStyle/>
        <a:p>
          <a:endParaRPr lang="en-US"/>
        </a:p>
      </dgm:t>
    </dgm:pt>
    <dgm:pt modelId="{BE558F3E-A13F-406F-AAF0-E599E8D09D1D}" type="sibTrans" cxnId="{A9A927DF-9D31-4D93-A36F-28134E3CB514}">
      <dgm:prSet/>
      <dgm:spPr/>
      <dgm:t>
        <a:bodyPr/>
        <a:lstStyle/>
        <a:p>
          <a:endParaRPr lang="en-US"/>
        </a:p>
      </dgm:t>
    </dgm:pt>
    <dgm:pt modelId="{94A02B02-97CE-488F-9A40-BFA3FAE40AA6}">
      <dgm:prSet phldrT="[Text]"/>
      <dgm:spPr/>
      <dgm:t>
        <a:bodyPr/>
        <a:lstStyle/>
        <a:p>
          <a:endParaRPr lang="en-US" sz="1200" dirty="0"/>
        </a:p>
      </dgm:t>
    </dgm:pt>
    <dgm:pt modelId="{FBCC8B38-1F17-404B-A042-BEA86632362D}" type="parTrans" cxnId="{14903FB1-3A10-470D-9A97-B3D40E06E528}">
      <dgm:prSet/>
      <dgm:spPr/>
      <dgm:t>
        <a:bodyPr/>
        <a:lstStyle/>
        <a:p>
          <a:endParaRPr lang="en-US"/>
        </a:p>
      </dgm:t>
    </dgm:pt>
    <dgm:pt modelId="{1A0F32B6-C654-4E43-BAE1-2E02184901B0}" type="sibTrans" cxnId="{14903FB1-3A10-470D-9A97-B3D40E06E528}">
      <dgm:prSet/>
      <dgm:spPr/>
      <dgm:t>
        <a:bodyPr/>
        <a:lstStyle/>
        <a:p>
          <a:endParaRPr lang="en-US"/>
        </a:p>
      </dgm:t>
    </dgm:pt>
    <dgm:pt modelId="{6E7C42F8-018F-4132-A7B3-95A2962D5A17}">
      <dgm:prSet phldrT="[Text]"/>
      <dgm:spPr/>
      <dgm:t>
        <a:bodyPr/>
        <a:lstStyle/>
        <a:p>
          <a:endParaRPr lang="en-US" sz="1200" dirty="0"/>
        </a:p>
      </dgm:t>
    </dgm:pt>
    <dgm:pt modelId="{93C4ECC0-4B37-4C77-9909-FEF153CCAA3C}" type="parTrans" cxnId="{DA8AA15C-16FB-49BE-ACF2-72E60DA500BA}">
      <dgm:prSet/>
      <dgm:spPr/>
      <dgm:t>
        <a:bodyPr/>
        <a:lstStyle/>
        <a:p>
          <a:endParaRPr lang="en-US"/>
        </a:p>
      </dgm:t>
    </dgm:pt>
    <dgm:pt modelId="{39205F75-106C-4265-BE66-0C1D3292F932}" type="sibTrans" cxnId="{DA8AA15C-16FB-49BE-ACF2-72E60DA500BA}">
      <dgm:prSet/>
      <dgm:spPr/>
      <dgm:t>
        <a:bodyPr/>
        <a:lstStyle/>
        <a:p>
          <a:endParaRPr lang="en-US"/>
        </a:p>
      </dgm:t>
    </dgm:pt>
    <dgm:pt modelId="{A1772E9D-A4C8-4B7D-BDC8-615849BB971B}">
      <dgm:prSet phldrT="[Text]" custT="1"/>
      <dgm:spPr/>
      <dgm:t>
        <a:bodyPr/>
        <a:lstStyle/>
        <a:p>
          <a:r>
            <a:rPr lang="en-US" sz="1800" dirty="0"/>
            <a:t>Dividing whole Dhaka city by govt. &amp; private section.</a:t>
          </a:r>
        </a:p>
      </dgm:t>
    </dgm:pt>
    <dgm:pt modelId="{6D1F4971-7B53-40F4-BA5C-570EAA47686F}" type="parTrans" cxnId="{95F0B58E-9019-405E-82C0-5BC43A9E9FBB}">
      <dgm:prSet/>
      <dgm:spPr/>
      <dgm:t>
        <a:bodyPr/>
        <a:lstStyle/>
        <a:p>
          <a:endParaRPr lang="en-US"/>
        </a:p>
      </dgm:t>
    </dgm:pt>
    <dgm:pt modelId="{293D1118-1780-46D2-980C-CDD940925B38}" type="sibTrans" cxnId="{95F0B58E-9019-405E-82C0-5BC43A9E9FBB}">
      <dgm:prSet/>
      <dgm:spPr/>
      <dgm:t>
        <a:bodyPr/>
        <a:lstStyle/>
        <a:p>
          <a:endParaRPr lang="en-US"/>
        </a:p>
      </dgm:t>
    </dgm:pt>
    <dgm:pt modelId="{119E448F-FADE-479C-B3F6-A458E5917CD6}">
      <dgm:prSet phldrT="[Text]" custT="1"/>
      <dgm:spPr/>
      <dgm:t>
        <a:bodyPr/>
        <a:lstStyle/>
        <a:p>
          <a:r>
            <a:rPr lang="en-US" sz="1800" dirty="0"/>
            <a:t>To utilize the wind energy of Dhaka city by using telecommunication towers.</a:t>
          </a:r>
        </a:p>
      </dgm:t>
    </dgm:pt>
    <dgm:pt modelId="{5FE358DD-633A-449B-889C-B1EBB6367D81}" type="parTrans" cxnId="{28A7CA62-97D1-4EFA-83DD-07CFDB7A6265}">
      <dgm:prSet/>
      <dgm:spPr/>
      <dgm:t>
        <a:bodyPr/>
        <a:lstStyle/>
        <a:p>
          <a:endParaRPr lang="en-US"/>
        </a:p>
      </dgm:t>
    </dgm:pt>
    <dgm:pt modelId="{B665A681-472E-4368-A461-DF606A60974C}" type="sibTrans" cxnId="{28A7CA62-97D1-4EFA-83DD-07CFDB7A6265}">
      <dgm:prSet/>
      <dgm:spPr/>
      <dgm:t>
        <a:bodyPr/>
        <a:lstStyle/>
        <a:p>
          <a:endParaRPr lang="en-US"/>
        </a:p>
      </dgm:t>
    </dgm:pt>
    <dgm:pt modelId="{DEFDD440-D58F-40A9-AFBC-822DA75FFF5E}" type="pres">
      <dgm:prSet presAssocID="{781F138F-8E3F-4E90-9207-7F152DD3A134}" presName="Name0" presStyleCnt="0">
        <dgm:presLayoutVars>
          <dgm:dir/>
          <dgm:resizeHandles val="exact"/>
        </dgm:presLayoutVars>
      </dgm:prSet>
      <dgm:spPr/>
    </dgm:pt>
    <dgm:pt modelId="{A3809183-427A-4797-96BF-52C718327B50}" type="pres">
      <dgm:prSet presAssocID="{781F138F-8E3F-4E90-9207-7F152DD3A134}" presName="fgShape" presStyleLbl="fgShp" presStyleIdx="0" presStyleCnt="1" custScaleX="100909" custLinFactNeighborY="35193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solidFill>
          <a:schemeClr val="bg2">
            <a:lumMod val="60000"/>
            <a:lumOff val="40000"/>
          </a:schemeClr>
        </a:solidFill>
      </dgm:spPr>
    </dgm:pt>
    <dgm:pt modelId="{680EDAFB-4429-46AD-B390-B2792AC69246}" type="pres">
      <dgm:prSet presAssocID="{781F138F-8E3F-4E90-9207-7F152DD3A134}" presName="linComp" presStyleCnt="0"/>
      <dgm:spPr/>
    </dgm:pt>
    <dgm:pt modelId="{2F682B7D-74FD-422A-8885-65D9BCCAE75A}" type="pres">
      <dgm:prSet presAssocID="{8664B8F6-B95D-4A11-A10A-D2C1DF36FBF1}" presName="compNode" presStyleCnt="0"/>
      <dgm:spPr/>
    </dgm:pt>
    <dgm:pt modelId="{A33F283A-38E8-4CC5-BDAD-B45FC608CC29}" type="pres">
      <dgm:prSet presAssocID="{8664B8F6-B95D-4A11-A10A-D2C1DF36FBF1}" presName="bkgdShape" presStyleLbl="node1" presStyleIdx="0" presStyleCnt="2"/>
      <dgm:spPr/>
    </dgm:pt>
    <dgm:pt modelId="{EE38A3E3-39D2-4622-8F56-005638BDD986}" type="pres">
      <dgm:prSet presAssocID="{8664B8F6-B95D-4A11-A10A-D2C1DF36FBF1}" presName="nodeTx" presStyleLbl="node1" presStyleIdx="0" presStyleCnt="2">
        <dgm:presLayoutVars>
          <dgm:bulletEnabled val="1"/>
        </dgm:presLayoutVars>
      </dgm:prSet>
      <dgm:spPr/>
    </dgm:pt>
    <dgm:pt modelId="{8B0BCDAE-C9B1-45E5-8BCA-ED2059E5F9A1}" type="pres">
      <dgm:prSet presAssocID="{8664B8F6-B95D-4A11-A10A-D2C1DF36FBF1}" presName="invisiNode" presStyleLbl="node1" presStyleIdx="0" presStyleCnt="2"/>
      <dgm:spPr/>
    </dgm:pt>
    <dgm:pt modelId="{2E80C11C-5207-46F1-9E3B-B8510824FD84}" type="pres">
      <dgm:prSet presAssocID="{8664B8F6-B95D-4A11-A10A-D2C1DF36FBF1}" presName="imagNode" presStyleLbl="fgImgPlace1" presStyleIdx="0" presStyleCnt="2" custLinFactNeighborX="5947" custLinFactNeighborY="5947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000" r="-8000"/>
          </a:stretch>
        </a:blipFill>
      </dgm:spPr>
    </dgm:pt>
    <dgm:pt modelId="{DF439A1E-E0F6-4375-9E05-15DDDE059FF0}" type="pres">
      <dgm:prSet presAssocID="{BEB56A62-2A7B-4ADE-A5C5-ECCD39D65E0F}" presName="sibTrans" presStyleLbl="sibTrans2D1" presStyleIdx="0" presStyleCnt="0"/>
      <dgm:spPr/>
    </dgm:pt>
    <dgm:pt modelId="{66476530-A816-4543-814F-3C97D62E796A}" type="pres">
      <dgm:prSet presAssocID="{EE7BA085-08E2-4B34-B114-C4923A3B2674}" presName="compNode" presStyleCnt="0"/>
      <dgm:spPr/>
    </dgm:pt>
    <dgm:pt modelId="{954154A8-2A78-41F8-B7DC-88A93838ADF3}" type="pres">
      <dgm:prSet presAssocID="{EE7BA085-08E2-4B34-B114-C4923A3B2674}" presName="bkgdShape" presStyleLbl="node1" presStyleIdx="1" presStyleCnt="2"/>
      <dgm:spPr/>
    </dgm:pt>
    <dgm:pt modelId="{126CA5A9-767D-4512-8060-A21FA38F9BBD}" type="pres">
      <dgm:prSet presAssocID="{EE7BA085-08E2-4B34-B114-C4923A3B2674}" presName="nodeTx" presStyleLbl="node1" presStyleIdx="1" presStyleCnt="2">
        <dgm:presLayoutVars>
          <dgm:bulletEnabled val="1"/>
        </dgm:presLayoutVars>
      </dgm:prSet>
      <dgm:spPr/>
    </dgm:pt>
    <dgm:pt modelId="{D319A306-1DE3-4C17-9E93-47BF872273CE}" type="pres">
      <dgm:prSet presAssocID="{EE7BA085-08E2-4B34-B114-C4923A3B2674}" presName="invisiNode" presStyleLbl="node1" presStyleIdx="1" presStyleCnt="2"/>
      <dgm:spPr/>
    </dgm:pt>
    <dgm:pt modelId="{495C10BA-73A6-431E-B973-A04F76AFCCFB}" type="pres">
      <dgm:prSet presAssocID="{EE7BA085-08E2-4B34-B114-C4923A3B2674}" presName="imagNode" presStyleLbl="fgImgPlace1" presStyleIdx="1" presStyleCnt="2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</dgm:ptLst>
  <dgm:cxnLst>
    <dgm:cxn modelId="{890ED809-400E-4B7C-893E-E398A5DFD92C}" type="presOf" srcId="{956DD655-D8D0-4F61-8636-F9E94DCC8291}" destId="{A33F283A-38E8-4CC5-BDAD-B45FC608CC29}" srcOrd="0" destOrd="2" presId="urn:microsoft.com/office/officeart/2005/8/layout/hList7"/>
    <dgm:cxn modelId="{87DD421E-1BCC-49D0-AFAE-1AFE5563D5EE}" type="presOf" srcId="{BEB56A62-2A7B-4ADE-A5C5-ECCD39D65E0F}" destId="{DF439A1E-E0F6-4375-9E05-15DDDE059FF0}" srcOrd="0" destOrd="0" presId="urn:microsoft.com/office/officeart/2005/8/layout/hList7"/>
    <dgm:cxn modelId="{97E09B26-C5C9-419E-BBCC-1414A0FB0395}" type="presOf" srcId="{6E7C42F8-018F-4132-A7B3-95A2962D5A17}" destId="{126CA5A9-767D-4512-8060-A21FA38F9BBD}" srcOrd="1" destOrd="4" presId="urn:microsoft.com/office/officeart/2005/8/layout/hList7"/>
    <dgm:cxn modelId="{39860F31-3F99-47E9-951B-D52D29E18240}" type="presOf" srcId="{94A02B02-97CE-488F-9A40-BFA3FAE40AA6}" destId="{954154A8-2A78-41F8-B7DC-88A93838ADF3}" srcOrd="0" destOrd="3" presId="urn:microsoft.com/office/officeart/2005/8/layout/hList7"/>
    <dgm:cxn modelId="{DA8AA15C-16FB-49BE-ACF2-72E60DA500BA}" srcId="{EE7BA085-08E2-4B34-B114-C4923A3B2674}" destId="{6E7C42F8-018F-4132-A7B3-95A2962D5A17}" srcOrd="3" destOrd="0" parTransId="{93C4ECC0-4B37-4C77-9909-FEF153CCAA3C}" sibTransId="{39205F75-106C-4265-BE66-0C1D3292F932}"/>
    <dgm:cxn modelId="{04BE675E-F0F3-4940-836E-D664A5F3A53F}" type="presOf" srcId="{94A02B02-97CE-488F-9A40-BFA3FAE40AA6}" destId="{126CA5A9-767D-4512-8060-A21FA38F9BBD}" srcOrd="1" destOrd="3" presId="urn:microsoft.com/office/officeart/2005/8/layout/hList7"/>
    <dgm:cxn modelId="{28A7CA62-97D1-4EFA-83DD-07CFDB7A6265}" srcId="{EE7BA085-08E2-4B34-B114-C4923A3B2674}" destId="{119E448F-FADE-479C-B3F6-A458E5917CD6}" srcOrd="0" destOrd="0" parTransId="{5FE358DD-633A-449B-889C-B1EBB6367D81}" sibTransId="{B665A681-472E-4368-A461-DF606A60974C}"/>
    <dgm:cxn modelId="{38E9E564-0F7D-4F78-8494-9B957ED5016A}" type="presOf" srcId="{80836822-A9B1-4BD8-8F4E-234097CE05B7}" destId="{954154A8-2A78-41F8-B7DC-88A93838ADF3}" srcOrd="0" destOrd="2" presId="urn:microsoft.com/office/officeart/2005/8/layout/hList7"/>
    <dgm:cxn modelId="{46D66245-4167-4B54-A672-1DD01CE32956}" type="presOf" srcId="{956DD655-D8D0-4F61-8636-F9E94DCC8291}" destId="{EE38A3E3-39D2-4622-8F56-005638BDD986}" srcOrd="1" destOrd="2" presId="urn:microsoft.com/office/officeart/2005/8/layout/hList7"/>
    <dgm:cxn modelId="{95F0B58E-9019-405E-82C0-5BC43A9E9FBB}" srcId="{8664B8F6-B95D-4A11-A10A-D2C1DF36FBF1}" destId="{A1772E9D-A4C8-4B7D-BDC8-615849BB971B}" srcOrd="0" destOrd="0" parTransId="{6D1F4971-7B53-40F4-BA5C-570EAA47686F}" sibTransId="{293D1118-1780-46D2-980C-CDD940925B38}"/>
    <dgm:cxn modelId="{3E3AFF9D-681E-49AF-B5A5-1427AD15E0EA}" srcId="{781F138F-8E3F-4E90-9207-7F152DD3A134}" destId="{8664B8F6-B95D-4A11-A10A-D2C1DF36FBF1}" srcOrd="0" destOrd="0" parTransId="{0FBC023C-533F-47EA-B694-CD5155309DAE}" sibTransId="{BEB56A62-2A7B-4ADE-A5C5-ECCD39D65E0F}"/>
    <dgm:cxn modelId="{2244A09F-80B0-4802-9E86-1BE0E3BCF203}" type="presOf" srcId="{119E448F-FADE-479C-B3F6-A458E5917CD6}" destId="{126CA5A9-767D-4512-8060-A21FA38F9BBD}" srcOrd="1" destOrd="1" presId="urn:microsoft.com/office/officeart/2005/8/layout/hList7"/>
    <dgm:cxn modelId="{83339DA5-886E-43E0-89D1-7104F491F72F}" type="presOf" srcId="{6E7C42F8-018F-4132-A7B3-95A2962D5A17}" destId="{954154A8-2A78-41F8-B7DC-88A93838ADF3}" srcOrd="0" destOrd="4" presId="urn:microsoft.com/office/officeart/2005/8/layout/hList7"/>
    <dgm:cxn modelId="{B82128AA-F185-4C32-9934-44299F4D299B}" srcId="{8664B8F6-B95D-4A11-A10A-D2C1DF36FBF1}" destId="{956DD655-D8D0-4F61-8636-F9E94DCC8291}" srcOrd="1" destOrd="0" parTransId="{D70610DD-8643-4C79-A48A-FFBEF142F147}" sibTransId="{B2BE1743-D091-45B9-BA38-15AED66D4A12}"/>
    <dgm:cxn modelId="{14903FB1-3A10-470D-9A97-B3D40E06E528}" srcId="{EE7BA085-08E2-4B34-B114-C4923A3B2674}" destId="{94A02B02-97CE-488F-9A40-BFA3FAE40AA6}" srcOrd="2" destOrd="0" parTransId="{FBCC8B38-1F17-404B-A042-BEA86632362D}" sibTransId="{1A0F32B6-C654-4E43-BAE1-2E02184901B0}"/>
    <dgm:cxn modelId="{221CA9BA-3B72-4065-AD6B-DAE6C478FDEC}" type="presOf" srcId="{8664B8F6-B95D-4A11-A10A-D2C1DF36FBF1}" destId="{A33F283A-38E8-4CC5-BDAD-B45FC608CC29}" srcOrd="0" destOrd="0" presId="urn:microsoft.com/office/officeart/2005/8/layout/hList7"/>
    <dgm:cxn modelId="{606431C5-94A7-49A8-8071-7F484607D83A}" type="presOf" srcId="{A1772E9D-A4C8-4B7D-BDC8-615849BB971B}" destId="{EE38A3E3-39D2-4622-8F56-005638BDD986}" srcOrd="1" destOrd="1" presId="urn:microsoft.com/office/officeart/2005/8/layout/hList7"/>
    <dgm:cxn modelId="{02EA98C9-287D-4FC6-ACB5-69DF6641C65D}" srcId="{781F138F-8E3F-4E90-9207-7F152DD3A134}" destId="{EE7BA085-08E2-4B34-B114-C4923A3B2674}" srcOrd="1" destOrd="0" parTransId="{F46547E4-0C4C-4402-94C3-1742BA7503E1}" sibTransId="{C695F210-3911-4334-B747-33F65CD7181F}"/>
    <dgm:cxn modelId="{A9A927DF-9D31-4D93-A36F-28134E3CB514}" srcId="{EE7BA085-08E2-4B34-B114-C4923A3B2674}" destId="{80836822-A9B1-4BD8-8F4E-234097CE05B7}" srcOrd="1" destOrd="0" parTransId="{108971CF-C305-4A31-A76B-BD99C8497813}" sibTransId="{BE558F3E-A13F-406F-AAF0-E599E8D09D1D}"/>
    <dgm:cxn modelId="{1A7773E4-1F67-494D-926D-C4401FB567CB}" type="presOf" srcId="{8664B8F6-B95D-4A11-A10A-D2C1DF36FBF1}" destId="{EE38A3E3-39D2-4622-8F56-005638BDD986}" srcOrd="1" destOrd="0" presId="urn:microsoft.com/office/officeart/2005/8/layout/hList7"/>
    <dgm:cxn modelId="{AF589BE6-18F4-4533-9B5D-0AC6482AD28A}" type="presOf" srcId="{781F138F-8E3F-4E90-9207-7F152DD3A134}" destId="{DEFDD440-D58F-40A9-AFBC-822DA75FFF5E}" srcOrd="0" destOrd="0" presId="urn:microsoft.com/office/officeart/2005/8/layout/hList7"/>
    <dgm:cxn modelId="{5093A1E7-7481-4DF0-858C-CBAD9C82C4A3}" type="presOf" srcId="{119E448F-FADE-479C-B3F6-A458E5917CD6}" destId="{954154A8-2A78-41F8-B7DC-88A93838ADF3}" srcOrd="0" destOrd="1" presId="urn:microsoft.com/office/officeart/2005/8/layout/hList7"/>
    <dgm:cxn modelId="{91FEB5F1-6153-4282-A17A-704686B6D7C9}" type="presOf" srcId="{EE7BA085-08E2-4B34-B114-C4923A3B2674}" destId="{126CA5A9-767D-4512-8060-A21FA38F9BBD}" srcOrd="1" destOrd="0" presId="urn:microsoft.com/office/officeart/2005/8/layout/hList7"/>
    <dgm:cxn modelId="{3B37AEF2-F484-451A-9C78-E6F365F057C3}" type="presOf" srcId="{80836822-A9B1-4BD8-8F4E-234097CE05B7}" destId="{126CA5A9-767D-4512-8060-A21FA38F9BBD}" srcOrd="1" destOrd="2" presId="urn:microsoft.com/office/officeart/2005/8/layout/hList7"/>
    <dgm:cxn modelId="{AC6FC8F6-9C6F-4550-B11C-B1E17C96F812}" type="presOf" srcId="{EE7BA085-08E2-4B34-B114-C4923A3B2674}" destId="{954154A8-2A78-41F8-B7DC-88A93838ADF3}" srcOrd="0" destOrd="0" presId="urn:microsoft.com/office/officeart/2005/8/layout/hList7"/>
    <dgm:cxn modelId="{C25EBEFC-DA64-4D63-9D8E-02A0638840F8}" type="presOf" srcId="{A1772E9D-A4C8-4B7D-BDC8-615849BB971B}" destId="{A33F283A-38E8-4CC5-BDAD-B45FC608CC29}" srcOrd="0" destOrd="1" presId="urn:microsoft.com/office/officeart/2005/8/layout/hList7"/>
    <dgm:cxn modelId="{BFCFC93F-A87E-4D1B-A162-E26574D3CE3A}" type="presParOf" srcId="{DEFDD440-D58F-40A9-AFBC-822DA75FFF5E}" destId="{A3809183-427A-4797-96BF-52C718327B50}" srcOrd="0" destOrd="0" presId="urn:microsoft.com/office/officeart/2005/8/layout/hList7"/>
    <dgm:cxn modelId="{2DDCCA56-60EE-4942-9D01-06FFAB38565E}" type="presParOf" srcId="{DEFDD440-D58F-40A9-AFBC-822DA75FFF5E}" destId="{680EDAFB-4429-46AD-B390-B2792AC69246}" srcOrd="1" destOrd="0" presId="urn:microsoft.com/office/officeart/2005/8/layout/hList7"/>
    <dgm:cxn modelId="{01F35CBE-A5B3-4EA5-B30B-08203F7BA08B}" type="presParOf" srcId="{680EDAFB-4429-46AD-B390-B2792AC69246}" destId="{2F682B7D-74FD-422A-8885-65D9BCCAE75A}" srcOrd="0" destOrd="0" presId="urn:microsoft.com/office/officeart/2005/8/layout/hList7"/>
    <dgm:cxn modelId="{0CA51079-E238-423A-A7C7-507542038818}" type="presParOf" srcId="{2F682B7D-74FD-422A-8885-65D9BCCAE75A}" destId="{A33F283A-38E8-4CC5-BDAD-B45FC608CC29}" srcOrd="0" destOrd="0" presId="urn:microsoft.com/office/officeart/2005/8/layout/hList7"/>
    <dgm:cxn modelId="{D304368A-50C7-4F80-93A9-F8F9F01C1311}" type="presParOf" srcId="{2F682B7D-74FD-422A-8885-65D9BCCAE75A}" destId="{EE38A3E3-39D2-4622-8F56-005638BDD986}" srcOrd="1" destOrd="0" presId="urn:microsoft.com/office/officeart/2005/8/layout/hList7"/>
    <dgm:cxn modelId="{32CB9B61-4F2B-443E-AFC4-770BDAA9872B}" type="presParOf" srcId="{2F682B7D-74FD-422A-8885-65D9BCCAE75A}" destId="{8B0BCDAE-C9B1-45E5-8BCA-ED2059E5F9A1}" srcOrd="2" destOrd="0" presId="urn:microsoft.com/office/officeart/2005/8/layout/hList7"/>
    <dgm:cxn modelId="{09FA1284-2C79-47CB-A93C-BFA2914B6876}" type="presParOf" srcId="{2F682B7D-74FD-422A-8885-65D9BCCAE75A}" destId="{2E80C11C-5207-46F1-9E3B-B8510824FD84}" srcOrd="3" destOrd="0" presId="urn:microsoft.com/office/officeart/2005/8/layout/hList7"/>
    <dgm:cxn modelId="{8377627A-A8E1-4B64-B061-26E039A34534}" type="presParOf" srcId="{680EDAFB-4429-46AD-B390-B2792AC69246}" destId="{DF439A1E-E0F6-4375-9E05-15DDDE059FF0}" srcOrd="1" destOrd="0" presId="urn:microsoft.com/office/officeart/2005/8/layout/hList7"/>
    <dgm:cxn modelId="{C65603F9-5AF4-45B2-ABE8-A5B0CDB16482}" type="presParOf" srcId="{680EDAFB-4429-46AD-B390-B2792AC69246}" destId="{66476530-A816-4543-814F-3C97D62E796A}" srcOrd="2" destOrd="0" presId="urn:microsoft.com/office/officeart/2005/8/layout/hList7"/>
    <dgm:cxn modelId="{81DB718A-18CC-4876-99C9-08ADDE68A0F8}" type="presParOf" srcId="{66476530-A816-4543-814F-3C97D62E796A}" destId="{954154A8-2A78-41F8-B7DC-88A93838ADF3}" srcOrd="0" destOrd="0" presId="urn:microsoft.com/office/officeart/2005/8/layout/hList7"/>
    <dgm:cxn modelId="{B6834654-094C-4AD2-9937-4302B723C1B1}" type="presParOf" srcId="{66476530-A816-4543-814F-3C97D62E796A}" destId="{126CA5A9-767D-4512-8060-A21FA38F9BBD}" srcOrd="1" destOrd="0" presId="urn:microsoft.com/office/officeart/2005/8/layout/hList7"/>
    <dgm:cxn modelId="{7938EE6F-19D2-4244-97AC-E9C2B884E885}" type="presParOf" srcId="{66476530-A816-4543-814F-3C97D62E796A}" destId="{D319A306-1DE3-4C17-9E93-47BF872273CE}" srcOrd="2" destOrd="0" presId="urn:microsoft.com/office/officeart/2005/8/layout/hList7"/>
    <dgm:cxn modelId="{6C06E666-E778-42B7-B777-2A424DFB3656}" type="presParOf" srcId="{66476530-A816-4543-814F-3C97D62E796A}" destId="{495C10BA-73A6-431E-B973-A04F76AFCCFB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3F283A-38E8-4CC5-BDAD-B45FC608CC29}">
      <dsp:nvSpPr>
        <dsp:cNvPr id="0" name=""/>
        <dsp:cNvSpPr/>
      </dsp:nvSpPr>
      <dsp:spPr>
        <a:xfrm>
          <a:off x="4719" y="0"/>
          <a:ext cx="5405907" cy="5092700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t" anchorCtr="1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Dividing whole Dhaka city by govt. &amp; private section.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Designing rooftop PV solar system using </a:t>
          </a:r>
          <a:r>
            <a:rPr lang="en-US" sz="1800" kern="1200" dirty="0" err="1"/>
            <a:t>HelioScope</a:t>
          </a:r>
          <a:endParaRPr lang="en-US" sz="1800" kern="1200" dirty="0"/>
        </a:p>
      </dsp:txBody>
      <dsp:txXfrm>
        <a:off x="4719" y="2037080"/>
        <a:ext cx="5405907" cy="2037080"/>
      </dsp:txXfrm>
    </dsp:sp>
    <dsp:sp modelId="{2E80C11C-5207-46F1-9E3B-B8510824FD84}">
      <dsp:nvSpPr>
        <dsp:cNvPr id="0" name=""/>
        <dsp:cNvSpPr/>
      </dsp:nvSpPr>
      <dsp:spPr>
        <a:xfrm>
          <a:off x="1960592" y="406415"/>
          <a:ext cx="1695869" cy="169586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000" r="-8000"/>
          </a:stretch>
        </a:blipFill>
        <a:ln w="15875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</dsp:sp>
    <dsp:sp modelId="{954154A8-2A78-41F8-B7DC-88A93838ADF3}">
      <dsp:nvSpPr>
        <dsp:cNvPr id="0" name=""/>
        <dsp:cNvSpPr/>
      </dsp:nvSpPr>
      <dsp:spPr>
        <a:xfrm>
          <a:off x="5572804" y="0"/>
          <a:ext cx="5405907" cy="5092700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t" anchorCtr="1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To utilize the wind energy of Dhaka city by using telecommunication towers.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To reduce the telecommunication towers power consumption by using Airdolphin Turbine.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200" kern="1200" dirty="0"/>
        </a:p>
      </dsp:txBody>
      <dsp:txXfrm>
        <a:off x="5572804" y="2037080"/>
        <a:ext cx="5405907" cy="2037080"/>
      </dsp:txXfrm>
    </dsp:sp>
    <dsp:sp modelId="{495C10BA-73A6-431E-B973-A04F76AFCCFB}">
      <dsp:nvSpPr>
        <dsp:cNvPr id="0" name=""/>
        <dsp:cNvSpPr/>
      </dsp:nvSpPr>
      <dsp:spPr>
        <a:xfrm>
          <a:off x="7427824" y="305562"/>
          <a:ext cx="1695869" cy="1695869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3809183-427A-4797-96BF-52C718327B50}">
      <dsp:nvSpPr>
        <dsp:cNvPr id="0" name=""/>
        <dsp:cNvSpPr/>
      </dsp:nvSpPr>
      <dsp:spPr>
        <a:xfrm>
          <a:off x="393411" y="4328795"/>
          <a:ext cx="10196609" cy="763905"/>
        </a:xfrm>
        <a:prstGeom prst="leftRightArrow">
          <a:avLst/>
        </a:prstGeom>
        <a:solidFill>
          <a:schemeClr val="bg2">
            <a:lumMod val="60000"/>
            <a:lumOff val="40000"/>
          </a:schemeClr>
        </a:solidFill>
        <a:ln w="9525" cap="rnd" cmpd="sng" algn="ctr">
          <a:solidFill>
            <a:schemeClr val="accent4">
              <a:shade val="90000"/>
            </a:schemeClr>
          </a:solidFill>
          <a:prstDash val="solid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421A6-E1EF-49D7-BEDE-4A9AA6BDFDEF}" type="datetimeFigureOut">
              <a:rPr lang="en-GB" smtClean="0"/>
              <a:t>22/11/2023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5DCB2-DF7B-41C0-B84C-159B17267D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327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F5DCB2-DF7B-41C0-B84C-159B17267DF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4052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87E5-62EE-4370-B924-42B7B3BBC632}" type="datetime1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CE05AFB-C6F3-455D-8899-B56639E9A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274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3406A-C817-4FDB-A5C1-2FFB5A7B6B29}" type="datetime1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05AFB-C6F3-455D-8899-B56639E9A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844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E365B-FAB9-4B94-9DE8-8A0BD6018A07}" type="datetime1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CE05AFB-C6F3-455D-8899-B56639E9A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344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31634-A807-418D-846F-71583864DE75}" type="datetime1">
              <a:rPr lang="en-US" smtClean="0"/>
              <a:t>11/22/2023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CE05AFB-C6F3-455D-8899-B56639E9A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932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76739-2467-4632-90F5-3CED220463A4}" type="datetime1">
              <a:rPr lang="en-US" smtClean="0"/>
              <a:t>11/22/2023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CE05AFB-C6F3-455D-8899-B56639E9A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125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08F61-C2BC-4592-9393-9667EB1E10AD}" type="datetime1">
              <a:rPr lang="en-US" smtClean="0"/>
              <a:t>11/22/2023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05AFB-C6F3-455D-8899-B56639E9A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100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B5411-DF20-4BD5-A14F-5ECB41CE3A81}" type="datetime1">
              <a:rPr lang="en-US" smtClean="0"/>
              <a:t>11/22/2023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05AFB-C6F3-455D-8899-B56639E9A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477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C97C-EF5A-47D7-B61F-A1D20874BDB5}" type="datetime1">
              <a:rPr lang="en-US" smtClean="0"/>
              <a:t>11/22/2023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05AFB-C6F3-455D-8899-B56639E9A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681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84236-E08D-4B44-B9C7-AD0C950DAC3C}" type="datetime1">
              <a:rPr lang="en-US" smtClean="0"/>
              <a:t>11/22/2023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CE05AFB-C6F3-455D-8899-B56639E9A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90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A3AE-8D87-43A4-BBD9-B0343DD1AC7F}" type="datetime1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CE05AFB-C6F3-455D-8899-B56639E9A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86257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A3AE-8D87-43A4-BBD9-B0343DD1AC7F}" type="datetime1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CE05AFB-C6F3-455D-8899-B56639E9A0D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3274003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A3AE-8D87-43A4-BBD9-B0343DD1AC7F}" type="datetime1">
              <a:rPr lang="en-US" smtClean="0"/>
              <a:t>11/22/2023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CE05AFB-C6F3-455D-8899-B56639E9A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044251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A3AE-8D87-43A4-BBD9-B0343DD1AC7F}" type="datetime1">
              <a:rPr lang="en-US" smtClean="0"/>
              <a:t>11/22/2023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CE05AFB-C6F3-455D-8899-B56639E9A0DE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2330042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A3AE-8D87-43A4-BBD9-B0343DD1AC7F}" type="datetime1">
              <a:rPr lang="en-US" smtClean="0"/>
              <a:t>11/22/2023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CE05AFB-C6F3-455D-8899-B56639E9A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005091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BD6E3-B596-4722-BF1E-D7DCBD77AE5F}" type="datetime1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05AFB-C6F3-455D-8899-B56639E9A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4583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6C773-88C9-4338-BA10-024447153C6F}" type="datetime1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05AFB-C6F3-455D-8899-B56639E9A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479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AEA3AE-8D87-43A4-BBD9-B0343DD1AC7F}" type="datetime1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CE05AFB-C6F3-455D-8899-B56639E9A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453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877" r:id="rId11"/>
    <p:sldLayoutId id="2147483878" r:id="rId12"/>
    <p:sldLayoutId id="2147483879" r:id="rId13"/>
    <p:sldLayoutId id="2147483880" r:id="rId14"/>
    <p:sldLayoutId id="2147483881" r:id="rId15"/>
    <p:sldLayoutId id="2147483882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13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05AFB-C6F3-455D-8899-B56639E9A0DE}" type="slidenum">
              <a:rPr lang="en-US" smtClean="0"/>
              <a:t>1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3C6DB2-A92D-9D9F-B15E-00A2608DCF5D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4776788"/>
            <a:ext cx="8824913" cy="862012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24BF12-77F0-4E84-A543-7DE78FE95CA5}"/>
              </a:ext>
            </a:extLst>
          </p:cNvPr>
          <p:cNvSpPr txBox="1"/>
          <p:nvPr/>
        </p:nvSpPr>
        <p:spPr>
          <a:xfrm>
            <a:off x="2992715" y="394217"/>
            <a:ext cx="71946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cs typeface="Times New Roman" panose="02020603050405020304" pitchFamily="18" charset="0"/>
              </a:rPr>
              <a:t>2023 5th International Conference on Sustainable Technologies for Industry 5.0 (STI)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DB4F676-6263-4D26-B4C4-2224076D4917}"/>
              </a:ext>
            </a:extLst>
          </p:cNvPr>
          <p:cNvSpPr txBox="1">
            <a:spLocks/>
          </p:cNvSpPr>
          <p:nvPr/>
        </p:nvSpPr>
        <p:spPr>
          <a:xfrm>
            <a:off x="2491180" y="1583603"/>
            <a:ext cx="769620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rtlCol="0" anchor="b" anchorCtr="0">
            <a:spAutoFit/>
          </a:bodyPr>
          <a:lstStyle/>
          <a:p>
            <a:pPr lvl="0" algn="ctr">
              <a:lnSpc>
                <a:spcPct val="90000"/>
              </a:lnSpc>
              <a:buClr>
                <a:schemeClr val="lt1"/>
              </a:buClr>
              <a:buSzPts val="6000"/>
              <a:defRPr/>
            </a:pPr>
            <a:r>
              <a:rPr kumimoji="0" lang="en-US" sz="2000" b="1" strike="noStrike" kern="0" cap="none" spc="0" normalizeH="0" baseline="0" noProof="0" dirty="0">
                <a:ln>
                  <a:noFill/>
                </a:ln>
                <a:effectLst/>
                <a:uLnTx/>
                <a:uFill>
                  <a:solidFill>
                    <a:schemeClr val="bg2"/>
                  </a:solidFill>
                </a:uFill>
                <a:ea typeface="DM Serif Display"/>
                <a:cs typeface="Times New Roman" pitchFamily="18" charset="0"/>
                <a:sym typeface="DM Serif Display"/>
              </a:rPr>
              <a:t>Feasibility Study and Performance Analysis of Rooftop Solar Panels and Airdolphin Wind Turbines</a:t>
            </a:r>
          </a:p>
          <a:p>
            <a:pPr lvl="0" algn="ctr">
              <a:lnSpc>
                <a:spcPct val="90000"/>
              </a:lnSpc>
              <a:buClr>
                <a:schemeClr val="lt1"/>
              </a:buClr>
              <a:buSzPts val="6000"/>
              <a:defRPr/>
            </a:pPr>
            <a:endParaRPr kumimoji="0" lang="en-US" sz="2000" b="1" i="0" u="dotDash" strike="noStrike" kern="0" cap="none" spc="0" normalizeH="0" baseline="0" noProof="0" dirty="0">
              <a:ln>
                <a:noFill/>
              </a:ln>
              <a:effectLst/>
              <a:uLnTx/>
              <a:uFill>
                <a:solidFill>
                  <a:schemeClr val="bg2"/>
                </a:solidFill>
              </a:uFill>
              <a:ea typeface="DM Serif Display"/>
              <a:cs typeface="Times New Roman" pitchFamily="18" charset="0"/>
              <a:sym typeface="DM Serif Display"/>
            </a:endParaRPr>
          </a:p>
          <a:p>
            <a:pPr lvl="0" algn="ctr">
              <a:lnSpc>
                <a:spcPct val="90000"/>
              </a:lnSpc>
              <a:buClr>
                <a:schemeClr val="lt1"/>
              </a:buClr>
              <a:buSzPts val="6000"/>
              <a:defRPr/>
            </a:pPr>
            <a:endParaRPr kumimoji="0" lang="en-US" sz="2000" b="1" i="0" u="dotDash" strike="noStrike" kern="0" cap="none" spc="0" normalizeH="0" baseline="0" noProof="0" dirty="0">
              <a:ln>
                <a:noFill/>
              </a:ln>
              <a:effectLst/>
              <a:uLnTx/>
              <a:uFill>
                <a:solidFill>
                  <a:schemeClr val="bg2"/>
                </a:solidFill>
              </a:uFill>
              <a:ea typeface="DM Serif Display"/>
              <a:cs typeface="Times New Roman" pitchFamily="18" charset="0"/>
              <a:sym typeface="DM Serif Display"/>
            </a:endParaRPr>
          </a:p>
          <a:p>
            <a:pPr lvl="0" algn="ctr">
              <a:lnSpc>
                <a:spcPct val="90000"/>
              </a:lnSpc>
              <a:buClr>
                <a:schemeClr val="lt1"/>
              </a:buClr>
              <a:buSzPts val="6000"/>
              <a:defRPr/>
            </a:pPr>
            <a:r>
              <a:rPr kumimoji="0" lang="en-US" sz="2000" b="1" i="0" u="dotDash" strike="noStrike" kern="0" cap="none" spc="0" normalizeH="0" baseline="0" noProof="0" dirty="0">
                <a:ln>
                  <a:noFill/>
                </a:ln>
                <a:effectLst/>
                <a:uLnTx/>
                <a:uFill>
                  <a:solidFill>
                    <a:schemeClr val="bg2"/>
                  </a:solidFill>
                </a:uFill>
                <a:ea typeface="DM Serif Display"/>
                <a:cs typeface="Times New Roman" pitchFamily="18" charset="0"/>
                <a:sym typeface="DM Serif Display"/>
              </a:rPr>
              <a:t>Paper ID 6260</a:t>
            </a:r>
          </a:p>
          <a:p>
            <a:pPr lvl="0" algn="ctr">
              <a:lnSpc>
                <a:spcPct val="90000"/>
              </a:lnSpc>
              <a:buClr>
                <a:schemeClr val="lt1"/>
              </a:buClr>
              <a:buSzPts val="6000"/>
              <a:defRPr/>
            </a:pPr>
            <a:endParaRPr kumimoji="0" lang="en-US" sz="2000" b="1" i="0" u="dotDash" strike="noStrike" kern="0" cap="none" spc="0" normalizeH="0" baseline="0" noProof="0" dirty="0">
              <a:ln>
                <a:noFill/>
              </a:ln>
              <a:effectLst/>
              <a:uLnTx/>
              <a:uFill>
                <a:solidFill>
                  <a:schemeClr val="bg2"/>
                </a:solidFill>
              </a:uFill>
              <a:ea typeface="DM Serif Display"/>
              <a:cs typeface="Times New Roman" pitchFamily="18" charset="0"/>
              <a:sym typeface="DM Serif Display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2848EE-1253-4306-ACBC-718B34398A8C}"/>
              </a:ext>
            </a:extLst>
          </p:cNvPr>
          <p:cNvSpPr/>
          <p:nvPr/>
        </p:nvSpPr>
        <p:spPr>
          <a:xfrm>
            <a:off x="1877462" y="3362661"/>
            <a:ext cx="8715776" cy="24256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i="1" u="none" strike="noStrike" kern="1200" dirty="0">
                <a:solidFill>
                  <a:schemeClr val="tx1"/>
                </a:solidFill>
                <a:effectLst/>
                <a:cs typeface="Times New Roman" pitchFamily="18" charset="0"/>
              </a:rPr>
              <a:t>Presented By</a:t>
            </a:r>
            <a:endParaRPr lang="en-US" sz="1800" i="1" u="none" strike="noStrike" dirty="0">
              <a:solidFill>
                <a:schemeClr val="tx1"/>
              </a:solidFill>
              <a:effectLst/>
              <a:cs typeface="Times New Roman" pitchFamily="18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chemeClr val="tx1"/>
                </a:solidFill>
                <a:cs typeface="Times New Roman" pitchFamily="18" charset="0"/>
              </a:rPr>
              <a:t>Arafat Ibne Ikram</a:t>
            </a: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800" b="1" i="0" u="none" strike="noStrike" dirty="0">
              <a:solidFill>
                <a:schemeClr val="tx1"/>
              </a:solidFill>
              <a:effectLst/>
              <a:cs typeface="Times New Roman" pitchFamily="18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i="1" u="none" strike="noStrike" kern="1200" dirty="0">
                <a:solidFill>
                  <a:schemeClr val="tx1"/>
                </a:solidFill>
                <a:effectLst/>
                <a:cs typeface="Times New Roman" pitchFamily="18" charset="0"/>
              </a:rPr>
              <a:t>Author</a:t>
            </a:r>
            <a:r>
              <a:rPr lang="en-US" sz="1800" b="1" i="0" u="none" strike="noStrike" kern="1200" dirty="0">
                <a:solidFill>
                  <a:schemeClr val="tx1"/>
                </a:solidFill>
                <a:effectLst/>
                <a:cs typeface="Times New Roman" pitchFamily="18" charset="0"/>
              </a:rPr>
              <a:t> </a:t>
            </a: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i="0" u="none" strike="noStrike" dirty="0">
                <a:solidFill>
                  <a:schemeClr val="tx1"/>
                </a:solidFill>
                <a:effectLst/>
                <a:cs typeface="Times New Roman" pitchFamily="18" charset="0"/>
              </a:rPr>
              <a:t>Samiul Hoque Kashfi, Md Abdulla Al Noman, </a:t>
            </a:r>
            <a:r>
              <a:rPr lang="en-US" sz="1800" b="1" i="0" u="none" strike="noStrike" dirty="0">
                <a:solidFill>
                  <a:schemeClr val="tx1"/>
                </a:solidFill>
                <a:effectLst/>
                <a:cs typeface="Times New Roman" pitchFamily="18" charset="0"/>
              </a:rPr>
              <a:t>Arafat Ibne Ikram*</a:t>
            </a:r>
            <a:r>
              <a:rPr lang="en-US" sz="1800" i="0" u="none" strike="noStrike" dirty="0">
                <a:solidFill>
                  <a:schemeClr val="tx1"/>
                </a:solidFill>
                <a:effectLst/>
                <a:cs typeface="Times New Roman" pitchFamily="18" charset="0"/>
              </a:rPr>
              <a:t>, Sheik Erfan Ahmed Himu, Fahim Abrar, Minhazur Rahman and Md Imtiaz Uddin	</a:t>
            </a:r>
          </a:p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A174007-C69C-6CFA-51B8-93290599A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187" y="98290"/>
            <a:ext cx="1422850" cy="142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5238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D3991-1765-3641-02BD-6A5A02BCC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6649" y="662210"/>
            <a:ext cx="8911687" cy="128089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C0010-5795-9406-F4BA-46BC3BE3AD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GB" sz="2200" dirty="0"/>
              <a:t>Hybrid systems have gained in significance since they seemed to be the best option for a distributed, renewable energy system.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200" dirty="0"/>
              <a:t>Analysis and modelling must receive special attention in emerging hybrid system implementations.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Utilizing the renewable energy sources present in Dhaka city would help to narrow the enormous gap between supply and demand.</a:t>
            </a:r>
            <a:endParaRPr lang="en-US" sz="2200" dirty="0">
              <a:effectLst/>
              <a:ea typeface="MS Mincho" panose="02020609040205080304" pitchFamily="49" charset="-128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GB" sz="20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42AD2E4-D16D-BFFF-1540-E5E3880066D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375" y="2133600"/>
            <a:ext cx="4313238" cy="3777622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05AFB-C6F3-455D-8899-B56639E9A0D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785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7D7A8-98E2-46FB-463B-E756F41C0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00" y="655337"/>
            <a:ext cx="8911687" cy="1280890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272CA-11D2-0E92-CC3A-D86BE589F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000" dirty="0"/>
              <a:t>     The over all objectives is to design and analysis hybrid energy </a:t>
            </a:r>
          </a:p>
          <a:p>
            <a:pPr marL="0" indent="0" algn="just">
              <a:buNone/>
            </a:pPr>
            <a:r>
              <a:rPr lang="en-US" sz="2000" dirty="0"/>
              <a:t>     system for Dhaka. The key objective will be specified as:    </a:t>
            </a:r>
          </a:p>
          <a:p>
            <a:r>
              <a:rPr lang="en-US" sz="2000" dirty="0"/>
              <a:t>To design and analysis for Rooftop Solar System by using </a:t>
            </a:r>
            <a:r>
              <a:rPr lang="en-US" sz="2000" dirty="0" err="1"/>
              <a:t>HelioScope</a:t>
            </a:r>
            <a:r>
              <a:rPr lang="en-US" sz="2000" dirty="0"/>
              <a:t> tools.</a:t>
            </a:r>
          </a:p>
          <a:p>
            <a:r>
              <a:rPr lang="en-US" sz="2000" dirty="0"/>
              <a:t>To make telecommunication tower self energizing by using wind Airdolphin Turbine.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05AFB-C6F3-455D-8899-B56639E9A0D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9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641" y="329899"/>
            <a:ext cx="8911687" cy="1280890"/>
          </a:xfrm>
        </p:spPr>
        <p:txBody>
          <a:bodyPr/>
          <a:lstStyle/>
          <a:p>
            <a:pPr algn="ctr"/>
            <a:r>
              <a:rPr lang="en-GB" b="1" dirty="0"/>
              <a:t>LITERATURE REVIEW</a:t>
            </a:r>
            <a:endParaRPr lang="en-GB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C3AA328-6963-0C0C-3307-A27B269207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9858238"/>
              </p:ext>
            </p:extLst>
          </p:nvPr>
        </p:nvGraphicFramePr>
        <p:xfrm>
          <a:off x="1015998" y="1573531"/>
          <a:ext cx="10638972" cy="512064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3546324">
                  <a:extLst>
                    <a:ext uri="{9D8B030D-6E8A-4147-A177-3AD203B41FA5}">
                      <a16:colId xmlns:a16="http://schemas.microsoft.com/office/drawing/2014/main" val="3842455283"/>
                    </a:ext>
                  </a:extLst>
                </a:gridCol>
                <a:gridCol w="3546324">
                  <a:extLst>
                    <a:ext uri="{9D8B030D-6E8A-4147-A177-3AD203B41FA5}">
                      <a16:colId xmlns:a16="http://schemas.microsoft.com/office/drawing/2014/main" val="933580286"/>
                    </a:ext>
                  </a:extLst>
                </a:gridCol>
                <a:gridCol w="3546324">
                  <a:extLst>
                    <a:ext uri="{9D8B030D-6E8A-4147-A177-3AD203B41FA5}">
                      <a16:colId xmlns:a16="http://schemas.microsoft.com/office/drawing/2014/main" val="3541054357"/>
                    </a:ext>
                  </a:extLst>
                </a:gridCol>
              </a:tblGrid>
              <a:tr h="327629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53175"/>
                  </a:ext>
                </a:extLst>
              </a:tr>
              <a:tr h="1801962">
                <a:tc>
                  <a:txBody>
                    <a:bodyPr/>
                    <a:lstStyle/>
                    <a:p>
                      <a:pPr algn="l"/>
                      <a:r>
                        <a:rPr lang="en-GB" sz="1400" b="0" kern="1200" dirty="0">
                          <a:solidFill>
                            <a:schemeClr val="dk1"/>
                          </a:solidFill>
                          <a:effectLst/>
                        </a:rPr>
                        <a:t>Potential rooftop distribution mapping using Geographic Information Systems (GIS) for Solar PV Installation: A case study for Dhaka, Bangladesh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kern="1200" dirty="0">
                          <a:solidFill>
                            <a:schemeClr val="dk1"/>
                          </a:solidFill>
                          <a:effectLst/>
                        </a:rPr>
                        <a:t>Jamal, Taskin &amp; </a:t>
                      </a:r>
                      <a:r>
                        <a:rPr lang="en-GB" sz="1400" b="0" kern="1200" dirty="0" err="1">
                          <a:solidFill>
                            <a:schemeClr val="dk1"/>
                          </a:solidFill>
                          <a:effectLst/>
                        </a:rPr>
                        <a:t>Ongsakul</a:t>
                      </a:r>
                      <a:r>
                        <a:rPr lang="en-GB" sz="1400" b="0" kern="1200" dirty="0">
                          <a:solidFill>
                            <a:schemeClr val="dk1"/>
                          </a:solidFill>
                          <a:effectLst/>
                        </a:rPr>
                        <a:t>, </a:t>
                      </a:r>
                      <a:r>
                        <a:rPr lang="en-GB" sz="1400" b="0" kern="1200" dirty="0" err="1">
                          <a:solidFill>
                            <a:schemeClr val="dk1"/>
                          </a:solidFill>
                          <a:effectLst/>
                        </a:rPr>
                        <a:t>Weerakorn</a:t>
                      </a:r>
                      <a:r>
                        <a:rPr lang="en-GB" sz="1400" b="0" kern="1200" dirty="0">
                          <a:solidFill>
                            <a:schemeClr val="dk1"/>
                          </a:solidFill>
                          <a:effectLst/>
                        </a:rPr>
                        <a:t> &amp; Singh, Jai Govind &amp; </a:t>
                      </a:r>
                      <a:r>
                        <a:rPr lang="en-GB" sz="1400" b="0" kern="1200" dirty="0" err="1">
                          <a:solidFill>
                            <a:schemeClr val="dk1"/>
                          </a:solidFill>
                          <a:effectLst/>
                        </a:rPr>
                        <a:t>Salehin</a:t>
                      </a:r>
                      <a:r>
                        <a:rPr lang="en-GB" sz="1400" b="0" kern="1200" dirty="0">
                          <a:solidFill>
                            <a:schemeClr val="dk1"/>
                          </a:solidFill>
                          <a:effectLst/>
                        </a:rPr>
                        <a:t>, </a:t>
                      </a:r>
                      <a:r>
                        <a:rPr lang="en-GB" sz="1400" b="0" kern="1200" dirty="0" err="1">
                          <a:solidFill>
                            <a:schemeClr val="dk1"/>
                          </a:solidFill>
                          <a:effectLst/>
                        </a:rPr>
                        <a:t>Sayedus</a:t>
                      </a:r>
                      <a:r>
                        <a:rPr lang="en-GB" sz="1400" b="0" kern="1200" dirty="0">
                          <a:solidFill>
                            <a:schemeClr val="dk1"/>
                          </a:solidFill>
                          <a:effectLst/>
                        </a:rPr>
                        <a:t> &amp; Ferdous, S.M.</a:t>
                      </a:r>
                      <a:endParaRPr lang="en-US" sz="1400" b="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r>
                        <a:rPr lang="en-GB" sz="1400" b="0" kern="1200" dirty="0">
                          <a:solidFill>
                            <a:schemeClr val="dk1"/>
                          </a:solidFill>
                          <a:effectLst/>
                        </a:rPr>
                        <a:t> </a:t>
                      </a:r>
                      <a:endParaRPr lang="en-US" sz="1400" b="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algn="l"/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They only calculate 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</a:rPr>
                        <a:t>Dharmondi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 area total proposed PV system power using HOMER. The power supplied from the PV system could be 15% of the total electricity supply of the Dhanmondi grid.</a:t>
                      </a:r>
                    </a:p>
                    <a:p>
                      <a:pPr algn="just"/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 </a:t>
                      </a:r>
                    </a:p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algn="l"/>
                      <a:endParaRPr 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009745"/>
                  </a:ext>
                </a:extLst>
              </a:tr>
              <a:tr h="1419728">
                <a:tc>
                  <a:txBody>
                    <a:bodyPr/>
                    <a:lstStyle/>
                    <a:p>
                      <a:pPr algn="l"/>
                      <a:r>
                        <a:rPr lang="en-GB" sz="1400" b="0" kern="1200" dirty="0">
                          <a:solidFill>
                            <a:schemeClr val="dk1"/>
                          </a:solidFill>
                          <a:effectLst/>
                        </a:rPr>
                        <a:t>A Hypothetical Design Of Small Hydro Power Plant Using Sewage Water In The Perspective Of Dhaka City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kern="1200" dirty="0">
                          <a:solidFill>
                            <a:schemeClr val="dk1"/>
                          </a:solidFill>
                          <a:effectLst/>
                        </a:rPr>
                        <a:t>Mia, Nasim &amp; Hossain, Moazzam &amp; Islam, A.K.M </a:t>
                      </a:r>
                      <a:r>
                        <a:rPr lang="en-GB" sz="1400" b="0" kern="1200" dirty="0" err="1">
                          <a:solidFill>
                            <a:schemeClr val="dk1"/>
                          </a:solidFill>
                          <a:effectLst/>
                        </a:rPr>
                        <a:t>Shoriful</a:t>
                      </a:r>
                      <a:r>
                        <a:rPr lang="en-GB" sz="1400" b="0" kern="1200" dirty="0">
                          <a:solidFill>
                            <a:schemeClr val="dk1"/>
                          </a:solidFill>
                          <a:effectLst/>
                        </a:rPr>
                        <a:t> &amp; Rahman, Sheikh &amp; Ahmed, Nadim &amp; Khan, Sadia &amp; Yasmin, </a:t>
                      </a:r>
                      <a:r>
                        <a:rPr lang="en-GB" sz="1400" b="0" kern="1200" dirty="0" err="1">
                          <a:solidFill>
                            <a:schemeClr val="dk1"/>
                          </a:solidFill>
                          <a:effectLst/>
                        </a:rPr>
                        <a:t>Farjana</a:t>
                      </a:r>
                      <a:endParaRPr lang="en-US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If the average head of Dhaka city is 2.65m and the total water is 1,239,573,600 cubic meter water per annum, then the approximate available power in the generator is 0.828 MW</a:t>
                      </a:r>
                    </a:p>
                    <a:p>
                      <a:endParaRPr 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9414647"/>
                  </a:ext>
                </a:extLst>
              </a:tr>
              <a:tr h="1037493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/>
                        <a:t>Wind Turbines to Power Telecommunication Systems: A Case Study in Sicily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Antonio 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</a:rPr>
                        <a:t>Messineo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, Vincenzo 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</a:rPr>
                        <a:t>Franzitta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 and Marco 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</a:rPr>
                        <a:t>Trapanese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</a:p>
                    <a:p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The finding of the study was that all the horizontal axis turbines can supply the energy needs of the radio broadcasting station, that amounts to approximately 10,926 kWh/year</a:t>
                      </a:r>
                      <a:endParaRPr 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3149375"/>
                  </a:ext>
                </a:extLst>
              </a:tr>
            </a:tbl>
          </a:graphicData>
        </a:graphic>
      </p:graphicFrame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05AFB-C6F3-455D-8899-B56639E9A0D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712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C19CD-DBBE-0E1C-3B64-26A999394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525" y="592360"/>
            <a:ext cx="8911687" cy="1280890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Methodology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41269-C1A7-15BB-37CE-709A68AB5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05AFB-C6F3-455D-8899-B56639E9A0DE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7397968-7F77-8E7E-2D26-AF62E5D415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9852005"/>
              </p:ext>
            </p:extLst>
          </p:nvPr>
        </p:nvGraphicFramePr>
        <p:xfrm>
          <a:off x="808074" y="1612900"/>
          <a:ext cx="10983432" cy="5092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6351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F375C-2C03-B427-E616-2581A0053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525" y="147337"/>
            <a:ext cx="8946541" cy="1280890"/>
          </a:xfrm>
        </p:spPr>
        <p:txBody>
          <a:bodyPr/>
          <a:lstStyle/>
          <a:p>
            <a:pPr algn="ctr"/>
            <a:r>
              <a:rPr lang="en-US" sz="4000" b="1" dirty="0">
                <a:latin typeface="Century Gothic" panose="020B0502020202020204" pitchFamily="34" charset="0"/>
              </a:rPr>
              <a:t>Design for Rooftop Solar System</a:t>
            </a:r>
            <a:endParaRPr lang="en-US" sz="4000" b="1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4208349-FC88-41BF-8935-EBD299007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1812" y="6078247"/>
            <a:ext cx="8946541" cy="645041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latin typeface="+mn-lt"/>
                <a:ea typeface="Calibri" panose="020F0502020204030204" pitchFamily="34" charset="0"/>
              </a:rPr>
              <a:t>Fig-1</a:t>
            </a:r>
            <a:r>
              <a:rPr lang="en-US" sz="1800" dirty="0">
                <a:latin typeface="+mn-lt"/>
                <a:ea typeface="Calibri" panose="020F0502020204030204" pitchFamily="34" charset="0"/>
              </a:rPr>
              <a:t>: </a:t>
            </a: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Top view of District of suggested location for PV panel.</a:t>
            </a:r>
            <a:r>
              <a:rPr lang="en-US" sz="1800" dirty="0">
                <a:latin typeface="+mn-lt"/>
              </a:rPr>
              <a:t> </a:t>
            </a:r>
          </a:p>
          <a:p>
            <a:pPr marL="0" indent="0" algn="ctr">
              <a:buNone/>
            </a:pPr>
            <a:r>
              <a:rPr lang="en-US" sz="1800" dirty="0">
                <a:latin typeface="+mn-lt"/>
              </a:rPr>
              <a:t>(Total of 77kWp Installed cap., tilt angle is 30°, azimuth is 176.73°, 9886.25 </a:t>
            </a:r>
            <a:r>
              <a:rPr lang="en-US" sz="1800" dirty="0" err="1">
                <a:latin typeface="+mn-lt"/>
              </a:rPr>
              <a:t>sq.ft</a:t>
            </a:r>
            <a:r>
              <a:rPr lang="en-US" sz="1800" dirty="0">
                <a:latin typeface="+mn-lt"/>
              </a:rPr>
              <a:t>.)</a:t>
            </a:r>
            <a:endParaRPr lang="en-US" sz="1800" dirty="0">
              <a:effectLst/>
              <a:latin typeface="+mn-lt"/>
              <a:ea typeface="MS Mincho" panose="02020609040205080304" pitchFamily="49" charset="-128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05AFB-C6F3-455D-8899-B56639E9A0DE}" type="slidenum">
              <a:rPr lang="en-US" smtClean="0"/>
              <a:t>6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4639A43-B86C-481B-C4F0-D3DA0971D8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" y="1549190"/>
            <a:ext cx="3238952" cy="440809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BF897FC-9EC0-A670-5E49-677866FFAF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319" y="1536199"/>
            <a:ext cx="3238952" cy="44340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91CE28D-4BF2-5DC5-EFE5-1A2C4CB107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9999" y="1549190"/>
            <a:ext cx="3238952" cy="452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262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33AC5-5072-D3B4-1BF6-C6D782DE5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019" y="0"/>
            <a:ext cx="8911687" cy="128089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dirty="0">
                <a:latin typeface="Century Gothic" panose="020B0502020202020204" pitchFamily="34" charset="0"/>
              </a:rPr>
              <a:t>Design for Wind Turbine (CONTD.)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05AFB-C6F3-455D-8899-B56639E9A0DE}" type="slidenum">
              <a:rPr lang="en-US" smtClean="0"/>
              <a:t>7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B01DA58-AA73-0A73-FBB5-BE5A96B39C0B}"/>
              </a:ext>
            </a:extLst>
          </p:cNvPr>
          <p:cNvGrpSpPr/>
          <p:nvPr/>
        </p:nvGrpSpPr>
        <p:grpSpPr>
          <a:xfrm>
            <a:off x="6731247" y="1636696"/>
            <a:ext cx="4761644" cy="4446338"/>
            <a:chOff x="5402236" y="1690776"/>
            <a:chExt cx="4328767" cy="404212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EBC6F73-B54B-E6AD-8A9C-0AB35651C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02236" y="1690776"/>
              <a:ext cx="4328767" cy="3369404"/>
            </a:xfrm>
            <a:prstGeom prst="rect">
              <a:avLst/>
            </a:prstGeom>
          </p:spPr>
        </p:pic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05B53C04-0773-E1AC-2995-4600BE1295ED}"/>
                </a:ext>
              </a:extLst>
            </p:cNvPr>
            <p:cNvSpPr txBox="1">
              <a:spLocks/>
            </p:cNvSpPr>
            <p:nvPr/>
          </p:nvSpPr>
          <p:spPr>
            <a:xfrm>
              <a:off x="5402236" y="5082792"/>
              <a:ext cx="4249401" cy="65010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Wingdings 3" charset="2"/>
                <a:buNone/>
              </a:pPr>
              <a:r>
                <a:rPr lang="en-US" sz="1400" dirty="0"/>
                <a:t>Fig. Banglalink core in Dhaka (1805 sites)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53B10D3-2A2E-FD63-9C42-3D9573CD723F}"/>
              </a:ext>
            </a:extLst>
          </p:cNvPr>
          <p:cNvGrpSpPr/>
          <p:nvPr/>
        </p:nvGrpSpPr>
        <p:grpSpPr>
          <a:xfrm>
            <a:off x="921695" y="1573539"/>
            <a:ext cx="4600930" cy="4671986"/>
            <a:chOff x="777525" y="1690776"/>
            <a:chExt cx="4460811" cy="411113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4A72259-2A16-C600-5DFE-4C12D13A3145}"/>
                </a:ext>
              </a:extLst>
            </p:cNvPr>
            <p:cNvGrpSpPr/>
            <p:nvPr/>
          </p:nvGrpSpPr>
          <p:grpSpPr>
            <a:xfrm>
              <a:off x="777525" y="1690776"/>
              <a:ext cx="4460811" cy="3392016"/>
              <a:chOff x="777525" y="1690776"/>
              <a:chExt cx="4460811" cy="3392016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27E72A5B-9C32-12A2-14CA-AF41C35880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77525" y="1690776"/>
                <a:ext cx="2315558" cy="3392015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B91EEB29-7FFE-AD6C-E876-A77ADB330D9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18676" t="3574" r="18191" b="5801"/>
              <a:stretch/>
            </p:blipFill>
            <p:spPr bwMode="auto">
              <a:xfrm>
                <a:off x="3178518" y="1690776"/>
                <a:ext cx="2059818" cy="3392016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</p:grpSp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37C0E2B2-D3B7-6AA4-D47E-B4942BC18FF6}"/>
                </a:ext>
              </a:extLst>
            </p:cNvPr>
            <p:cNvSpPr txBox="1">
              <a:spLocks/>
            </p:cNvSpPr>
            <p:nvPr/>
          </p:nvSpPr>
          <p:spPr>
            <a:xfrm>
              <a:off x="921695" y="5151803"/>
              <a:ext cx="4249401" cy="65010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dirty="0"/>
                <a:t> Fig. Roof top telecommunication tower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167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1BA8E-5969-9A52-AF0A-0C180B214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264" y="0"/>
            <a:ext cx="8911687" cy="1280890"/>
          </a:xfrm>
        </p:spPr>
        <p:txBody>
          <a:bodyPr/>
          <a:lstStyle/>
          <a:p>
            <a:pPr algn="ctr"/>
            <a:r>
              <a:rPr lang="en-US" sz="4000" b="1" dirty="0">
                <a:latin typeface="Century Gothic" panose="020B0502020202020204" pitchFamily="34" charset="0"/>
              </a:rPr>
              <a:t>Design for Wind Turbine (CONTD.)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1108B-B80D-0B9C-D7CD-1215F426D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782878"/>
            <a:ext cx="8946541" cy="517450"/>
          </a:xfrm>
        </p:spPr>
        <p:txBody>
          <a:bodyPr/>
          <a:lstStyle/>
          <a:p>
            <a:pPr marL="0" indent="0" algn="ctr">
              <a:buNone/>
            </a:pPr>
            <a:r>
              <a:rPr lang="en-US" sz="1800" b="1" dirty="0">
                <a:effectLst/>
                <a:latin typeface="+mn-lt"/>
                <a:ea typeface="Calibri" panose="020F0502020204030204" pitchFamily="34" charset="0"/>
              </a:rPr>
              <a:t>Fig-19:</a:t>
            </a: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 Turbine connected with tower</a:t>
            </a:r>
            <a:endParaRPr lang="en-US" sz="1800" dirty="0">
              <a:effectLst/>
              <a:latin typeface="+mn-lt"/>
              <a:ea typeface="MS Mincho" panose="02020609040205080304" pitchFamily="49" charset="-128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05AFB-C6F3-455D-8899-B56639E9A0DE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9C7BC3-D174-4CB4-CFC4-8A91F018D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909" y="2517034"/>
            <a:ext cx="2435606" cy="31343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91FBF9-1EF2-609A-455A-B8EAFFDDC4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61861" y="2517033"/>
            <a:ext cx="2502750" cy="313439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A045A8-03D3-A37F-588D-18EEFE67EED1}"/>
                  </a:ext>
                </a:extLst>
              </p:cNvPr>
              <p:cNvSpPr txBox="1"/>
              <p:nvPr/>
            </p:nvSpPr>
            <p:spPr>
              <a:xfrm>
                <a:off x="7187029" y="2767333"/>
                <a:ext cx="4738271" cy="99873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𝑤𝑖𝑛𝑑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0           ∀ 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𝑜𝑟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𝑜𝑢𝑡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𝑤𝑡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           ∀ 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𝑟𝑎𝑡𝑒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𝑜𝑢𝑡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𝑤𝑡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  <m:d>
                                        <m:dPr>
                                          <m:ctrlP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𝑖𝑛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𝑟𝑎𝑡𝑒</m:t>
                                          </m:r>
                                        </m:sub>
                                      </m:s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𝑖𝑛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 ∀ 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𝑟𝑎𝑡𝑒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A045A8-03D3-A37F-588D-18EEFE67E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7029" y="2767333"/>
                <a:ext cx="4738271" cy="9987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AAA05AC-BD38-7C9A-73AE-A993251881B8}"/>
              </a:ext>
            </a:extLst>
          </p:cNvPr>
          <p:cNvSpPr txBox="1"/>
          <p:nvPr/>
        </p:nvSpPr>
        <p:spPr>
          <a:xfrm>
            <a:off x="7187029" y="2012208"/>
            <a:ext cx="44334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Hourly energy generated by Airdolphin Wind turbine can be achieved using –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7B3C68-F2D3-EB4B-D69E-4713DBE8B9BB}"/>
              </a:ext>
            </a:extLst>
          </p:cNvPr>
          <p:cNvSpPr txBox="1"/>
          <p:nvPr/>
        </p:nvSpPr>
        <p:spPr>
          <a:xfrm>
            <a:off x="7187029" y="3826284"/>
            <a:ext cx="4921151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‘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400" i="1" dirty="0"/>
              <a:t>’ is denoted as the hourly variable.</a:t>
            </a:r>
          </a:p>
          <a:p>
            <a:endParaRPr lang="en-US" sz="500" i="1" dirty="0"/>
          </a:p>
          <a:p>
            <a:r>
              <a:rPr lang="en-US" sz="1200" i="1" dirty="0"/>
              <a:t>Operation is carried out in MATLAB software environment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76B0E6-77C6-E507-7890-A1682D0354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889" y="1175750"/>
            <a:ext cx="4840244" cy="135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255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D2AAA-58DF-8473-836A-4846165BE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4513" y="0"/>
            <a:ext cx="8911687" cy="1280890"/>
          </a:xfrm>
        </p:spPr>
        <p:txBody>
          <a:bodyPr/>
          <a:lstStyle/>
          <a:p>
            <a:pPr algn="ctr"/>
            <a:r>
              <a:rPr lang="en-US" dirty="0"/>
              <a:t> </a:t>
            </a:r>
            <a:r>
              <a:rPr lang="en-US" b="1" dirty="0"/>
              <a:t>Result and Analysis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E40A6-6471-E859-DAFE-A63D45F1D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05AFB-C6F3-455D-8899-B56639E9A0DE}" type="slidenum">
              <a:rPr lang="en-US" smtClean="0"/>
              <a:t>9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5E081E2-7A49-D4BD-5CD7-24F8D32239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911" y="3429000"/>
            <a:ext cx="5154794" cy="3115970"/>
          </a:xfr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9D41EB7-0897-7309-B4D7-C4C34AF81D6C}"/>
              </a:ext>
            </a:extLst>
          </p:cNvPr>
          <p:cNvSpPr txBox="1">
            <a:spLocks/>
          </p:cNvSpPr>
          <p:nvPr/>
        </p:nvSpPr>
        <p:spPr>
          <a:xfrm>
            <a:off x="2181530" y="6540931"/>
            <a:ext cx="4195110" cy="393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US" sz="1200" b="1" dirty="0">
                <a:ea typeface="Calibri" panose="020F0502020204030204" pitchFamily="34" charset="0"/>
              </a:rPr>
              <a:t>Fig.</a:t>
            </a:r>
            <a:r>
              <a:rPr lang="en-US" sz="1200" dirty="0">
                <a:ea typeface="Calibri" panose="020F0502020204030204" pitchFamily="34" charset="0"/>
              </a:rPr>
              <a:t> Monthly PV Generation</a:t>
            </a:r>
            <a:endParaRPr lang="en-US" sz="12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3CFEAF9-2933-0116-2706-8781EC982212}"/>
              </a:ext>
            </a:extLst>
          </p:cNvPr>
          <p:cNvGrpSpPr/>
          <p:nvPr/>
        </p:nvGrpSpPr>
        <p:grpSpPr>
          <a:xfrm>
            <a:off x="1388006" y="640445"/>
            <a:ext cx="5732605" cy="2803586"/>
            <a:chOff x="1388006" y="640445"/>
            <a:chExt cx="5732605" cy="280358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F428A94-81AF-47C6-760F-DA22AC1FDC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88006" y="640445"/>
              <a:ext cx="5732605" cy="2535029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E5FFC01-7BE7-CFD4-58FB-86E96B2AE709}"/>
                </a:ext>
              </a:extLst>
            </p:cNvPr>
            <p:cNvSpPr txBox="1"/>
            <p:nvPr/>
          </p:nvSpPr>
          <p:spPr>
            <a:xfrm>
              <a:off x="2550215" y="3167032"/>
              <a:ext cx="378370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Font typeface="Wingdings 3" charset="2"/>
                <a:buNone/>
              </a:pPr>
              <a:r>
                <a:rPr lang="en-US" sz="1200" b="1" dirty="0">
                  <a:ea typeface="Calibri" panose="020F0502020204030204" pitchFamily="34" charset="0"/>
                </a:rPr>
                <a:t>Fig. </a:t>
              </a:r>
              <a:r>
                <a:rPr lang="en-US" sz="1200" dirty="0">
                  <a:ea typeface="Calibri" panose="020F0502020204030204" pitchFamily="34" charset="0"/>
                </a:rPr>
                <a:t>Source of System Loss.</a:t>
              </a:r>
              <a:endParaRPr lang="en-US" sz="12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56452BA-88B2-F2EE-880E-BF1D6FE85396}"/>
              </a:ext>
            </a:extLst>
          </p:cNvPr>
          <p:cNvGrpSpPr/>
          <p:nvPr/>
        </p:nvGrpSpPr>
        <p:grpSpPr>
          <a:xfrm>
            <a:off x="7533998" y="781724"/>
            <a:ext cx="4195110" cy="3121132"/>
            <a:chOff x="7533998" y="781724"/>
            <a:chExt cx="4195110" cy="3121132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CC72BE5-D40E-5D3F-5158-B7375CD158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24" t="2850" r="6945"/>
            <a:stretch/>
          </p:blipFill>
          <p:spPr>
            <a:xfrm>
              <a:off x="7533998" y="781724"/>
              <a:ext cx="4195110" cy="2825565"/>
            </a:xfrm>
            <a:prstGeom prst="rect">
              <a:avLst/>
            </a:prstGeom>
          </p:spPr>
        </p:pic>
        <p:sp>
          <p:nvSpPr>
            <p:cNvPr id="18" name="Content Placeholder 7">
              <a:extLst>
                <a:ext uri="{FF2B5EF4-FFF2-40B4-BE49-F238E27FC236}">
                  <a16:creationId xmlns:a16="http://schemas.microsoft.com/office/drawing/2014/main" id="{6C4F866B-0119-9BF0-F1D5-5C625D96982E}"/>
                </a:ext>
              </a:extLst>
            </p:cNvPr>
            <p:cNvSpPr txBox="1">
              <a:spLocks/>
            </p:cNvSpPr>
            <p:nvPr/>
          </p:nvSpPr>
          <p:spPr>
            <a:xfrm>
              <a:off x="8078601" y="3605034"/>
              <a:ext cx="3437273" cy="29782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Wingdings 3" charset="2"/>
                <a:buNone/>
              </a:pPr>
              <a:r>
                <a:rPr lang="en-US" sz="1200" b="1" dirty="0">
                  <a:latin typeface="Century Gothic (Body)"/>
                  <a:ea typeface="Calibri" panose="020F0502020204030204" pitchFamily="34" charset="0"/>
                </a:rPr>
                <a:t>Fig. </a:t>
              </a:r>
              <a:r>
                <a:rPr lang="en-US" sz="1200" dirty="0">
                  <a:latin typeface="Century Gothic (Body)"/>
                  <a:ea typeface="Calibri" panose="020F0502020204030204" pitchFamily="34" charset="0"/>
                </a:rPr>
                <a:t>Wind Turbine Power Curve</a:t>
              </a:r>
              <a:endParaRPr lang="en-US" sz="1200" dirty="0">
                <a:latin typeface="Century Gothic (Body)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30964FD-444D-B87F-B59D-02A99772D18D}"/>
              </a:ext>
            </a:extLst>
          </p:cNvPr>
          <p:cNvGrpSpPr/>
          <p:nvPr/>
        </p:nvGrpSpPr>
        <p:grpSpPr>
          <a:xfrm>
            <a:off x="7699683" y="3900600"/>
            <a:ext cx="4195110" cy="2985975"/>
            <a:chOff x="7699683" y="3900600"/>
            <a:chExt cx="4195110" cy="298597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86882F5-A17B-801C-E8C1-29B956537B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86" t="5758" r="7660" b="1587"/>
            <a:stretch/>
          </p:blipFill>
          <p:spPr>
            <a:xfrm>
              <a:off x="7699683" y="3900600"/>
              <a:ext cx="4195110" cy="2694812"/>
            </a:xfrm>
            <a:prstGeom prst="rect">
              <a:avLst/>
            </a:prstGeom>
          </p:spPr>
        </p:pic>
        <p:sp>
          <p:nvSpPr>
            <p:cNvPr id="19" name="Content Placeholder 7">
              <a:extLst>
                <a:ext uri="{FF2B5EF4-FFF2-40B4-BE49-F238E27FC236}">
                  <a16:creationId xmlns:a16="http://schemas.microsoft.com/office/drawing/2014/main" id="{C1EAE76C-9081-E834-2155-4786C82C6058}"/>
                </a:ext>
              </a:extLst>
            </p:cNvPr>
            <p:cNvSpPr txBox="1">
              <a:spLocks/>
            </p:cNvSpPr>
            <p:nvPr/>
          </p:nvSpPr>
          <p:spPr>
            <a:xfrm>
              <a:off x="7912916" y="6588753"/>
              <a:ext cx="3437273" cy="29782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Wingdings 3" charset="2"/>
                <a:buNone/>
              </a:pPr>
              <a:r>
                <a:rPr lang="en-US" sz="1200" b="1" dirty="0">
                  <a:latin typeface="Century Gothic (Body)"/>
                  <a:ea typeface="Calibri" panose="020F0502020204030204" pitchFamily="34" charset="0"/>
                </a:rPr>
                <a:t>Fig. </a:t>
              </a:r>
              <a:r>
                <a:rPr lang="en-US" sz="1200" dirty="0">
                  <a:latin typeface="Century Gothic (Body)"/>
                  <a:ea typeface="Calibri" panose="020F0502020204030204" pitchFamily="34" charset="0"/>
                </a:rPr>
                <a:t>Monthly Production of energy</a:t>
              </a:r>
              <a:endParaRPr lang="en-US" sz="1200" dirty="0">
                <a:latin typeface="Century Gothic (Body)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2451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546E0-18CE-6458-ADAF-A28D1FA8C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3025" y="0"/>
            <a:ext cx="8911687" cy="1280890"/>
          </a:xfrm>
        </p:spPr>
        <p:txBody>
          <a:bodyPr/>
          <a:lstStyle/>
          <a:p>
            <a:pPr algn="ctr"/>
            <a:r>
              <a:rPr lang="en-US" b="1" dirty="0"/>
              <a:t>Result and Analysis (CONTD.)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05AFB-C6F3-455D-8899-B56639E9A0DE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EBCA7D8-7904-CCD5-3AD5-CD8831831E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3532115"/>
              </p:ext>
            </p:extLst>
          </p:nvPr>
        </p:nvGraphicFramePr>
        <p:xfrm>
          <a:off x="998233" y="696088"/>
          <a:ext cx="10533367" cy="59476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0632">
                  <a:extLst>
                    <a:ext uri="{9D8B030D-6E8A-4147-A177-3AD203B41FA5}">
                      <a16:colId xmlns:a16="http://schemas.microsoft.com/office/drawing/2014/main" val="470816749"/>
                    </a:ext>
                  </a:extLst>
                </a:gridCol>
                <a:gridCol w="1974158">
                  <a:extLst>
                    <a:ext uri="{9D8B030D-6E8A-4147-A177-3AD203B41FA5}">
                      <a16:colId xmlns:a16="http://schemas.microsoft.com/office/drawing/2014/main" val="2272928275"/>
                    </a:ext>
                  </a:extLst>
                </a:gridCol>
                <a:gridCol w="1971894">
                  <a:extLst>
                    <a:ext uri="{9D8B030D-6E8A-4147-A177-3AD203B41FA5}">
                      <a16:colId xmlns:a16="http://schemas.microsoft.com/office/drawing/2014/main" val="2881292605"/>
                    </a:ext>
                  </a:extLst>
                </a:gridCol>
                <a:gridCol w="1755561">
                  <a:extLst>
                    <a:ext uri="{9D8B030D-6E8A-4147-A177-3AD203B41FA5}">
                      <a16:colId xmlns:a16="http://schemas.microsoft.com/office/drawing/2014/main" val="2703897741"/>
                    </a:ext>
                  </a:extLst>
                </a:gridCol>
                <a:gridCol w="254898">
                  <a:extLst>
                    <a:ext uri="{9D8B030D-6E8A-4147-A177-3AD203B41FA5}">
                      <a16:colId xmlns:a16="http://schemas.microsoft.com/office/drawing/2014/main" val="37356439"/>
                    </a:ext>
                  </a:extLst>
                </a:gridCol>
                <a:gridCol w="3256224">
                  <a:extLst>
                    <a:ext uri="{9D8B030D-6E8A-4147-A177-3AD203B41FA5}">
                      <a16:colId xmlns:a16="http://schemas.microsoft.com/office/drawing/2014/main" val="262638973"/>
                    </a:ext>
                  </a:extLst>
                </a:gridCol>
              </a:tblGrid>
              <a:tr h="343593"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Months</a:t>
                      </a:r>
                    </a:p>
                  </a:txBody>
                  <a:tcPr marL="100584" marR="100584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Rooftop Solar PV Gen. (kWh)</a:t>
                      </a:r>
                    </a:p>
                  </a:txBody>
                  <a:tcPr marL="100584" marR="100584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marL="100584" marR="100584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Wind Gen. (MWh)</a:t>
                      </a:r>
                    </a:p>
                  </a:txBody>
                  <a:tcPr marL="100584" marR="100584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182981"/>
                  </a:ext>
                </a:extLst>
              </a:tr>
              <a:tr h="1192744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Judge Court</a:t>
                      </a:r>
                    </a:p>
                    <a:p>
                      <a:pPr algn="ctr"/>
                      <a:r>
                        <a:rPr lang="en-US" b="1" dirty="0"/>
                        <a:t>(Govt. Building)</a:t>
                      </a:r>
                    </a:p>
                  </a:txBody>
                  <a:tcPr marL="100584" marR="100584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Commercial Building, Banani</a:t>
                      </a:r>
                    </a:p>
                  </a:txBody>
                  <a:tcPr marL="100584" marR="100584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Petrol &amp; CNG Filling Station</a:t>
                      </a:r>
                    </a:p>
                  </a:txBody>
                  <a:tcPr marL="100584" marR="100584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marL="100584" marR="100584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AirDolphin</a:t>
                      </a:r>
                      <a:r>
                        <a:rPr lang="en-US" b="1" dirty="0"/>
                        <a:t> Telecommunication</a:t>
                      </a:r>
                    </a:p>
                    <a:p>
                      <a:pPr algn="ctr"/>
                      <a:r>
                        <a:rPr lang="en-US" b="1" dirty="0"/>
                        <a:t>Wind turbine</a:t>
                      </a:r>
                      <a:endParaRPr lang="en-US" dirty="0"/>
                    </a:p>
                  </a:txBody>
                  <a:tcPr marL="100584" marR="100584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3988417"/>
                  </a:ext>
                </a:extLst>
              </a:tr>
              <a:tr h="3435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Jan</a:t>
                      </a:r>
                    </a:p>
                  </a:txBody>
                  <a:tcPr marL="100584" marR="100584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4799.8</a:t>
                      </a:r>
                    </a:p>
                  </a:txBody>
                  <a:tcPr marL="100584" marR="100584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2673.7</a:t>
                      </a:r>
                    </a:p>
                  </a:txBody>
                  <a:tcPr marL="100584" marR="100584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1076.6</a:t>
                      </a:r>
                    </a:p>
                  </a:txBody>
                  <a:tcPr marL="100584" marR="100584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100584" marR="100584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16.59</a:t>
                      </a:r>
                    </a:p>
                  </a:txBody>
                  <a:tcPr marL="100584" marR="100584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35060340"/>
                  </a:ext>
                </a:extLst>
              </a:tr>
              <a:tr h="2530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Feb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4756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2674.8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1088.2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17.98</a:t>
                      </a:r>
                    </a:p>
                  </a:txBody>
                  <a:tcPr marL="100584" marR="100584" anchor="ctr"/>
                </a:tc>
                <a:extLst>
                  <a:ext uri="{0D108BD9-81ED-4DB2-BD59-A6C34878D82A}">
                    <a16:rowId xmlns:a16="http://schemas.microsoft.com/office/drawing/2014/main" val="3907400917"/>
                  </a:ext>
                </a:extLst>
              </a:tr>
              <a:tr h="25238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Mar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6309.9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3554.9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1253.8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28.05</a:t>
                      </a:r>
                    </a:p>
                  </a:txBody>
                  <a:tcPr marL="100584" marR="100584" anchor="ctr"/>
                </a:tc>
                <a:extLst>
                  <a:ext uri="{0D108BD9-81ED-4DB2-BD59-A6C34878D82A}">
                    <a16:rowId xmlns:a16="http://schemas.microsoft.com/office/drawing/2014/main" val="3598238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Apr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6277.8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3544.6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1242.3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14.77</a:t>
                      </a:r>
                    </a:p>
                  </a:txBody>
                  <a:tcPr marL="100584" marR="100584" anchor="ctr"/>
                </a:tc>
                <a:extLst>
                  <a:ext uri="{0D108BD9-81ED-4DB2-BD59-A6C34878D82A}">
                    <a16:rowId xmlns:a16="http://schemas.microsoft.com/office/drawing/2014/main" val="4166845662"/>
                  </a:ext>
                </a:extLst>
              </a:tr>
              <a:tr h="3435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May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6199.5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3522.9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1196.7</a:t>
                      </a:r>
                    </a:p>
                  </a:txBody>
                  <a:tcPr marL="100584" marR="100584" anchor="ctr"/>
                </a:tc>
                <a:tc rowSpan="2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41.02</a:t>
                      </a:r>
                    </a:p>
                  </a:txBody>
                  <a:tcPr marL="100584" marR="100584" anchor="ctr"/>
                </a:tc>
                <a:extLst>
                  <a:ext uri="{0D108BD9-81ED-4DB2-BD59-A6C34878D82A}">
                    <a16:rowId xmlns:a16="http://schemas.microsoft.com/office/drawing/2014/main" val="1223101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Jun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5268.4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2982.6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1024.2</a:t>
                      </a:r>
                    </a:p>
                  </a:txBody>
                  <a:tcPr marL="100584" marR="100584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91.53</a:t>
                      </a:r>
                    </a:p>
                  </a:txBody>
                  <a:tcPr marL="100584" marR="100584" anchor="ctr"/>
                </a:tc>
                <a:extLst>
                  <a:ext uri="{0D108BD9-81ED-4DB2-BD59-A6C34878D82A}">
                    <a16:rowId xmlns:a16="http://schemas.microsoft.com/office/drawing/2014/main" val="3418020194"/>
                  </a:ext>
                </a:extLst>
              </a:tr>
              <a:tr h="3435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Jul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5355.1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3050.2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967.4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98.12</a:t>
                      </a:r>
                    </a:p>
                  </a:txBody>
                  <a:tcPr marL="100584" marR="100584" anchor="ctr"/>
                </a:tc>
                <a:extLst>
                  <a:ext uri="{0D108BD9-81ED-4DB2-BD59-A6C34878D82A}">
                    <a16:rowId xmlns:a16="http://schemas.microsoft.com/office/drawing/2014/main" val="3496397045"/>
                  </a:ext>
                </a:extLst>
              </a:tr>
              <a:tr h="3435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Aug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4973.4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2775.4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1033.2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77.65</a:t>
                      </a:r>
                    </a:p>
                  </a:txBody>
                  <a:tcPr marL="100584" marR="100584" anchor="ctr"/>
                </a:tc>
                <a:extLst>
                  <a:ext uri="{0D108BD9-81ED-4DB2-BD59-A6C34878D82A}">
                    <a16:rowId xmlns:a16="http://schemas.microsoft.com/office/drawing/2014/main" val="2541263118"/>
                  </a:ext>
                </a:extLst>
              </a:tr>
              <a:tr h="3435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Sep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5169.5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2925.7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1028.2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45.65</a:t>
                      </a:r>
                    </a:p>
                  </a:txBody>
                  <a:tcPr marL="100584" marR="100584" anchor="ctr"/>
                </a:tc>
                <a:extLst>
                  <a:ext uri="{0D108BD9-81ED-4DB2-BD59-A6C34878D82A}">
                    <a16:rowId xmlns:a16="http://schemas.microsoft.com/office/drawing/2014/main" val="1416548384"/>
                  </a:ext>
                </a:extLst>
              </a:tr>
              <a:tr h="3435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Oct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4975.3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2826.2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1097.9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19.56</a:t>
                      </a:r>
                    </a:p>
                  </a:txBody>
                  <a:tcPr marL="100584" marR="100584" anchor="ctr"/>
                </a:tc>
                <a:extLst>
                  <a:ext uri="{0D108BD9-81ED-4DB2-BD59-A6C34878D82A}">
                    <a16:rowId xmlns:a16="http://schemas.microsoft.com/office/drawing/2014/main" val="3079180132"/>
                  </a:ext>
                </a:extLst>
              </a:tr>
              <a:tr h="3435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Nov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5032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2819.9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1005.9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27.65</a:t>
                      </a:r>
                    </a:p>
                  </a:txBody>
                  <a:tcPr marL="100584" marR="100584" anchor="ctr"/>
                </a:tc>
                <a:extLst>
                  <a:ext uri="{0D108BD9-81ED-4DB2-BD59-A6C34878D82A}">
                    <a16:rowId xmlns:a16="http://schemas.microsoft.com/office/drawing/2014/main" val="1563785330"/>
                  </a:ext>
                </a:extLst>
              </a:tr>
              <a:tr h="3435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Dec</a:t>
                      </a:r>
                    </a:p>
                  </a:txBody>
                  <a:tcPr marL="100584" marR="100584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4783.2</a:t>
                      </a:r>
                    </a:p>
                  </a:txBody>
                  <a:tcPr marL="100584" marR="100584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2658.9</a:t>
                      </a:r>
                    </a:p>
                  </a:txBody>
                  <a:tcPr marL="100584" marR="100584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1034.4</a:t>
                      </a:r>
                    </a:p>
                  </a:txBody>
                  <a:tcPr marL="100584" marR="100584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100584" marR="100584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29.36</a:t>
                      </a:r>
                    </a:p>
                  </a:txBody>
                  <a:tcPr marL="100584" marR="100584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4878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0819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C8004-4B44-AFCB-013F-B2AF00DAE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1400" y="0"/>
            <a:ext cx="8911687" cy="1280890"/>
          </a:xfrm>
        </p:spPr>
        <p:txBody>
          <a:bodyPr/>
          <a:lstStyle/>
          <a:p>
            <a:pPr algn="ctr"/>
            <a:r>
              <a:rPr lang="en-US" b="1" dirty="0"/>
              <a:t>Result and Analysis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12065-DB0B-595B-88B9-79DA7F65C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05AFB-C6F3-455D-8899-B56639E9A0DE}" type="slidenum">
              <a:rPr lang="en-US" smtClean="0"/>
              <a:t>11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7D6809-999D-6BFE-A8B8-79C73FB33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412" y="876682"/>
            <a:ext cx="8692426" cy="1923030"/>
          </a:xfrm>
          <a:prstGeom prst="rect">
            <a:avLst/>
          </a:prstGeom>
        </p:spPr>
      </p:pic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FF7DAFA4-428E-FFCB-ADC1-4511E72F53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0955" y="2840758"/>
            <a:ext cx="5241925" cy="3492001"/>
          </a:xfrm>
          <a:prstGeom prst="rect">
            <a:avLst/>
          </a:prstGeom>
        </p:spPr>
      </p:pic>
      <p:sp>
        <p:nvSpPr>
          <p:cNvPr id="22" name="Content Placeholder 7">
            <a:extLst>
              <a:ext uri="{FF2B5EF4-FFF2-40B4-BE49-F238E27FC236}">
                <a16:creationId xmlns:a16="http://schemas.microsoft.com/office/drawing/2014/main" id="{E6121BD7-EA3B-89B2-FB72-53102AABAC6A}"/>
              </a:ext>
            </a:extLst>
          </p:cNvPr>
          <p:cNvSpPr txBox="1">
            <a:spLocks/>
          </p:cNvSpPr>
          <p:nvPr/>
        </p:nvSpPr>
        <p:spPr>
          <a:xfrm>
            <a:off x="5095875" y="2840758"/>
            <a:ext cx="2655837" cy="2978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US" sz="1200" b="1" dirty="0">
                <a:latin typeface="Century Gothic (Body)"/>
                <a:ea typeface="Calibri" panose="020F0502020204030204" pitchFamily="34" charset="0"/>
              </a:rPr>
              <a:t>Fig.</a:t>
            </a:r>
            <a:r>
              <a:rPr lang="en-US" sz="1200" dirty="0">
                <a:latin typeface="Century Gothic (Body)"/>
                <a:ea typeface="Calibri" panose="020F0502020204030204" pitchFamily="34" charset="0"/>
              </a:rPr>
              <a:t> Financial Analysis.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BA966E07-81D8-3C00-1B64-982CDD008756}"/>
              </a:ext>
            </a:extLst>
          </p:cNvPr>
          <p:cNvSpPr txBox="1">
            <a:spLocks/>
          </p:cNvSpPr>
          <p:nvPr/>
        </p:nvSpPr>
        <p:spPr>
          <a:xfrm>
            <a:off x="5198291" y="6224894"/>
            <a:ext cx="3437273" cy="2978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US" sz="1200" b="1" dirty="0">
                <a:latin typeface="Century Gothic (Body)"/>
                <a:ea typeface="Calibri" panose="020F0502020204030204" pitchFamily="34" charset="0"/>
              </a:rPr>
              <a:t>Fig. </a:t>
            </a:r>
            <a:r>
              <a:rPr lang="en-US" sz="1200" dirty="0">
                <a:latin typeface="Century Gothic (Body)"/>
                <a:ea typeface="Calibri" panose="020F0502020204030204" pitchFamily="34" charset="0"/>
              </a:rPr>
              <a:t>Consumption vs Generation Comparison</a:t>
            </a:r>
            <a:endParaRPr lang="en-US" sz="1200" dirty="0">
              <a:latin typeface="Century Gothic (Body)"/>
            </a:endParaRPr>
          </a:p>
        </p:txBody>
      </p:sp>
    </p:spTree>
    <p:extLst>
      <p:ext uri="{BB962C8B-B14F-4D97-AF65-F5344CB8AC3E}">
        <p14:creationId xmlns:p14="http://schemas.microsoft.com/office/powerpoint/2010/main" val="2928100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D70C-D997-AC1D-7F92-FB422CB98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7544" y="329899"/>
            <a:ext cx="8911687" cy="1280890"/>
          </a:xfrm>
        </p:spPr>
        <p:txBody>
          <a:bodyPr/>
          <a:lstStyle/>
          <a:p>
            <a:pPr algn="ctr"/>
            <a:r>
              <a:rPr lang="en-US" b="1" dirty="0"/>
              <a:t>Result and Analysis(CONTD.)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96EF4-1166-2092-0455-60B7F707A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effectLst/>
                <a:latin typeface="+mn-lt"/>
                <a:ea typeface="MS Mincho" panose="02020609040205080304" pitchFamily="49" charset="-128"/>
              </a:rPr>
              <a:t>We have said earlier that the Dhaka city offers 10.554 km2. And our sample area is around 9886.25Sqft = 0.0009184km2. </a:t>
            </a:r>
            <a:endParaRPr lang="en-US" sz="2000" dirty="0">
              <a:effectLst/>
              <a:latin typeface="+mn-lt"/>
              <a:ea typeface="MS Mincho" panose="02020609040205080304" pitchFamily="49" charset="-128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effectLst/>
                <a:latin typeface="+mn-lt"/>
                <a:ea typeface="MS Mincho" panose="02020609040205080304" pitchFamily="49" charset="-128"/>
              </a:rPr>
              <a:t>Annually we are generating almost</a:t>
            </a:r>
            <a:r>
              <a:rPr lang="en-GB" sz="2000" dirty="0">
                <a:solidFill>
                  <a:srgbClr val="000000"/>
                </a:solidFill>
                <a:effectLst/>
                <a:latin typeface="+mn-lt"/>
                <a:ea typeface="MS Mincho" panose="02020609040205080304" pitchFamily="49" charset="-128"/>
              </a:rPr>
              <a:t> </a:t>
            </a:r>
            <a:r>
              <a:rPr lang="en-GB" sz="2000" dirty="0">
                <a:effectLst/>
                <a:latin typeface="+mn-lt"/>
                <a:ea typeface="MS Mincho" panose="02020609040205080304" pitchFamily="49" charset="-128"/>
              </a:rPr>
              <a:t>103.2MWh in our sample design. </a:t>
            </a:r>
            <a:endParaRPr lang="en-US" sz="2000" dirty="0">
              <a:effectLst/>
              <a:latin typeface="+mn-lt"/>
              <a:ea typeface="MS Mincho" panose="02020609040205080304" pitchFamily="49" charset="-128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effectLst/>
                <a:latin typeface="+mn-lt"/>
                <a:ea typeface="MS Mincho" panose="02020609040205080304" pitchFamily="49" charset="-128"/>
              </a:rPr>
              <a:t>We are getting 103.2MWh against 0.0009184km2 area.</a:t>
            </a:r>
            <a:endParaRPr lang="en-US" sz="2000" dirty="0">
              <a:effectLst/>
              <a:latin typeface="+mn-lt"/>
              <a:ea typeface="MS Mincho" panose="02020609040205080304" pitchFamily="49" charset="-128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effectLst/>
                <a:latin typeface="+mn-lt"/>
                <a:ea typeface="MS Mincho" panose="02020609040205080304" pitchFamily="49" charset="-128"/>
              </a:rPr>
              <a:t>We will get approximately 1185945.99MWh = 1185.946 GWh power against 10.554km2 area. </a:t>
            </a:r>
            <a:endParaRPr lang="en-US" sz="2000" dirty="0">
              <a:effectLst/>
              <a:latin typeface="+mn-lt"/>
              <a:ea typeface="MS Mincho" panose="02020609040205080304" pitchFamily="49" charset="-128"/>
            </a:endParaRP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05AFB-C6F3-455D-8899-B56639E9A0D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542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48DA5-0A77-5830-F13B-281D7B442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2616" y="0"/>
            <a:ext cx="8911687" cy="1280890"/>
          </a:xfrm>
        </p:spPr>
        <p:txBody>
          <a:bodyPr/>
          <a:lstStyle/>
          <a:p>
            <a:pPr algn="ctr"/>
            <a:r>
              <a:rPr lang="en-US" dirty="0"/>
              <a:t> </a:t>
            </a:r>
            <a:r>
              <a:rPr lang="en-US" b="1" dirty="0"/>
              <a:t>Total Energy Calculation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1520712-9FF3-44D4-E1F5-160CAACBD2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5458669"/>
              </p:ext>
            </p:extLst>
          </p:nvPr>
        </p:nvGraphicFramePr>
        <p:xfrm>
          <a:off x="2238374" y="1152905"/>
          <a:ext cx="8505825" cy="43785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84527">
                  <a:extLst>
                    <a:ext uri="{9D8B030D-6E8A-4147-A177-3AD203B41FA5}">
                      <a16:colId xmlns:a16="http://schemas.microsoft.com/office/drawing/2014/main" val="1338666576"/>
                    </a:ext>
                  </a:extLst>
                </a:gridCol>
                <a:gridCol w="2360367">
                  <a:extLst>
                    <a:ext uri="{9D8B030D-6E8A-4147-A177-3AD203B41FA5}">
                      <a16:colId xmlns:a16="http://schemas.microsoft.com/office/drawing/2014/main" val="2099343944"/>
                    </a:ext>
                  </a:extLst>
                </a:gridCol>
                <a:gridCol w="1360931">
                  <a:extLst>
                    <a:ext uri="{9D8B030D-6E8A-4147-A177-3AD203B41FA5}">
                      <a16:colId xmlns:a16="http://schemas.microsoft.com/office/drawing/2014/main" val="32638087"/>
                    </a:ext>
                  </a:extLst>
                </a:gridCol>
              </a:tblGrid>
              <a:tr h="579937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Hybrid Energy System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989588"/>
                  </a:ext>
                </a:extLst>
              </a:tr>
              <a:tr h="579937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Annually Energy Produce (Estimated)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566012"/>
                  </a:ext>
                </a:extLst>
              </a:tr>
              <a:tr h="10496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Section 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Amount Produce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Unit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576999"/>
                  </a:ext>
                </a:extLst>
              </a:tr>
              <a:tr h="57993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Total Energy Produce from RSS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1185.946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GWh 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370168"/>
                  </a:ext>
                </a:extLst>
              </a:tr>
              <a:tr h="10496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Total Energy Produce from Wind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5.04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GWh 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449204"/>
                  </a:ext>
                </a:extLst>
              </a:tr>
              <a:tr h="5393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Total Energy Produce Annually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1190.986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GWh 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042868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05AFB-C6F3-455D-8899-B56639E9A0D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271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A hybrid Rooftop PV and Air Dolphin Wind turbine comprising energy system model is constructed in this study.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We have also noticed that this model is more trustworthy and effective than the previous models.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The hybrid model of PV/WIND/small hydro delivers power at a considerably higher and more cost-effective rate than the present system.</a:t>
            </a:r>
            <a:endParaRPr lang="en-GB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05AFB-C6F3-455D-8899-B56639E9A0D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454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982" y="512462"/>
            <a:ext cx="8911687" cy="1280890"/>
          </a:xfrm>
        </p:spPr>
        <p:txBody>
          <a:bodyPr/>
          <a:lstStyle/>
          <a:p>
            <a:pPr algn="ctr"/>
            <a:r>
              <a:rPr lang="en-GB" b="1" dirty="0"/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fontAlgn="base"/>
            <a:r>
              <a:rPr lang="en-US" dirty="0"/>
              <a:t>In the future, if we modify our filling station model to become a hybrid solar system, we can easily use this model as an EV charging station.</a:t>
            </a:r>
            <a:endParaRPr lang="en-GB" dirty="0"/>
          </a:p>
          <a:p>
            <a:pPr algn="just" fontAlgn="base"/>
            <a:r>
              <a:rPr lang="en-US" dirty="0"/>
              <a:t>The vortex hydro turbine system can be implemented in the </a:t>
            </a:r>
            <a:r>
              <a:rPr lang="en-US" dirty="0" err="1"/>
              <a:t>Dasherkandi</a:t>
            </a:r>
            <a:r>
              <a:rPr lang="en-US" dirty="0"/>
              <a:t> Sewage Treatment Plant, which is the largest sewage treatment plant in South Asia. In that case, we can get huge power because of its daily sewage treatment capacity of 500000m3.</a:t>
            </a:r>
            <a:endParaRPr lang="en-GB" dirty="0"/>
          </a:p>
          <a:p>
            <a:pPr algn="just" fontAlgn="base"/>
            <a:r>
              <a:rPr lang="en-US" dirty="0"/>
              <a:t>The wind turbine proposed model can be implemented in the transmission tower. In that case, we can produce a large amount of electricity to cover up both the telecommunication tower and the transmission tower.</a:t>
            </a:r>
            <a:endParaRPr lang="en-GB" dirty="0"/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05AFB-C6F3-455D-8899-B56639E9A0D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6944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53445-901D-59A8-D924-567E70EB4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6239" y="624110"/>
            <a:ext cx="8911687" cy="1280890"/>
          </a:xfrm>
        </p:spPr>
        <p:txBody>
          <a:bodyPr/>
          <a:lstStyle/>
          <a:p>
            <a:pPr algn="ctr"/>
            <a:r>
              <a:rPr lang="en-US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4AD1F-4252-5EE9-C102-5703F2D1D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+mj-lt"/>
              <a:buAutoNum type="arabicPeriod"/>
            </a:pPr>
            <a:r>
              <a:rPr lang="en-GB" sz="1600" dirty="0">
                <a:solidFill>
                  <a:srgbClr val="2A2A2A"/>
                </a:solidFill>
                <a:effectLst/>
                <a:ea typeface="MS Mincho" panose="02020609040205080304" pitchFamily="49" charset="-128"/>
              </a:rPr>
              <a:t>Amit </a:t>
            </a:r>
            <a:r>
              <a:rPr lang="en-GB" sz="1600" dirty="0" err="1">
                <a:solidFill>
                  <a:srgbClr val="2A2A2A"/>
                </a:solidFill>
                <a:effectLst/>
                <a:ea typeface="MS Mincho" panose="02020609040205080304" pitchFamily="49" charset="-128"/>
              </a:rPr>
              <a:t>Kumer</a:t>
            </a:r>
            <a:r>
              <a:rPr lang="en-GB" sz="1600" dirty="0">
                <a:solidFill>
                  <a:srgbClr val="2A2A2A"/>
                </a:solidFill>
                <a:effectLst/>
                <a:ea typeface="MS Mincho" panose="02020609040205080304" pitchFamily="49" charset="-128"/>
              </a:rPr>
              <a:t> </a:t>
            </a:r>
            <a:r>
              <a:rPr lang="en-GB" sz="1600" dirty="0" err="1">
                <a:solidFill>
                  <a:srgbClr val="2A2A2A"/>
                </a:solidFill>
                <a:effectLst/>
                <a:ea typeface="MS Mincho" panose="02020609040205080304" pitchFamily="49" charset="-128"/>
              </a:rPr>
              <a:t>Podder</a:t>
            </a:r>
            <a:r>
              <a:rPr lang="en-GB" sz="1600" dirty="0">
                <a:solidFill>
                  <a:srgbClr val="2A2A2A"/>
                </a:solidFill>
                <a:effectLst/>
                <a:ea typeface="MS Mincho" panose="02020609040205080304" pitchFamily="49" charset="-128"/>
              </a:rPr>
              <a:t>, </a:t>
            </a:r>
            <a:r>
              <a:rPr lang="en-GB" sz="1600" dirty="0" err="1">
                <a:solidFill>
                  <a:srgbClr val="2A2A2A"/>
                </a:solidFill>
                <a:effectLst/>
                <a:ea typeface="MS Mincho" panose="02020609040205080304" pitchFamily="49" charset="-128"/>
              </a:rPr>
              <a:t>Anik</a:t>
            </a:r>
            <a:r>
              <a:rPr lang="en-GB" sz="1600" dirty="0">
                <a:solidFill>
                  <a:srgbClr val="2A2A2A"/>
                </a:solidFill>
                <a:effectLst/>
                <a:ea typeface="MS Mincho" panose="02020609040205080304" pitchFamily="49" charset="-128"/>
              </a:rPr>
              <a:t> Kumar Das, </a:t>
            </a:r>
            <a:r>
              <a:rPr lang="en-GB" sz="1600" dirty="0" err="1">
                <a:solidFill>
                  <a:srgbClr val="2A2A2A"/>
                </a:solidFill>
                <a:effectLst/>
                <a:ea typeface="MS Mincho" panose="02020609040205080304" pitchFamily="49" charset="-128"/>
              </a:rPr>
              <a:t>Eklas</a:t>
            </a:r>
            <a:r>
              <a:rPr lang="en-GB" sz="1600" dirty="0">
                <a:solidFill>
                  <a:srgbClr val="2A2A2A"/>
                </a:solidFill>
                <a:effectLst/>
                <a:ea typeface="MS Mincho" panose="02020609040205080304" pitchFamily="49" charset="-128"/>
              </a:rPr>
              <a:t> Hossain, </a:t>
            </a:r>
            <a:r>
              <a:rPr lang="en-GB" sz="1600" dirty="0" err="1">
                <a:solidFill>
                  <a:srgbClr val="2A2A2A"/>
                </a:solidFill>
                <a:effectLst/>
                <a:ea typeface="MS Mincho" panose="02020609040205080304" pitchFamily="49" charset="-128"/>
              </a:rPr>
              <a:t>Nallapaneni</a:t>
            </a:r>
            <a:r>
              <a:rPr lang="en-GB" sz="1600" dirty="0">
                <a:solidFill>
                  <a:srgbClr val="2A2A2A"/>
                </a:solidFill>
                <a:effectLst/>
                <a:ea typeface="MS Mincho" panose="02020609040205080304" pitchFamily="49" charset="-128"/>
              </a:rPr>
              <a:t> Manoj Kumar, </a:t>
            </a:r>
            <a:r>
              <a:rPr lang="en-GB" sz="1600" dirty="0" err="1">
                <a:solidFill>
                  <a:srgbClr val="2A2A2A"/>
                </a:solidFill>
                <a:effectLst/>
                <a:ea typeface="MS Mincho" panose="02020609040205080304" pitchFamily="49" charset="-128"/>
              </a:rPr>
              <a:t>Naruttam</a:t>
            </a:r>
            <a:r>
              <a:rPr lang="en-GB" sz="1600" dirty="0">
                <a:solidFill>
                  <a:srgbClr val="2A2A2A"/>
                </a:solidFill>
                <a:effectLst/>
                <a:ea typeface="MS Mincho" panose="02020609040205080304" pitchFamily="49" charset="-128"/>
              </a:rPr>
              <a:t> Kumar Roy, Hassan </a:t>
            </a:r>
            <a:r>
              <a:rPr lang="en-GB" sz="1600" dirty="0" err="1">
                <a:solidFill>
                  <a:srgbClr val="2A2A2A"/>
                </a:solidFill>
                <a:effectLst/>
                <a:ea typeface="MS Mincho" panose="02020609040205080304" pitchFamily="49" charset="-128"/>
              </a:rPr>
              <a:t>Haes</a:t>
            </a:r>
            <a:r>
              <a:rPr lang="en-GB" sz="1600" dirty="0">
                <a:solidFill>
                  <a:srgbClr val="2A2A2A"/>
                </a:solidFill>
                <a:effectLst/>
                <a:ea typeface="MS Mincho" panose="02020609040205080304" pitchFamily="49" charset="-128"/>
              </a:rPr>
              <a:t> </a:t>
            </a:r>
            <a:r>
              <a:rPr lang="en-GB" sz="1600" dirty="0" err="1">
                <a:solidFill>
                  <a:srgbClr val="2A2A2A"/>
                </a:solidFill>
                <a:effectLst/>
                <a:ea typeface="MS Mincho" panose="02020609040205080304" pitchFamily="49" charset="-128"/>
              </a:rPr>
              <a:t>Alhelou</a:t>
            </a:r>
            <a:r>
              <a:rPr lang="en-GB" sz="1600" dirty="0">
                <a:solidFill>
                  <a:srgbClr val="2A2A2A"/>
                </a:solidFill>
                <a:effectLst/>
                <a:ea typeface="MS Mincho" panose="02020609040205080304" pitchFamily="49" charset="-128"/>
              </a:rPr>
              <a:t>, </a:t>
            </a:r>
            <a:r>
              <a:rPr lang="en-GB" sz="1600" dirty="0" err="1">
                <a:solidFill>
                  <a:srgbClr val="2A2A2A"/>
                </a:solidFill>
                <a:effectLst/>
                <a:ea typeface="MS Mincho" panose="02020609040205080304" pitchFamily="49" charset="-128"/>
              </a:rPr>
              <a:t>Alagar</a:t>
            </a:r>
            <a:r>
              <a:rPr lang="en-GB" sz="1600" dirty="0">
                <a:solidFill>
                  <a:srgbClr val="2A2A2A"/>
                </a:solidFill>
                <a:effectLst/>
                <a:ea typeface="MS Mincho" panose="02020609040205080304" pitchFamily="49" charset="-128"/>
              </a:rPr>
              <a:t> Karthick, Amer Al-</a:t>
            </a:r>
            <a:r>
              <a:rPr lang="en-GB" sz="1600" dirty="0" err="1">
                <a:solidFill>
                  <a:srgbClr val="2A2A2A"/>
                </a:solidFill>
                <a:effectLst/>
                <a:ea typeface="MS Mincho" panose="02020609040205080304" pitchFamily="49" charset="-128"/>
              </a:rPr>
              <a:t>Hinai</a:t>
            </a:r>
            <a:r>
              <a:rPr lang="en-GB" sz="1600" dirty="0">
                <a:solidFill>
                  <a:srgbClr val="2A2A2A"/>
                </a:solidFill>
                <a:effectLst/>
                <a:ea typeface="MS Mincho" panose="02020609040205080304" pitchFamily="49" charset="-128"/>
              </a:rPr>
              <a:t>, Integrated </a:t>
            </a:r>
            <a:r>
              <a:rPr lang="en-GB" sz="1600" dirty="0" err="1">
                <a:solidFill>
                  <a:srgbClr val="2A2A2A"/>
                </a:solidFill>
                <a:effectLst/>
                <a:ea typeface="MS Mincho" panose="02020609040205080304" pitchFamily="49" charset="-128"/>
              </a:rPr>
              <a:t>modeling</a:t>
            </a:r>
            <a:r>
              <a:rPr lang="en-GB" sz="1600" dirty="0">
                <a:solidFill>
                  <a:srgbClr val="2A2A2A"/>
                </a:solidFill>
                <a:effectLst/>
                <a:ea typeface="MS Mincho" panose="02020609040205080304" pitchFamily="49" charset="-128"/>
              </a:rPr>
              <a:t> and feasibility analysis of a rooftop photovoltaic systems for an academic building in Bangladesh, </a:t>
            </a:r>
            <a:r>
              <a:rPr lang="en-GB" sz="1600" i="1" dirty="0">
                <a:solidFill>
                  <a:srgbClr val="2A2A2A"/>
                </a:solidFill>
                <a:effectLst/>
                <a:ea typeface="MS Mincho" panose="02020609040205080304" pitchFamily="49" charset="-128"/>
              </a:rPr>
              <a:t>International Journal of Low-Carbon Technologies</a:t>
            </a:r>
            <a:r>
              <a:rPr lang="en-GB" sz="1600" dirty="0">
                <a:solidFill>
                  <a:srgbClr val="2A2A2A"/>
                </a:solidFill>
                <a:effectLst/>
                <a:ea typeface="MS Mincho" panose="02020609040205080304" pitchFamily="49" charset="-128"/>
              </a:rPr>
              <a:t>, Volume 16, Issue 4, December 2021, Pages 1317–1327, </a:t>
            </a:r>
            <a:r>
              <a:rPr lang="en-GB" sz="1600" u="sng" dirty="0">
                <a:solidFill>
                  <a:srgbClr val="006FB7"/>
                </a:solidFill>
                <a:ea typeface="MS Mincho" panose="02020609040205080304" pitchFamily="49" charset="-128"/>
              </a:rPr>
              <a:t>https://doi.org/10.1093/ijlct/ctab056.</a:t>
            </a:r>
          </a:p>
          <a:p>
            <a:pPr algn="just">
              <a:buFont typeface="+mj-lt"/>
              <a:buAutoNum type="arabicPeriod"/>
            </a:pPr>
            <a:r>
              <a:rPr lang="en-GB" sz="1600" dirty="0">
                <a:effectLst/>
                <a:ea typeface="Times New Roman" panose="02020603050405020304" pitchFamily="18" charset="0"/>
              </a:rPr>
              <a:t>Mia, Nasim &amp; Hossain, Moazzam &amp; Islam, A.K.M </a:t>
            </a:r>
            <a:r>
              <a:rPr lang="en-GB" sz="1600" dirty="0" err="1">
                <a:effectLst/>
                <a:ea typeface="Times New Roman" panose="02020603050405020304" pitchFamily="18" charset="0"/>
              </a:rPr>
              <a:t>Shoriful</a:t>
            </a:r>
            <a:r>
              <a:rPr lang="en-GB" sz="1600" dirty="0">
                <a:effectLst/>
                <a:ea typeface="Times New Roman" panose="02020603050405020304" pitchFamily="18" charset="0"/>
              </a:rPr>
              <a:t> &amp; Rahman, Sheikh &amp; Ahmed, Nadim &amp; Khan, Sadia &amp; Yasmin, </a:t>
            </a:r>
            <a:r>
              <a:rPr lang="en-GB" sz="1600" dirty="0" err="1">
                <a:effectLst/>
                <a:ea typeface="Times New Roman" panose="02020603050405020304" pitchFamily="18" charset="0"/>
              </a:rPr>
              <a:t>Farjana</a:t>
            </a:r>
            <a:r>
              <a:rPr lang="en-GB" sz="1600" dirty="0">
                <a:effectLst/>
                <a:ea typeface="Times New Roman" panose="02020603050405020304" pitchFamily="18" charset="0"/>
              </a:rPr>
              <a:t>. (2021). A Hypothetical Design Of Small Hydro Power Plant Using Sewage Water In The Perspective Of Dhaka City. 1-5. 10.1109/ICCCNT51525.2021.9579747.</a:t>
            </a:r>
            <a:endParaRPr lang="en-US" sz="1600" dirty="0">
              <a:effectLst/>
              <a:ea typeface="MS Mincho" panose="02020609040205080304" pitchFamily="49" charset="-128"/>
            </a:endParaRPr>
          </a:p>
          <a:p>
            <a:pPr algn="just">
              <a:buFont typeface="+mj-lt"/>
              <a:buAutoNum type="arabicPeriod"/>
            </a:pPr>
            <a:r>
              <a:rPr lang="en-GB" sz="1600" dirty="0">
                <a:solidFill>
                  <a:srgbClr val="000000"/>
                </a:solidFill>
                <a:effectLst/>
                <a:ea typeface="MS Mincho" panose="02020609040205080304" pitchFamily="49" charset="-128"/>
              </a:rPr>
              <a:t>Antonio Messineo1, Vincenzo Franzitta2 and Marco </a:t>
            </a:r>
            <a:r>
              <a:rPr lang="en-GB" sz="1600" dirty="0" err="1">
                <a:solidFill>
                  <a:srgbClr val="000000"/>
                </a:solidFill>
                <a:effectLst/>
                <a:ea typeface="MS Mincho" panose="02020609040205080304" pitchFamily="49" charset="-128"/>
              </a:rPr>
              <a:t>Trapanese</a:t>
            </a:r>
            <a:r>
              <a:rPr lang="en-GB" sz="1600" dirty="0">
                <a:solidFill>
                  <a:srgbClr val="000000"/>
                </a:solidFill>
                <a:effectLst/>
                <a:ea typeface="MS Mincho" panose="02020609040205080304" pitchFamily="49" charset="-128"/>
              </a:rPr>
              <a:t>, </a:t>
            </a:r>
            <a:r>
              <a:rPr lang="en-GB" sz="1600" dirty="0">
                <a:solidFill>
                  <a:srgbClr val="333333"/>
                </a:solidFill>
                <a:effectLst/>
                <a:ea typeface="MS Mincho" panose="02020609040205080304" pitchFamily="49" charset="-128"/>
              </a:rPr>
              <a:t>Wind Turbines to Power Telecommunication Systems: A Case Study in Sicily, 2011.</a:t>
            </a:r>
            <a:endParaRPr lang="en-GB" sz="1600" u="sng" dirty="0">
              <a:solidFill>
                <a:srgbClr val="0000FF"/>
              </a:solidFill>
              <a:effectLst/>
              <a:ea typeface="MS Mincho" panose="02020609040205080304" pitchFamily="49" charset="-128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BB0B5-64A9-EA73-9685-79D61A862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05AFB-C6F3-455D-8899-B56639E9A0D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31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F28DAAC-BBCA-057F-7905-0DD5E018B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3996" y="2036388"/>
            <a:ext cx="9404723" cy="4072270"/>
          </a:xfrm>
        </p:spPr>
        <p:txBody>
          <a:bodyPr/>
          <a:lstStyle/>
          <a:p>
            <a:pPr algn="ctr"/>
            <a:r>
              <a:rPr lang="en-US" sz="9600" b="1" dirty="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3F609-3AE0-CC36-17EA-49501131C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05AFB-C6F3-455D-8899-B56639E9A0D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18691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904</TotalTime>
  <Words>1141</Words>
  <Application>Microsoft Office PowerPoint</Application>
  <PresentationFormat>Widescreen</PresentationFormat>
  <Paragraphs>186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Cambria Math</vt:lpstr>
      <vt:lpstr>Century Gothic</vt:lpstr>
      <vt:lpstr>Century Gothic (Body)</vt:lpstr>
      <vt:lpstr>Times New Roman</vt:lpstr>
      <vt:lpstr>Wingdings</vt:lpstr>
      <vt:lpstr>Wingdings 3</vt:lpstr>
      <vt:lpstr>Wisp</vt:lpstr>
      <vt:lpstr>PowerPoint Presentation</vt:lpstr>
      <vt:lpstr>Introduction</vt:lpstr>
      <vt:lpstr>Objectives</vt:lpstr>
      <vt:lpstr>LITERATURE REVIEW</vt:lpstr>
      <vt:lpstr>Methodology</vt:lpstr>
      <vt:lpstr>Design for Rooftop Solar System</vt:lpstr>
      <vt:lpstr>Design for Wind Turbine (CONTD.)</vt:lpstr>
      <vt:lpstr>Design for Wind Turbine (CONTD.)</vt:lpstr>
      <vt:lpstr> Result and Analysis</vt:lpstr>
      <vt:lpstr>Result and Analysis (CONTD.)</vt:lpstr>
      <vt:lpstr>Result and Analysis</vt:lpstr>
      <vt:lpstr>Result and Analysis(CONTD.)</vt:lpstr>
      <vt:lpstr> Total Energy Calculation</vt:lpstr>
      <vt:lpstr>Conclusion</vt:lpstr>
      <vt:lpstr>Future Work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New Dynamic</dc:creator>
  <cp:lastModifiedBy>Arafat Ibne Ikram</cp:lastModifiedBy>
  <cp:revision>51</cp:revision>
  <dcterms:created xsi:type="dcterms:W3CDTF">2022-09-19T19:01:06Z</dcterms:created>
  <dcterms:modified xsi:type="dcterms:W3CDTF">2023-11-22T08:22:03Z</dcterms:modified>
</cp:coreProperties>
</file>