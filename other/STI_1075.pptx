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notesMasterIdLst>
    <p:notesMasterId r:id="rId21"/>
  </p:notesMasterIdLst>
  <p:sldIdLst>
    <p:sldId id="256" r:id="rId2"/>
    <p:sldId id="257" r:id="rId3"/>
    <p:sldId id="258" r:id="rId4"/>
    <p:sldId id="272" r:id="rId5"/>
    <p:sldId id="273" r:id="rId6"/>
    <p:sldId id="274" r:id="rId7"/>
    <p:sldId id="306" r:id="rId8"/>
    <p:sldId id="296" r:id="rId9"/>
    <p:sldId id="295" r:id="rId10"/>
    <p:sldId id="298" r:id="rId11"/>
    <p:sldId id="299" r:id="rId12"/>
    <p:sldId id="300" r:id="rId13"/>
    <p:sldId id="302" r:id="rId14"/>
    <p:sldId id="303" r:id="rId15"/>
    <p:sldId id="304" r:id="rId16"/>
    <p:sldId id="305" r:id="rId17"/>
    <p:sldId id="278" r:id="rId18"/>
    <p:sldId id="279" r:id="rId19"/>
    <p:sldId id="290" r:id="rId2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7E4BD"/>
    <a:srgbClr val="59595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05" d="100"/>
          <a:sy n="105" d="100"/>
        </p:scale>
        <p:origin x="1794" y="9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5_2">
  <dgm:title val=""/>
  <dgm:desc val=""/>
  <dgm:catLst>
    <dgm:cat type="accent5" pri="11200"/>
  </dgm:catLst>
  <dgm:styleLbl name="node0">
    <dgm:fillClrLst meth="repeat">
      <a:schemeClr val="accent5"/>
    </dgm:fillClrLst>
    <dgm:linClrLst meth="repeat">
      <a:schemeClr val="lt1"/>
    </dgm:linClrLst>
    <dgm:effectClrLst/>
    <dgm:txLinClrLst/>
    <dgm:txFillClrLst/>
    <dgm:txEffectClrLst/>
  </dgm:styleLbl>
  <dgm:styleLbl name="node1">
    <dgm:fillClrLst meth="repeat">
      <a:schemeClr val="accent5"/>
    </dgm:fillClrLst>
    <dgm:linClrLst meth="repeat">
      <a:schemeClr val="lt1"/>
    </dgm:linClrLst>
    <dgm:effectClrLst/>
    <dgm:txLinClrLst/>
    <dgm:txFillClrLst/>
    <dgm:txEffectClrLst/>
  </dgm:styleLbl>
  <dgm:styleLbl name="alignNode1">
    <dgm:fillClrLst meth="repeat">
      <a:schemeClr val="accent5"/>
    </dgm:fillClrLst>
    <dgm:linClrLst meth="repeat">
      <a:schemeClr val="accent5"/>
    </dgm:linClrLst>
    <dgm:effectClrLst/>
    <dgm:txLinClrLst/>
    <dgm:txFillClrLst/>
    <dgm:txEffectClrLst/>
  </dgm:styleLbl>
  <dgm:styleLbl name="lnNode1">
    <dgm:fillClrLst meth="repeat">
      <a:schemeClr val="accent5"/>
    </dgm:fillClrLst>
    <dgm:linClrLst meth="repeat">
      <a:schemeClr val="lt1"/>
    </dgm:linClrLst>
    <dgm:effectClrLst/>
    <dgm:txLinClrLst/>
    <dgm:txFillClrLst/>
    <dgm:txEffectClrLst/>
  </dgm:styleLbl>
  <dgm:styleLbl name="vennNode1">
    <dgm:fillClrLst meth="repeat">
      <a:schemeClr val="accent5">
        <a:alpha val="50000"/>
      </a:schemeClr>
    </dgm:fillClrLst>
    <dgm:linClrLst meth="repeat">
      <a:schemeClr val="lt1"/>
    </dgm:linClrLst>
    <dgm:effectClrLst/>
    <dgm:txLinClrLst/>
    <dgm:txFillClrLst/>
    <dgm:txEffectClrLst/>
  </dgm:styleLbl>
  <dgm:styleLbl name="node2">
    <dgm:fillClrLst meth="repeat">
      <a:schemeClr val="accent5"/>
    </dgm:fillClrLst>
    <dgm:linClrLst meth="repeat">
      <a:schemeClr val="lt1"/>
    </dgm:linClrLst>
    <dgm:effectClrLst/>
    <dgm:txLinClrLst/>
    <dgm:txFillClrLst/>
    <dgm:txEffectClrLst/>
  </dgm:styleLbl>
  <dgm:styleLbl name="node3">
    <dgm:fillClrLst meth="repeat">
      <a:schemeClr val="accent5"/>
    </dgm:fillClrLst>
    <dgm:linClrLst meth="repeat">
      <a:schemeClr val="lt1"/>
    </dgm:linClrLst>
    <dgm:effectClrLst/>
    <dgm:txLinClrLst/>
    <dgm:txFillClrLst/>
    <dgm:txEffectClrLst/>
  </dgm:styleLbl>
  <dgm:styleLbl name="node4">
    <dgm:fillClrLst meth="repeat">
      <a:schemeClr val="accent5"/>
    </dgm:fillClrLst>
    <dgm:linClrLst meth="repeat">
      <a:schemeClr val="lt1"/>
    </dgm:linClrLst>
    <dgm:effectClrLst/>
    <dgm:txLinClrLst/>
    <dgm:txFillClrLst/>
    <dgm:txEffectClrLst/>
  </dgm:styleLbl>
  <dgm:styleLbl name="f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5">
        <a:tint val="60000"/>
      </a:schemeClr>
    </dgm:fillClrLst>
    <dgm:linClrLst meth="repeat">
      <a:schemeClr val="accent5">
        <a:tint val="60000"/>
      </a:schemeClr>
    </dgm:linClrLst>
    <dgm:effectClrLst/>
    <dgm:txLinClrLst/>
    <dgm:txFillClrLst/>
    <dgm:txEffectClrLst/>
  </dgm:styleLbl>
  <dgm:styleLbl name="fgSibTrans2D1">
    <dgm:fillClrLst meth="repeat">
      <a:schemeClr val="accent5">
        <a:tint val="60000"/>
      </a:schemeClr>
    </dgm:fillClrLst>
    <dgm:linClrLst meth="repeat">
      <a:schemeClr val="accent5">
        <a:tint val="60000"/>
      </a:schemeClr>
    </dgm:linClrLst>
    <dgm:effectClrLst/>
    <dgm:txLinClrLst/>
    <dgm:txFillClrLst/>
    <dgm:txEffectClrLst/>
  </dgm:styleLbl>
  <dgm:styleLbl name="bgSibTrans2D1">
    <dgm:fillClrLst meth="repeat">
      <a:schemeClr val="accent5">
        <a:tint val="60000"/>
      </a:schemeClr>
    </dgm:fillClrLst>
    <dgm:linClrLst meth="repeat">
      <a:schemeClr val="accent5">
        <a:tint val="60000"/>
      </a:schemeClr>
    </dgm:linClrLst>
    <dgm:effectClrLst/>
    <dgm:txLinClrLst/>
    <dgm:txFillClrLst/>
    <dgm:txEffectClrLst/>
  </dgm:styleLbl>
  <dgm:styleLbl name="sibTrans1D1">
    <dgm:fillClrLst meth="repeat">
      <a:schemeClr val="accent5"/>
    </dgm:fillClrLst>
    <dgm:linClrLst meth="repeat">
      <a:schemeClr val="accent5"/>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dgm:linClrLst>
    <dgm:effectClrLst/>
    <dgm:txLinClrLst/>
    <dgm:txFillClrLst/>
    <dgm:txEffectClrLst/>
  </dgm:styleLbl>
  <dgm:styleLbl name="asst1">
    <dgm:fillClrLst meth="repeat">
      <a:schemeClr val="accent5"/>
    </dgm:fillClrLst>
    <dgm:linClrLst meth="repeat">
      <a:schemeClr val="lt1"/>
    </dgm:linClrLst>
    <dgm:effectClrLst/>
    <dgm:txLinClrLst/>
    <dgm:txFillClrLst/>
    <dgm:txEffectClrLst/>
  </dgm:styleLbl>
  <dgm:styleLbl name="asst2">
    <dgm:fillClrLst meth="repeat">
      <a:schemeClr val="accent5"/>
    </dgm:fillClrLst>
    <dgm:linClrLst meth="repeat">
      <a:schemeClr val="lt1"/>
    </dgm:linClrLst>
    <dgm:effectClrLst/>
    <dgm:txLinClrLst/>
    <dgm:txFillClrLst/>
    <dgm:txEffectClrLst/>
  </dgm:styleLbl>
  <dgm:styleLbl name="asst3">
    <dgm:fillClrLst meth="repeat">
      <a:schemeClr val="accent5"/>
    </dgm:fillClrLst>
    <dgm:linClrLst meth="repeat">
      <a:schemeClr val="lt1"/>
    </dgm:linClrLst>
    <dgm:effectClrLst/>
    <dgm:txLinClrLst/>
    <dgm:txFillClrLst/>
    <dgm:txEffectClrLst/>
  </dgm:styleLbl>
  <dgm:styleLbl name="asst4">
    <dgm:fillClrLst meth="repeat">
      <a:schemeClr val="accent5"/>
    </dgm:fillClrLst>
    <dgm:linClrLst meth="repeat">
      <a:schemeClr val="lt1"/>
    </dgm:linClrLst>
    <dgm:effectClrLst/>
    <dgm:txLinClrLst/>
    <dgm:txFillClrLst/>
    <dgm:txEffectClrLst/>
  </dgm:styleLbl>
  <dgm:styleLbl name="parChTrans2D1">
    <dgm:fillClrLst meth="repeat">
      <a:schemeClr val="accent5">
        <a:tint val="60000"/>
      </a:schemeClr>
    </dgm:fillClrLst>
    <dgm:linClrLst meth="repeat">
      <a:schemeClr val="accent5">
        <a:tint val="60000"/>
      </a:schemeClr>
    </dgm:linClrLst>
    <dgm:effectClrLst/>
    <dgm:txLinClrLst/>
    <dgm:txFillClrLst meth="repeat">
      <a:schemeClr val="lt1"/>
    </dgm:txFillClrLst>
    <dgm:txEffectClrLst/>
  </dgm:styleLbl>
  <dgm:styleLbl name="parChTrans2D2">
    <dgm:fillClrLst meth="repeat">
      <a:schemeClr val="accent5"/>
    </dgm:fillClrLst>
    <dgm:linClrLst meth="repeat">
      <a:schemeClr val="accent5"/>
    </dgm:linClrLst>
    <dgm:effectClrLst/>
    <dgm:txLinClrLst/>
    <dgm:txFillClrLst meth="repeat">
      <a:schemeClr val="lt1"/>
    </dgm:txFillClrLst>
    <dgm:txEffectClrLst/>
  </dgm:styleLbl>
  <dgm:styleLbl name="parChTrans2D3">
    <dgm:fillClrLst meth="repeat">
      <a:schemeClr val="accent5"/>
    </dgm:fillClrLst>
    <dgm:linClrLst meth="repeat">
      <a:schemeClr val="accent5"/>
    </dgm:linClrLst>
    <dgm:effectClrLst/>
    <dgm:txLinClrLst/>
    <dgm:txFillClrLst meth="repeat">
      <a:schemeClr val="lt1"/>
    </dgm:txFillClrLst>
    <dgm:txEffectClrLst/>
  </dgm:styleLbl>
  <dgm:styleLbl name="parChTrans2D4">
    <dgm:fillClrLst meth="repeat">
      <a:schemeClr val="accent5"/>
    </dgm:fillClrLst>
    <dgm:linClrLst meth="repeat">
      <a:schemeClr val="accent5"/>
    </dgm:linClrLst>
    <dgm:effectClrLst/>
    <dgm:txLinClrLst/>
    <dgm:txFillClrLst meth="repeat">
      <a:schemeClr val="lt1"/>
    </dgm:txFillClrLst>
    <dgm:txEffectClrLst/>
  </dgm:styleLbl>
  <dgm:styleLbl name="parChTrans1D1">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2">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3">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parChTrans1D4">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solidFgAcc1">
    <dgm:fillClrLst meth="repeat">
      <a:schemeClr val="lt1"/>
    </dgm:fillClrLst>
    <dgm:linClrLst meth="repeat">
      <a:schemeClr val="accent5"/>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align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b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accent5"/>
    </dgm:linClrLst>
    <dgm:effectClrLst/>
    <dgm:txLinClrLst/>
    <dgm:txFillClrLst meth="repeat">
      <a:schemeClr val="dk1"/>
    </dgm:txFillClrLst>
    <dgm:txEffectClrLst/>
  </dgm:styleLbl>
  <dgm:styleLbl name="dkBgShp">
    <dgm:fillClrLst meth="repeat">
      <a:schemeClr val="accent5">
        <a:shade val="80000"/>
      </a:schemeClr>
    </dgm:fillClrLst>
    <dgm:linClrLst meth="repeat">
      <a:schemeClr val="accent5"/>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ED58E9B-2C23-44EA-A12C-CD57727C40E6}" type="doc">
      <dgm:prSet loTypeId="urn:microsoft.com/office/officeart/2005/8/layout/chevron1" loCatId="process" qsTypeId="urn:microsoft.com/office/officeart/2005/8/quickstyle/simple1" qsCatId="simple" csTypeId="urn:microsoft.com/office/officeart/2005/8/colors/colorful1" csCatId="colorful" phldr="1"/>
      <dgm:spPr/>
    </dgm:pt>
    <dgm:pt modelId="{3DE69AB0-ABF9-4E2F-889B-3AF05B6203F9}">
      <dgm:prSet phldrT="[Text]"/>
      <dgm:spPr/>
      <dgm:t>
        <a:bodyPr/>
        <a:lstStyle/>
        <a:p>
          <a:r>
            <a:rPr lang="en-US" b="1" dirty="0"/>
            <a:t>Design Model</a:t>
          </a:r>
        </a:p>
      </dgm:t>
    </dgm:pt>
    <dgm:pt modelId="{722DD637-A2C5-4B89-B4DC-16A1ED94DE2E}" type="parTrans" cxnId="{A0854C20-D5CC-4393-A0FC-F005D3BDF63F}">
      <dgm:prSet/>
      <dgm:spPr/>
      <dgm:t>
        <a:bodyPr/>
        <a:lstStyle/>
        <a:p>
          <a:endParaRPr lang="en-US"/>
        </a:p>
      </dgm:t>
    </dgm:pt>
    <dgm:pt modelId="{2716CA95-93DC-467D-92EF-033882D3EB63}" type="sibTrans" cxnId="{A0854C20-D5CC-4393-A0FC-F005D3BDF63F}">
      <dgm:prSet/>
      <dgm:spPr/>
      <dgm:t>
        <a:bodyPr/>
        <a:lstStyle/>
        <a:p>
          <a:endParaRPr lang="en-US"/>
        </a:p>
      </dgm:t>
    </dgm:pt>
    <dgm:pt modelId="{FF0E6C26-4FAD-43E8-9F87-985EFA51A728}">
      <dgm:prSet phldrT="[Text]"/>
      <dgm:spPr/>
      <dgm:t>
        <a:bodyPr/>
        <a:lstStyle/>
        <a:p>
          <a:r>
            <a:rPr lang="en-US" b="1" dirty="0"/>
            <a:t>Project Specification</a:t>
          </a:r>
        </a:p>
      </dgm:t>
    </dgm:pt>
    <dgm:pt modelId="{38B77BD7-21DC-4824-BD5A-9B1F06D84C5B}" type="parTrans" cxnId="{DA6874E9-0A55-4E3E-B654-2809ADA9B7F2}">
      <dgm:prSet/>
      <dgm:spPr/>
      <dgm:t>
        <a:bodyPr/>
        <a:lstStyle/>
        <a:p>
          <a:endParaRPr lang="en-US"/>
        </a:p>
      </dgm:t>
    </dgm:pt>
    <dgm:pt modelId="{31420707-0D3F-4FE6-B2CC-F662B6A7B049}" type="sibTrans" cxnId="{DA6874E9-0A55-4E3E-B654-2809ADA9B7F2}">
      <dgm:prSet/>
      <dgm:spPr/>
      <dgm:t>
        <a:bodyPr/>
        <a:lstStyle/>
        <a:p>
          <a:endParaRPr lang="en-US"/>
        </a:p>
      </dgm:t>
    </dgm:pt>
    <dgm:pt modelId="{ED88CBC2-5420-4731-A1BD-1BC48287F4EC}">
      <dgm:prSet phldrT="[Text]"/>
      <dgm:spPr/>
      <dgm:t>
        <a:bodyPr/>
        <a:lstStyle/>
        <a:p>
          <a:r>
            <a:rPr lang="en-US" b="1" dirty="0"/>
            <a:t>GWO Algorithm</a:t>
          </a:r>
        </a:p>
      </dgm:t>
    </dgm:pt>
    <dgm:pt modelId="{37F25575-5F62-43E1-97AD-7B56462D967F}" type="parTrans" cxnId="{38E50648-2B4F-4538-AF25-DEC9A1DA9DBB}">
      <dgm:prSet/>
      <dgm:spPr/>
      <dgm:t>
        <a:bodyPr/>
        <a:lstStyle/>
        <a:p>
          <a:endParaRPr lang="en-US"/>
        </a:p>
      </dgm:t>
    </dgm:pt>
    <dgm:pt modelId="{11F5DC67-A9F3-4384-9F26-BC1802C4A249}" type="sibTrans" cxnId="{38E50648-2B4F-4538-AF25-DEC9A1DA9DBB}">
      <dgm:prSet/>
      <dgm:spPr/>
      <dgm:t>
        <a:bodyPr/>
        <a:lstStyle/>
        <a:p>
          <a:endParaRPr lang="en-US"/>
        </a:p>
      </dgm:t>
    </dgm:pt>
    <dgm:pt modelId="{EB64A9ED-419E-4099-BF13-633BD5D72EE5}">
      <dgm:prSet phldrT="[Text]"/>
      <dgm:spPr/>
      <dgm:t>
        <a:bodyPr/>
        <a:lstStyle/>
        <a:p>
          <a:r>
            <a:rPr lang="en-US" b="1" dirty="0"/>
            <a:t>Economic Analysis</a:t>
          </a:r>
        </a:p>
      </dgm:t>
    </dgm:pt>
    <dgm:pt modelId="{BFC65606-5654-4FC7-BB4D-081DF7AE886B}" type="parTrans" cxnId="{754EF101-91E5-4F37-9FDA-2CD4132AECF7}">
      <dgm:prSet/>
      <dgm:spPr/>
      <dgm:t>
        <a:bodyPr/>
        <a:lstStyle/>
        <a:p>
          <a:endParaRPr lang="en-US"/>
        </a:p>
      </dgm:t>
    </dgm:pt>
    <dgm:pt modelId="{0DEA8E82-2279-4CC0-9FE2-FB874BA85B91}" type="sibTrans" cxnId="{754EF101-91E5-4F37-9FDA-2CD4132AECF7}">
      <dgm:prSet/>
      <dgm:spPr/>
      <dgm:t>
        <a:bodyPr/>
        <a:lstStyle/>
        <a:p>
          <a:endParaRPr lang="en-US"/>
        </a:p>
      </dgm:t>
    </dgm:pt>
    <dgm:pt modelId="{EF4A0D74-D900-4A95-8865-48CA536DE4B6}">
      <dgm:prSet phldrT="[Text]"/>
      <dgm:spPr/>
      <dgm:t>
        <a:bodyPr/>
        <a:lstStyle/>
        <a:p>
          <a:r>
            <a:rPr lang="en-US" b="1" dirty="0"/>
            <a:t>Simulation</a:t>
          </a:r>
        </a:p>
      </dgm:t>
    </dgm:pt>
    <dgm:pt modelId="{347EF847-83A7-4B55-BC03-243ACF31C80C}" type="parTrans" cxnId="{03206B54-5E27-4A68-A4A7-749A23D9E8DD}">
      <dgm:prSet/>
      <dgm:spPr/>
      <dgm:t>
        <a:bodyPr/>
        <a:lstStyle/>
        <a:p>
          <a:endParaRPr lang="en-US"/>
        </a:p>
      </dgm:t>
    </dgm:pt>
    <dgm:pt modelId="{CD4A2413-540B-4286-AB2D-D63CF35562A3}" type="sibTrans" cxnId="{03206B54-5E27-4A68-A4A7-749A23D9E8DD}">
      <dgm:prSet/>
      <dgm:spPr/>
      <dgm:t>
        <a:bodyPr/>
        <a:lstStyle/>
        <a:p>
          <a:endParaRPr lang="en-US"/>
        </a:p>
      </dgm:t>
    </dgm:pt>
    <dgm:pt modelId="{C0519AB0-0253-4E02-885D-B3F52856E27A}">
      <dgm:prSet phldrT="[Text]"/>
      <dgm:spPr/>
      <dgm:t>
        <a:bodyPr/>
        <a:lstStyle/>
        <a:p>
          <a:r>
            <a:rPr lang="en-US" b="1" dirty="0"/>
            <a:t>Result</a:t>
          </a:r>
        </a:p>
      </dgm:t>
    </dgm:pt>
    <dgm:pt modelId="{ED27BBDF-EF5F-4322-9D11-4012E53314D6}" type="parTrans" cxnId="{447EF2DE-9483-441F-BE95-FCA302926086}">
      <dgm:prSet/>
      <dgm:spPr/>
      <dgm:t>
        <a:bodyPr/>
        <a:lstStyle/>
        <a:p>
          <a:endParaRPr lang="en-US"/>
        </a:p>
      </dgm:t>
    </dgm:pt>
    <dgm:pt modelId="{AE1157C9-BDF8-459B-A727-7B35BA81A261}" type="sibTrans" cxnId="{447EF2DE-9483-441F-BE95-FCA302926086}">
      <dgm:prSet/>
      <dgm:spPr/>
      <dgm:t>
        <a:bodyPr/>
        <a:lstStyle/>
        <a:p>
          <a:endParaRPr lang="en-US"/>
        </a:p>
      </dgm:t>
    </dgm:pt>
    <dgm:pt modelId="{FF36C389-5598-4A45-ADC3-ECD00C40CDF3}" type="pres">
      <dgm:prSet presAssocID="{5ED58E9B-2C23-44EA-A12C-CD57727C40E6}" presName="Name0" presStyleCnt="0">
        <dgm:presLayoutVars>
          <dgm:dir/>
          <dgm:animLvl val="lvl"/>
          <dgm:resizeHandles val="exact"/>
        </dgm:presLayoutVars>
      </dgm:prSet>
      <dgm:spPr/>
    </dgm:pt>
    <dgm:pt modelId="{5C10DD40-B6F5-450D-AC46-6580FCA054C8}" type="pres">
      <dgm:prSet presAssocID="{3DE69AB0-ABF9-4E2F-889B-3AF05B6203F9}" presName="parTxOnly" presStyleLbl="node1" presStyleIdx="0" presStyleCnt="6">
        <dgm:presLayoutVars>
          <dgm:chMax val="0"/>
          <dgm:chPref val="0"/>
          <dgm:bulletEnabled val="1"/>
        </dgm:presLayoutVars>
      </dgm:prSet>
      <dgm:spPr/>
    </dgm:pt>
    <dgm:pt modelId="{53CC7FB0-51E7-42A2-AA7B-BE159F395C4C}" type="pres">
      <dgm:prSet presAssocID="{2716CA95-93DC-467D-92EF-033882D3EB63}" presName="parTxOnlySpace" presStyleCnt="0"/>
      <dgm:spPr/>
    </dgm:pt>
    <dgm:pt modelId="{BE3DCBBF-991F-4E0A-90A9-CF724ECAA3AC}" type="pres">
      <dgm:prSet presAssocID="{FF0E6C26-4FAD-43E8-9F87-985EFA51A728}" presName="parTxOnly" presStyleLbl="node1" presStyleIdx="1" presStyleCnt="6">
        <dgm:presLayoutVars>
          <dgm:chMax val="0"/>
          <dgm:chPref val="0"/>
          <dgm:bulletEnabled val="1"/>
        </dgm:presLayoutVars>
      </dgm:prSet>
      <dgm:spPr/>
    </dgm:pt>
    <dgm:pt modelId="{3C0E1D6F-980A-4C93-BCA3-F6D66DD9960B}" type="pres">
      <dgm:prSet presAssocID="{31420707-0D3F-4FE6-B2CC-F662B6A7B049}" presName="parTxOnlySpace" presStyleCnt="0"/>
      <dgm:spPr/>
    </dgm:pt>
    <dgm:pt modelId="{AEF872D1-7B96-4231-8002-684D00ABCB59}" type="pres">
      <dgm:prSet presAssocID="{ED88CBC2-5420-4731-A1BD-1BC48287F4EC}" presName="parTxOnly" presStyleLbl="node1" presStyleIdx="2" presStyleCnt="6">
        <dgm:presLayoutVars>
          <dgm:chMax val="0"/>
          <dgm:chPref val="0"/>
          <dgm:bulletEnabled val="1"/>
        </dgm:presLayoutVars>
      </dgm:prSet>
      <dgm:spPr/>
    </dgm:pt>
    <dgm:pt modelId="{119E5725-6180-4755-89D6-44BEDC696C3E}" type="pres">
      <dgm:prSet presAssocID="{11F5DC67-A9F3-4384-9F26-BC1802C4A249}" presName="parTxOnlySpace" presStyleCnt="0"/>
      <dgm:spPr/>
    </dgm:pt>
    <dgm:pt modelId="{ADF25CD0-3670-44AD-9BCC-2248E4373490}" type="pres">
      <dgm:prSet presAssocID="{EB64A9ED-419E-4099-BF13-633BD5D72EE5}" presName="parTxOnly" presStyleLbl="node1" presStyleIdx="3" presStyleCnt="6">
        <dgm:presLayoutVars>
          <dgm:chMax val="0"/>
          <dgm:chPref val="0"/>
          <dgm:bulletEnabled val="1"/>
        </dgm:presLayoutVars>
      </dgm:prSet>
      <dgm:spPr/>
    </dgm:pt>
    <dgm:pt modelId="{CB143200-D1E1-4ADD-AAF8-4405F8A3C5D5}" type="pres">
      <dgm:prSet presAssocID="{0DEA8E82-2279-4CC0-9FE2-FB874BA85B91}" presName="parTxOnlySpace" presStyleCnt="0"/>
      <dgm:spPr/>
    </dgm:pt>
    <dgm:pt modelId="{3CBB3B56-9A1E-49EB-BDE4-159EE04A4F37}" type="pres">
      <dgm:prSet presAssocID="{EF4A0D74-D900-4A95-8865-48CA536DE4B6}" presName="parTxOnly" presStyleLbl="node1" presStyleIdx="4" presStyleCnt="6">
        <dgm:presLayoutVars>
          <dgm:chMax val="0"/>
          <dgm:chPref val="0"/>
          <dgm:bulletEnabled val="1"/>
        </dgm:presLayoutVars>
      </dgm:prSet>
      <dgm:spPr/>
    </dgm:pt>
    <dgm:pt modelId="{56482F50-9A46-48C9-81E4-E3EC090ABFA5}" type="pres">
      <dgm:prSet presAssocID="{CD4A2413-540B-4286-AB2D-D63CF35562A3}" presName="parTxOnlySpace" presStyleCnt="0"/>
      <dgm:spPr/>
    </dgm:pt>
    <dgm:pt modelId="{F94AB391-9A65-4644-B233-0929956BDA9E}" type="pres">
      <dgm:prSet presAssocID="{C0519AB0-0253-4E02-885D-B3F52856E27A}" presName="parTxOnly" presStyleLbl="node1" presStyleIdx="5" presStyleCnt="6">
        <dgm:presLayoutVars>
          <dgm:chMax val="0"/>
          <dgm:chPref val="0"/>
          <dgm:bulletEnabled val="1"/>
        </dgm:presLayoutVars>
      </dgm:prSet>
      <dgm:spPr/>
    </dgm:pt>
  </dgm:ptLst>
  <dgm:cxnLst>
    <dgm:cxn modelId="{754EF101-91E5-4F37-9FDA-2CD4132AECF7}" srcId="{5ED58E9B-2C23-44EA-A12C-CD57727C40E6}" destId="{EB64A9ED-419E-4099-BF13-633BD5D72EE5}" srcOrd="3" destOrd="0" parTransId="{BFC65606-5654-4FC7-BB4D-081DF7AE886B}" sibTransId="{0DEA8E82-2279-4CC0-9FE2-FB874BA85B91}"/>
    <dgm:cxn modelId="{A0854C20-D5CC-4393-A0FC-F005D3BDF63F}" srcId="{5ED58E9B-2C23-44EA-A12C-CD57727C40E6}" destId="{3DE69AB0-ABF9-4E2F-889B-3AF05B6203F9}" srcOrd="0" destOrd="0" parTransId="{722DD637-A2C5-4B89-B4DC-16A1ED94DE2E}" sibTransId="{2716CA95-93DC-467D-92EF-033882D3EB63}"/>
    <dgm:cxn modelId="{5FD92964-ABA1-4E1E-BBB8-F42C0A579457}" type="presOf" srcId="{FF0E6C26-4FAD-43E8-9F87-985EFA51A728}" destId="{BE3DCBBF-991F-4E0A-90A9-CF724ECAA3AC}" srcOrd="0" destOrd="0" presId="urn:microsoft.com/office/officeart/2005/8/layout/chevron1"/>
    <dgm:cxn modelId="{5F497A66-BF77-4FE7-BA57-D2D7BA20D388}" type="presOf" srcId="{3DE69AB0-ABF9-4E2F-889B-3AF05B6203F9}" destId="{5C10DD40-B6F5-450D-AC46-6580FCA054C8}" srcOrd="0" destOrd="0" presId="urn:microsoft.com/office/officeart/2005/8/layout/chevron1"/>
    <dgm:cxn modelId="{38E50648-2B4F-4538-AF25-DEC9A1DA9DBB}" srcId="{5ED58E9B-2C23-44EA-A12C-CD57727C40E6}" destId="{ED88CBC2-5420-4731-A1BD-1BC48287F4EC}" srcOrd="2" destOrd="0" parTransId="{37F25575-5F62-43E1-97AD-7B56462D967F}" sibTransId="{11F5DC67-A9F3-4384-9F26-BC1802C4A249}"/>
    <dgm:cxn modelId="{A5F4AF4D-1BE3-442D-B165-6777E48C8F26}" type="presOf" srcId="{5ED58E9B-2C23-44EA-A12C-CD57727C40E6}" destId="{FF36C389-5598-4A45-ADC3-ECD00C40CDF3}" srcOrd="0" destOrd="0" presId="urn:microsoft.com/office/officeart/2005/8/layout/chevron1"/>
    <dgm:cxn modelId="{03206B54-5E27-4A68-A4A7-749A23D9E8DD}" srcId="{5ED58E9B-2C23-44EA-A12C-CD57727C40E6}" destId="{EF4A0D74-D900-4A95-8865-48CA536DE4B6}" srcOrd="4" destOrd="0" parTransId="{347EF847-83A7-4B55-BC03-243ACF31C80C}" sibTransId="{CD4A2413-540B-4286-AB2D-D63CF35562A3}"/>
    <dgm:cxn modelId="{F0F40E76-D21B-45EF-B891-B901A18FA8DB}" type="presOf" srcId="{C0519AB0-0253-4E02-885D-B3F52856E27A}" destId="{F94AB391-9A65-4644-B233-0929956BDA9E}" srcOrd="0" destOrd="0" presId="urn:microsoft.com/office/officeart/2005/8/layout/chevron1"/>
    <dgm:cxn modelId="{D3395EA4-C847-448D-AC58-B4EB99968000}" type="presOf" srcId="{EB64A9ED-419E-4099-BF13-633BD5D72EE5}" destId="{ADF25CD0-3670-44AD-9BCC-2248E4373490}" srcOrd="0" destOrd="0" presId="urn:microsoft.com/office/officeart/2005/8/layout/chevron1"/>
    <dgm:cxn modelId="{C812CCB8-B97D-4EB1-B0A4-B9D2CB5AE5B0}" type="presOf" srcId="{ED88CBC2-5420-4731-A1BD-1BC48287F4EC}" destId="{AEF872D1-7B96-4231-8002-684D00ABCB59}" srcOrd="0" destOrd="0" presId="urn:microsoft.com/office/officeart/2005/8/layout/chevron1"/>
    <dgm:cxn modelId="{447EF2DE-9483-441F-BE95-FCA302926086}" srcId="{5ED58E9B-2C23-44EA-A12C-CD57727C40E6}" destId="{C0519AB0-0253-4E02-885D-B3F52856E27A}" srcOrd="5" destOrd="0" parTransId="{ED27BBDF-EF5F-4322-9D11-4012E53314D6}" sibTransId="{AE1157C9-BDF8-459B-A727-7B35BA81A261}"/>
    <dgm:cxn modelId="{88D1B9E0-C3E0-4D96-B375-95E7B7C3893E}" type="presOf" srcId="{EF4A0D74-D900-4A95-8865-48CA536DE4B6}" destId="{3CBB3B56-9A1E-49EB-BDE4-159EE04A4F37}" srcOrd="0" destOrd="0" presId="urn:microsoft.com/office/officeart/2005/8/layout/chevron1"/>
    <dgm:cxn modelId="{DA6874E9-0A55-4E3E-B654-2809ADA9B7F2}" srcId="{5ED58E9B-2C23-44EA-A12C-CD57727C40E6}" destId="{FF0E6C26-4FAD-43E8-9F87-985EFA51A728}" srcOrd="1" destOrd="0" parTransId="{38B77BD7-21DC-4824-BD5A-9B1F06D84C5B}" sibTransId="{31420707-0D3F-4FE6-B2CC-F662B6A7B049}"/>
    <dgm:cxn modelId="{9813E1F5-B4AD-4BFC-89AC-B919DD64971A}" type="presParOf" srcId="{FF36C389-5598-4A45-ADC3-ECD00C40CDF3}" destId="{5C10DD40-B6F5-450D-AC46-6580FCA054C8}" srcOrd="0" destOrd="0" presId="urn:microsoft.com/office/officeart/2005/8/layout/chevron1"/>
    <dgm:cxn modelId="{724F36A2-46BF-4FCD-89D1-F4A7A048AA4C}" type="presParOf" srcId="{FF36C389-5598-4A45-ADC3-ECD00C40CDF3}" destId="{53CC7FB0-51E7-42A2-AA7B-BE159F395C4C}" srcOrd="1" destOrd="0" presId="urn:microsoft.com/office/officeart/2005/8/layout/chevron1"/>
    <dgm:cxn modelId="{904B085D-2204-48D1-BEDA-6807738A0925}" type="presParOf" srcId="{FF36C389-5598-4A45-ADC3-ECD00C40CDF3}" destId="{BE3DCBBF-991F-4E0A-90A9-CF724ECAA3AC}" srcOrd="2" destOrd="0" presId="urn:microsoft.com/office/officeart/2005/8/layout/chevron1"/>
    <dgm:cxn modelId="{9B2D33C7-EF20-4EC6-B656-86BBC20E0032}" type="presParOf" srcId="{FF36C389-5598-4A45-ADC3-ECD00C40CDF3}" destId="{3C0E1D6F-980A-4C93-BCA3-F6D66DD9960B}" srcOrd="3" destOrd="0" presId="urn:microsoft.com/office/officeart/2005/8/layout/chevron1"/>
    <dgm:cxn modelId="{90E3950E-ED8D-4641-99BF-91A42E340445}" type="presParOf" srcId="{FF36C389-5598-4A45-ADC3-ECD00C40CDF3}" destId="{AEF872D1-7B96-4231-8002-684D00ABCB59}" srcOrd="4" destOrd="0" presId="urn:microsoft.com/office/officeart/2005/8/layout/chevron1"/>
    <dgm:cxn modelId="{5C935A31-59FD-4589-8EE9-81F28A4753E7}" type="presParOf" srcId="{FF36C389-5598-4A45-ADC3-ECD00C40CDF3}" destId="{119E5725-6180-4755-89D6-44BEDC696C3E}" srcOrd="5" destOrd="0" presId="urn:microsoft.com/office/officeart/2005/8/layout/chevron1"/>
    <dgm:cxn modelId="{4D41FC48-49A3-42C7-940C-E4F99B14EB32}" type="presParOf" srcId="{FF36C389-5598-4A45-ADC3-ECD00C40CDF3}" destId="{ADF25CD0-3670-44AD-9BCC-2248E4373490}" srcOrd="6" destOrd="0" presId="urn:microsoft.com/office/officeart/2005/8/layout/chevron1"/>
    <dgm:cxn modelId="{87A8CBB0-9B81-4913-BE57-E103C3606CDD}" type="presParOf" srcId="{FF36C389-5598-4A45-ADC3-ECD00C40CDF3}" destId="{CB143200-D1E1-4ADD-AAF8-4405F8A3C5D5}" srcOrd="7" destOrd="0" presId="urn:microsoft.com/office/officeart/2005/8/layout/chevron1"/>
    <dgm:cxn modelId="{0E6495FA-72DF-4C8C-90B2-CDAC5DA6A80F}" type="presParOf" srcId="{FF36C389-5598-4A45-ADC3-ECD00C40CDF3}" destId="{3CBB3B56-9A1E-49EB-BDE4-159EE04A4F37}" srcOrd="8" destOrd="0" presId="urn:microsoft.com/office/officeart/2005/8/layout/chevron1"/>
    <dgm:cxn modelId="{326C9232-5C19-447D-8973-686F4DC9E614}" type="presParOf" srcId="{FF36C389-5598-4A45-ADC3-ECD00C40CDF3}" destId="{56482F50-9A46-48C9-81E4-E3EC090ABFA5}" srcOrd="9" destOrd="0" presId="urn:microsoft.com/office/officeart/2005/8/layout/chevron1"/>
    <dgm:cxn modelId="{EEA6F04D-3FDF-4534-8AD9-0B8CBC7886CA}" type="presParOf" srcId="{FF36C389-5598-4A45-ADC3-ECD00C40CDF3}" destId="{F94AB391-9A65-4644-B233-0929956BDA9E}" srcOrd="10" destOrd="0" presId="urn:microsoft.com/office/officeart/2005/8/layout/chevron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503DA58C-93DB-4A17-ABF8-07E5DB7D271E}" type="doc">
      <dgm:prSet loTypeId="urn:microsoft.com/office/officeart/2005/8/layout/process2" loCatId="process" qsTypeId="urn:microsoft.com/office/officeart/2005/8/quickstyle/simple1" qsCatId="simple" csTypeId="urn:microsoft.com/office/officeart/2005/8/colors/accent2_2" csCatId="accent2" phldr="1"/>
      <dgm:spPr/>
    </dgm:pt>
    <dgm:pt modelId="{C69E7271-7BCD-4B1F-90CC-4DBC30A5067A}">
      <dgm:prSet phldrT="[Text]"/>
      <dgm:spPr/>
      <dgm:t>
        <a:bodyPr/>
        <a:lstStyle/>
        <a:p>
          <a:r>
            <a:rPr lang="en-US" dirty="0"/>
            <a:t>Technical Model</a:t>
          </a:r>
        </a:p>
      </dgm:t>
    </dgm:pt>
    <dgm:pt modelId="{55542890-98D0-44E4-B4D2-2DB5E1BC7483}" type="parTrans" cxnId="{1C4169B8-9E5C-41EF-A8E8-5F7B4C3E2FDB}">
      <dgm:prSet/>
      <dgm:spPr/>
      <dgm:t>
        <a:bodyPr/>
        <a:lstStyle/>
        <a:p>
          <a:endParaRPr lang="en-US"/>
        </a:p>
      </dgm:t>
    </dgm:pt>
    <dgm:pt modelId="{7659C510-CA68-4164-987F-17BFEE45D8E0}" type="sibTrans" cxnId="{1C4169B8-9E5C-41EF-A8E8-5F7B4C3E2FDB}">
      <dgm:prSet/>
      <dgm:spPr/>
      <dgm:t>
        <a:bodyPr/>
        <a:lstStyle/>
        <a:p>
          <a:endParaRPr lang="en-US"/>
        </a:p>
      </dgm:t>
    </dgm:pt>
    <dgm:pt modelId="{929BF1F3-E761-47A0-9462-AE760194E7BE}">
      <dgm:prSet phldrT="[Text]"/>
      <dgm:spPr/>
      <dgm:t>
        <a:bodyPr/>
        <a:lstStyle/>
        <a:p>
          <a:r>
            <a:rPr lang="en-US" dirty="0"/>
            <a:t>Economical Model</a:t>
          </a:r>
        </a:p>
      </dgm:t>
    </dgm:pt>
    <dgm:pt modelId="{4285A705-155E-4996-A862-1570CBC06FCF}" type="parTrans" cxnId="{B1C4323D-5204-4B44-8011-F0576785EA90}">
      <dgm:prSet/>
      <dgm:spPr/>
      <dgm:t>
        <a:bodyPr/>
        <a:lstStyle/>
        <a:p>
          <a:endParaRPr lang="en-US"/>
        </a:p>
      </dgm:t>
    </dgm:pt>
    <dgm:pt modelId="{0AAA2DAD-07A4-429C-B4ED-D2B17A476E12}" type="sibTrans" cxnId="{B1C4323D-5204-4B44-8011-F0576785EA90}">
      <dgm:prSet/>
      <dgm:spPr/>
      <dgm:t>
        <a:bodyPr/>
        <a:lstStyle/>
        <a:p>
          <a:endParaRPr lang="en-US"/>
        </a:p>
      </dgm:t>
    </dgm:pt>
    <dgm:pt modelId="{D56E62D1-B64F-4445-88D0-0E8B08C7DE37}" type="pres">
      <dgm:prSet presAssocID="{503DA58C-93DB-4A17-ABF8-07E5DB7D271E}" presName="linearFlow" presStyleCnt="0">
        <dgm:presLayoutVars>
          <dgm:resizeHandles val="exact"/>
        </dgm:presLayoutVars>
      </dgm:prSet>
      <dgm:spPr/>
    </dgm:pt>
    <dgm:pt modelId="{04BA0EE8-8829-4879-BCE5-4DA986FB7C28}" type="pres">
      <dgm:prSet presAssocID="{C69E7271-7BCD-4B1F-90CC-4DBC30A5067A}" presName="node" presStyleLbl="node1" presStyleIdx="0" presStyleCnt="2">
        <dgm:presLayoutVars>
          <dgm:bulletEnabled val="1"/>
        </dgm:presLayoutVars>
      </dgm:prSet>
      <dgm:spPr/>
    </dgm:pt>
    <dgm:pt modelId="{9A699B72-AC44-43AB-AE0F-C1564D3B8743}" type="pres">
      <dgm:prSet presAssocID="{7659C510-CA68-4164-987F-17BFEE45D8E0}" presName="sibTrans" presStyleLbl="sibTrans2D1" presStyleIdx="0" presStyleCnt="1"/>
      <dgm:spPr/>
    </dgm:pt>
    <dgm:pt modelId="{F8D5CB22-1F84-4F82-87FD-7612753319B4}" type="pres">
      <dgm:prSet presAssocID="{7659C510-CA68-4164-987F-17BFEE45D8E0}" presName="connectorText" presStyleLbl="sibTrans2D1" presStyleIdx="0" presStyleCnt="1"/>
      <dgm:spPr/>
    </dgm:pt>
    <dgm:pt modelId="{1C934D81-B98B-4E1E-8B40-0D7809610D11}" type="pres">
      <dgm:prSet presAssocID="{929BF1F3-E761-47A0-9462-AE760194E7BE}" presName="node" presStyleLbl="node1" presStyleIdx="1" presStyleCnt="2">
        <dgm:presLayoutVars>
          <dgm:bulletEnabled val="1"/>
        </dgm:presLayoutVars>
      </dgm:prSet>
      <dgm:spPr/>
    </dgm:pt>
  </dgm:ptLst>
  <dgm:cxnLst>
    <dgm:cxn modelId="{B1C4323D-5204-4B44-8011-F0576785EA90}" srcId="{503DA58C-93DB-4A17-ABF8-07E5DB7D271E}" destId="{929BF1F3-E761-47A0-9462-AE760194E7BE}" srcOrd="1" destOrd="0" parTransId="{4285A705-155E-4996-A862-1570CBC06FCF}" sibTransId="{0AAA2DAD-07A4-429C-B4ED-D2B17A476E12}"/>
    <dgm:cxn modelId="{F3BC5069-07E4-4B30-9868-EF006E689370}" type="presOf" srcId="{C69E7271-7BCD-4B1F-90CC-4DBC30A5067A}" destId="{04BA0EE8-8829-4879-BCE5-4DA986FB7C28}" srcOrd="0" destOrd="0" presId="urn:microsoft.com/office/officeart/2005/8/layout/process2"/>
    <dgm:cxn modelId="{8FF6A87C-F65B-408B-A837-AF149389636C}" type="presOf" srcId="{7659C510-CA68-4164-987F-17BFEE45D8E0}" destId="{F8D5CB22-1F84-4F82-87FD-7612753319B4}" srcOrd="1" destOrd="0" presId="urn:microsoft.com/office/officeart/2005/8/layout/process2"/>
    <dgm:cxn modelId="{2CA11D93-58A0-4832-8DE5-6F93448F35A2}" type="presOf" srcId="{503DA58C-93DB-4A17-ABF8-07E5DB7D271E}" destId="{D56E62D1-B64F-4445-88D0-0E8B08C7DE37}" srcOrd="0" destOrd="0" presId="urn:microsoft.com/office/officeart/2005/8/layout/process2"/>
    <dgm:cxn modelId="{76B3A7B6-1AAE-43CB-97E5-F4CD83A78BAD}" type="presOf" srcId="{929BF1F3-E761-47A0-9462-AE760194E7BE}" destId="{1C934D81-B98B-4E1E-8B40-0D7809610D11}" srcOrd="0" destOrd="0" presId="urn:microsoft.com/office/officeart/2005/8/layout/process2"/>
    <dgm:cxn modelId="{1C4169B8-9E5C-41EF-A8E8-5F7B4C3E2FDB}" srcId="{503DA58C-93DB-4A17-ABF8-07E5DB7D271E}" destId="{C69E7271-7BCD-4B1F-90CC-4DBC30A5067A}" srcOrd="0" destOrd="0" parTransId="{55542890-98D0-44E4-B4D2-2DB5E1BC7483}" sibTransId="{7659C510-CA68-4164-987F-17BFEE45D8E0}"/>
    <dgm:cxn modelId="{CE3C1BD6-C8B4-45A9-AA7D-08F3466D8714}" type="presOf" srcId="{7659C510-CA68-4164-987F-17BFEE45D8E0}" destId="{9A699B72-AC44-43AB-AE0F-C1564D3B8743}" srcOrd="0" destOrd="0" presId="urn:microsoft.com/office/officeart/2005/8/layout/process2"/>
    <dgm:cxn modelId="{E75285C4-AB49-4C44-B640-623133A3CD20}" type="presParOf" srcId="{D56E62D1-B64F-4445-88D0-0E8B08C7DE37}" destId="{04BA0EE8-8829-4879-BCE5-4DA986FB7C28}" srcOrd="0" destOrd="0" presId="urn:microsoft.com/office/officeart/2005/8/layout/process2"/>
    <dgm:cxn modelId="{380176D4-28AD-4381-946A-1D9BE12EB37A}" type="presParOf" srcId="{D56E62D1-B64F-4445-88D0-0E8B08C7DE37}" destId="{9A699B72-AC44-43AB-AE0F-C1564D3B8743}" srcOrd="1" destOrd="0" presId="urn:microsoft.com/office/officeart/2005/8/layout/process2"/>
    <dgm:cxn modelId="{B82B998C-F3F5-42C0-B3B7-10BA030CE61B}" type="presParOf" srcId="{9A699B72-AC44-43AB-AE0F-C1564D3B8743}" destId="{F8D5CB22-1F84-4F82-87FD-7612753319B4}" srcOrd="0" destOrd="0" presId="urn:microsoft.com/office/officeart/2005/8/layout/process2"/>
    <dgm:cxn modelId="{E592E745-CA76-4E2E-90F4-2159357D1B1B}" type="presParOf" srcId="{D56E62D1-B64F-4445-88D0-0E8B08C7DE37}" destId="{1C934D81-B98B-4E1E-8B40-0D7809610D11}" srcOrd="2" destOrd="0" presId="urn:microsoft.com/office/officeart/2005/8/layout/process2"/>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503DA58C-93DB-4A17-ABF8-07E5DB7D271E}" type="doc">
      <dgm:prSet loTypeId="urn:microsoft.com/office/officeart/2005/8/layout/process2" loCatId="process" qsTypeId="urn:microsoft.com/office/officeart/2005/8/quickstyle/simple1" qsCatId="simple" csTypeId="urn:microsoft.com/office/officeart/2005/8/colors/accent3_2" csCatId="accent3" phldr="1"/>
      <dgm:spPr/>
    </dgm:pt>
    <dgm:pt modelId="{C69E7271-7BCD-4B1F-90CC-4DBC30A5067A}">
      <dgm:prSet phldrT="[Text]"/>
      <dgm:spPr/>
      <dgm:t>
        <a:bodyPr/>
        <a:lstStyle/>
        <a:p>
          <a:r>
            <a:rPr lang="en-US" dirty="0"/>
            <a:t>Location Coordinate</a:t>
          </a:r>
        </a:p>
      </dgm:t>
    </dgm:pt>
    <dgm:pt modelId="{55542890-98D0-44E4-B4D2-2DB5E1BC7483}" type="parTrans" cxnId="{1C4169B8-9E5C-41EF-A8E8-5F7B4C3E2FDB}">
      <dgm:prSet/>
      <dgm:spPr/>
      <dgm:t>
        <a:bodyPr/>
        <a:lstStyle/>
        <a:p>
          <a:endParaRPr lang="en-US"/>
        </a:p>
      </dgm:t>
    </dgm:pt>
    <dgm:pt modelId="{7659C510-CA68-4164-987F-17BFEE45D8E0}" type="sibTrans" cxnId="{1C4169B8-9E5C-41EF-A8E8-5F7B4C3E2FDB}">
      <dgm:prSet/>
      <dgm:spPr/>
      <dgm:t>
        <a:bodyPr/>
        <a:lstStyle/>
        <a:p>
          <a:endParaRPr lang="en-US"/>
        </a:p>
      </dgm:t>
    </dgm:pt>
    <dgm:pt modelId="{929BF1F3-E761-47A0-9462-AE760194E7BE}">
      <dgm:prSet phldrT="[Text]"/>
      <dgm:spPr/>
      <dgm:t>
        <a:bodyPr/>
        <a:lstStyle/>
        <a:p>
          <a:r>
            <a:rPr lang="en-US" dirty="0"/>
            <a:t>Hourly Metrological Data</a:t>
          </a:r>
        </a:p>
      </dgm:t>
    </dgm:pt>
    <dgm:pt modelId="{4285A705-155E-4996-A862-1570CBC06FCF}" type="parTrans" cxnId="{B1C4323D-5204-4B44-8011-F0576785EA90}">
      <dgm:prSet/>
      <dgm:spPr/>
      <dgm:t>
        <a:bodyPr/>
        <a:lstStyle/>
        <a:p>
          <a:endParaRPr lang="en-US"/>
        </a:p>
      </dgm:t>
    </dgm:pt>
    <dgm:pt modelId="{0AAA2DAD-07A4-429C-B4ED-D2B17A476E12}" type="sibTrans" cxnId="{B1C4323D-5204-4B44-8011-F0576785EA90}">
      <dgm:prSet/>
      <dgm:spPr/>
      <dgm:t>
        <a:bodyPr/>
        <a:lstStyle/>
        <a:p>
          <a:endParaRPr lang="en-US"/>
        </a:p>
      </dgm:t>
    </dgm:pt>
    <dgm:pt modelId="{D56E62D1-B64F-4445-88D0-0E8B08C7DE37}" type="pres">
      <dgm:prSet presAssocID="{503DA58C-93DB-4A17-ABF8-07E5DB7D271E}" presName="linearFlow" presStyleCnt="0">
        <dgm:presLayoutVars>
          <dgm:resizeHandles val="exact"/>
        </dgm:presLayoutVars>
      </dgm:prSet>
      <dgm:spPr/>
    </dgm:pt>
    <dgm:pt modelId="{04BA0EE8-8829-4879-BCE5-4DA986FB7C28}" type="pres">
      <dgm:prSet presAssocID="{C69E7271-7BCD-4B1F-90CC-4DBC30A5067A}" presName="node" presStyleLbl="node1" presStyleIdx="0" presStyleCnt="2">
        <dgm:presLayoutVars>
          <dgm:bulletEnabled val="1"/>
        </dgm:presLayoutVars>
      </dgm:prSet>
      <dgm:spPr/>
    </dgm:pt>
    <dgm:pt modelId="{9A699B72-AC44-43AB-AE0F-C1564D3B8743}" type="pres">
      <dgm:prSet presAssocID="{7659C510-CA68-4164-987F-17BFEE45D8E0}" presName="sibTrans" presStyleLbl="sibTrans2D1" presStyleIdx="0" presStyleCnt="1"/>
      <dgm:spPr/>
    </dgm:pt>
    <dgm:pt modelId="{F8D5CB22-1F84-4F82-87FD-7612753319B4}" type="pres">
      <dgm:prSet presAssocID="{7659C510-CA68-4164-987F-17BFEE45D8E0}" presName="connectorText" presStyleLbl="sibTrans2D1" presStyleIdx="0" presStyleCnt="1"/>
      <dgm:spPr/>
    </dgm:pt>
    <dgm:pt modelId="{1C934D81-B98B-4E1E-8B40-0D7809610D11}" type="pres">
      <dgm:prSet presAssocID="{929BF1F3-E761-47A0-9462-AE760194E7BE}" presName="node" presStyleLbl="node1" presStyleIdx="1" presStyleCnt="2">
        <dgm:presLayoutVars>
          <dgm:bulletEnabled val="1"/>
        </dgm:presLayoutVars>
      </dgm:prSet>
      <dgm:spPr/>
    </dgm:pt>
  </dgm:ptLst>
  <dgm:cxnLst>
    <dgm:cxn modelId="{B1C4323D-5204-4B44-8011-F0576785EA90}" srcId="{503DA58C-93DB-4A17-ABF8-07E5DB7D271E}" destId="{929BF1F3-E761-47A0-9462-AE760194E7BE}" srcOrd="1" destOrd="0" parTransId="{4285A705-155E-4996-A862-1570CBC06FCF}" sibTransId="{0AAA2DAD-07A4-429C-B4ED-D2B17A476E12}"/>
    <dgm:cxn modelId="{F3BC5069-07E4-4B30-9868-EF006E689370}" type="presOf" srcId="{C69E7271-7BCD-4B1F-90CC-4DBC30A5067A}" destId="{04BA0EE8-8829-4879-BCE5-4DA986FB7C28}" srcOrd="0" destOrd="0" presId="urn:microsoft.com/office/officeart/2005/8/layout/process2"/>
    <dgm:cxn modelId="{8FF6A87C-F65B-408B-A837-AF149389636C}" type="presOf" srcId="{7659C510-CA68-4164-987F-17BFEE45D8E0}" destId="{F8D5CB22-1F84-4F82-87FD-7612753319B4}" srcOrd="1" destOrd="0" presId="urn:microsoft.com/office/officeart/2005/8/layout/process2"/>
    <dgm:cxn modelId="{2CA11D93-58A0-4832-8DE5-6F93448F35A2}" type="presOf" srcId="{503DA58C-93DB-4A17-ABF8-07E5DB7D271E}" destId="{D56E62D1-B64F-4445-88D0-0E8B08C7DE37}" srcOrd="0" destOrd="0" presId="urn:microsoft.com/office/officeart/2005/8/layout/process2"/>
    <dgm:cxn modelId="{76B3A7B6-1AAE-43CB-97E5-F4CD83A78BAD}" type="presOf" srcId="{929BF1F3-E761-47A0-9462-AE760194E7BE}" destId="{1C934D81-B98B-4E1E-8B40-0D7809610D11}" srcOrd="0" destOrd="0" presId="urn:microsoft.com/office/officeart/2005/8/layout/process2"/>
    <dgm:cxn modelId="{1C4169B8-9E5C-41EF-A8E8-5F7B4C3E2FDB}" srcId="{503DA58C-93DB-4A17-ABF8-07E5DB7D271E}" destId="{C69E7271-7BCD-4B1F-90CC-4DBC30A5067A}" srcOrd="0" destOrd="0" parTransId="{55542890-98D0-44E4-B4D2-2DB5E1BC7483}" sibTransId="{7659C510-CA68-4164-987F-17BFEE45D8E0}"/>
    <dgm:cxn modelId="{CE3C1BD6-C8B4-45A9-AA7D-08F3466D8714}" type="presOf" srcId="{7659C510-CA68-4164-987F-17BFEE45D8E0}" destId="{9A699B72-AC44-43AB-AE0F-C1564D3B8743}" srcOrd="0" destOrd="0" presId="urn:microsoft.com/office/officeart/2005/8/layout/process2"/>
    <dgm:cxn modelId="{E75285C4-AB49-4C44-B640-623133A3CD20}" type="presParOf" srcId="{D56E62D1-B64F-4445-88D0-0E8B08C7DE37}" destId="{04BA0EE8-8829-4879-BCE5-4DA986FB7C28}" srcOrd="0" destOrd="0" presId="urn:microsoft.com/office/officeart/2005/8/layout/process2"/>
    <dgm:cxn modelId="{380176D4-28AD-4381-946A-1D9BE12EB37A}" type="presParOf" srcId="{D56E62D1-B64F-4445-88D0-0E8B08C7DE37}" destId="{9A699B72-AC44-43AB-AE0F-C1564D3B8743}" srcOrd="1" destOrd="0" presId="urn:microsoft.com/office/officeart/2005/8/layout/process2"/>
    <dgm:cxn modelId="{B82B998C-F3F5-42C0-B3B7-10BA030CE61B}" type="presParOf" srcId="{9A699B72-AC44-43AB-AE0F-C1564D3B8743}" destId="{F8D5CB22-1F84-4F82-87FD-7612753319B4}" srcOrd="0" destOrd="0" presId="urn:microsoft.com/office/officeart/2005/8/layout/process2"/>
    <dgm:cxn modelId="{E592E745-CA76-4E2E-90F4-2159357D1B1B}" type="presParOf" srcId="{D56E62D1-B64F-4445-88D0-0E8B08C7DE37}" destId="{1C934D81-B98B-4E1E-8B40-0D7809610D11}" srcOrd="2" destOrd="0" presId="urn:microsoft.com/office/officeart/2005/8/layout/process2"/>
  </dgm:cxnLst>
  <dgm:bg/>
  <dgm:whole/>
  <dgm:extLst>
    <a:ext uri="http://schemas.microsoft.com/office/drawing/2008/diagram">
      <dsp:dataModelExt xmlns:dsp="http://schemas.microsoft.com/office/drawing/2008/diagram" relId="rId1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503DA58C-93DB-4A17-ABF8-07E5DB7D271E}" type="doc">
      <dgm:prSet loTypeId="urn:microsoft.com/office/officeart/2005/8/layout/process2" loCatId="process" qsTypeId="urn:microsoft.com/office/officeart/2005/8/quickstyle/simple1" qsCatId="simple" csTypeId="urn:microsoft.com/office/officeart/2005/8/colors/colorful4" csCatId="colorful" phldr="1"/>
      <dgm:spPr/>
    </dgm:pt>
    <dgm:pt modelId="{C69E7271-7BCD-4B1F-90CC-4DBC30A5067A}">
      <dgm:prSet phldrT="[Text]" custT="1"/>
      <dgm:spPr/>
      <dgm:t>
        <a:bodyPr/>
        <a:lstStyle/>
        <a:p>
          <a:r>
            <a:rPr lang="en-US" sz="1100" b="0" dirty="0"/>
            <a:t>Initialize Wolf</a:t>
          </a:r>
        </a:p>
      </dgm:t>
    </dgm:pt>
    <dgm:pt modelId="{55542890-98D0-44E4-B4D2-2DB5E1BC7483}" type="parTrans" cxnId="{1C4169B8-9E5C-41EF-A8E8-5F7B4C3E2FDB}">
      <dgm:prSet/>
      <dgm:spPr/>
      <dgm:t>
        <a:bodyPr/>
        <a:lstStyle/>
        <a:p>
          <a:endParaRPr lang="en-US"/>
        </a:p>
      </dgm:t>
    </dgm:pt>
    <dgm:pt modelId="{7659C510-CA68-4164-987F-17BFEE45D8E0}" type="sibTrans" cxnId="{1C4169B8-9E5C-41EF-A8E8-5F7B4C3E2FDB}">
      <dgm:prSet/>
      <dgm:spPr/>
      <dgm:t>
        <a:bodyPr/>
        <a:lstStyle/>
        <a:p>
          <a:endParaRPr lang="en-US"/>
        </a:p>
      </dgm:t>
    </dgm:pt>
    <dgm:pt modelId="{929BF1F3-E761-47A0-9462-AE760194E7BE}">
      <dgm:prSet phldrT="[Text]" custT="1"/>
      <dgm:spPr/>
      <dgm:t>
        <a:bodyPr/>
        <a:lstStyle/>
        <a:p>
          <a:r>
            <a:rPr lang="en-US" sz="1100" dirty="0"/>
            <a:t>Evaluate Fitness</a:t>
          </a:r>
        </a:p>
      </dgm:t>
    </dgm:pt>
    <dgm:pt modelId="{4285A705-155E-4996-A862-1570CBC06FCF}" type="parTrans" cxnId="{B1C4323D-5204-4B44-8011-F0576785EA90}">
      <dgm:prSet/>
      <dgm:spPr/>
      <dgm:t>
        <a:bodyPr/>
        <a:lstStyle/>
        <a:p>
          <a:endParaRPr lang="en-US"/>
        </a:p>
      </dgm:t>
    </dgm:pt>
    <dgm:pt modelId="{0AAA2DAD-07A4-429C-B4ED-D2B17A476E12}" type="sibTrans" cxnId="{B1C4323D-5204-4B44-8011-F0576785EA90}">
      <dgm:prSet/>
      <dgm:spPr/>
      <dgm:t>
        <a:bodyPr/>
        <a:lstStyle/>
        <a:p>
          <a:endParaRPr lang="en-US"/>
        </a:p>
      </dgm:t>
    </dgm:pt>
    <dgm:pt modelId="{881F5644-48A7-409E-905E-094432D6CEB2}">
      <dgm:prSet phldrT="[Text]" custT="1"/>
      <dgm:spPr/>
      <dgm:t>
        <a:bodyPr/>
        <a:lstStyle/>
        <a:p>
          <a:r>
            <a:rPr lang="en-US" sz="1100" dirty="0"/>
            <a:t>Assign and update </a:t>
          </a:r>
          <a:r>
            <a:rPr lang="el-GR" sz="1100" dirty="0">
              <a:latin typeface="Calibri" panose="020F0502020204030204" pitchFamily="34" charset="0"/>
              <a:cs typeface="Calibri" panose="020F0502020204030204" pitchFamily="34" charset="0"/>
            </a:rPr>
            <a:t>α</a:t>
          </a:r>
          <a:r>
            <a:rPr lang="en-US" sz="1100" dirty="0">
              <a:latin typeface="Calibri" panose="020F0502020204030204" pitchFamily="34" charset="0"/>
              <a:cs typeface="Calibri" panose="020F0502020204030204" pitchFamily="34" charset="0"/>
            </a:rPr>
            <a:t>, </a:t>
          </a:r>
          <a:r>
            <a:rPr lang="el-GR" sz="1100" dirty="0">
              <a:latin typeface="Calibri" panose="020F0502020204030204" pitchFamily="34" charset="0"/>
              <a:cs typeface="Calibri" panose="020F0502020204030204" pitchFamily="34" charset="0"/>
            </a:rPr>
            <a:t>β</a:t>
          </a:r>
          <a:r>
            <a:rPr lang="en-US" sz="1100" dirty="0">
              <a:latin typeface="Calibri" panose="020F0502020204030204" pitchFamily="34" charset="0"/>
              <a:cs typeface="Calibri" panose="020F0502020204030204" pitchFamily="34" charset="0"/>
            </a:rPr>
            <a:t>, and </a:t>
          </a:r>
          <a:r>
            <a:rPr lang="el-GR" sz="1100" dirty="0">
              <a:latin typeface="Calibri" panose="020F0502020204030204" pitchFamily="34" charset="0"/>
              <a:cs typeface="Calibri" panose="020F0502020204030204" pitchFamily="34" charset="0"/>
            </a:rPr>
            <a:t>δ</a:t>
          </a:r>
          <a:r>
            <a:rPr lang="en-US" sz="1100" dirty="0">
              <a:latin typeface="Calibri" panose="020F0502020204030204" pitchFamily="34" charset="0"/>
              <a:cs typeface="Calibri" panose="020F0502020204030204" pitchFamily="34" charset="0"/>
            </a:rPr>
            <a:t> </a:t>
          </a:r>
          <a:endParaRPr lang="en-US" sz="1100" dirty="0"/>
        </a:p>
      </dgm:t>
    </dgm:pt>
    <dgm:pt modelId="{5CDCEB6E-900F-453F-8D7C-AD7A1D7ADEC6}" type="parTrans" cxnId="{30214AE3-092A-449A-9672-88318A6E5801}">
      <dgm:prSet/>
      <dgm:spPr/>
      <dgm:t>
        <a:bodyPr/>
        <a:lstStyle/>
        <a:p>
          <a:endParaRPr lang="en-US"/>
        </a:p>
      </dgm:t>
    </dgm:pt>
    <dgm:pt modelId="{FD9BC43A-990C-4D0F-BFEF-E449A86519C4}" type="sibTrans" cxnId="{30214AE3-092A-449A-9672-88318A6E5801}">
      <dgm:prSet/>
      <dgm:spPr/>
      <dgm:t>
        <a:bodyPr/>
        <a:lstStyle/>
        <a:p>
          <a:endParaRPr lang="en-US"/>
        </a:p>
      </dgm:t>
    </dgm:pt>
    <dgm:pt modelId="{BBFD60EB-9FB7-4960-AEBC-0A8CD00F0604}">
      <dgm:prSet phldrT="[Text]" custT="1"/>
      <dgm:spPr/>
      <dgm:t>
        <a:bodyPr/>
        <a:lstStyle/>
        <a:p>
          <a:r>
            <a:rPr lang="en-US" sz="1100" dirty="0"/>
            <a:t>Run till Termination critera met</a:t>
          </a:r>
        </a:p>
      </dgm:t>
    </dgm:pt>
    <dgm:pt modelId="{813EC472-B121-48B2-956F-7E5890ED8B47}" type="parTrans" cxnId="{34061B72-FECA-49C6-96D6-D33EBF7B2ABA}">
      <dgm:prSet/>
      <dgm:spPr/>
      <dgm:t>
        <a:bodyPr/>
        <a:lstStyle/>
        <a:p>
          <a:endParaRPr lang="en-US"/>
        </a:p>
      </dgm:t>
    </dgm:pt>
    <dgm:pt modelId="{6D024E53-0230-45B5-A799-5954B4757FC4}" type="sibTrans" cxnId="{34061B72-FECA-49C6-96D6-D33EBF7B2ABA}">
      <dgm:prSet/>
      <dgm:spPr/>
      <dgm:t>
        <a:bodyPr/>
        <a:lstStyle/>
        <a:p>
          <a:endParaRPr lang="en-US"/>
        </a:p>
      </dgm:t>
    </dgm:pt>
    <dgm:pt modelId="{D56E62D1-B64F-4445-88D0-0E8B08C7DE37}" type="pres">
      <dgm:prSet presAssocID="{503DA58C-93DB-4A17-ABF8-07E5DB7D271E}" presName="linearFlow" presStyleCnt="0">
        <dgm:presLayoutVars>
          <dgm:resizeHandles val="exact"/>
        </dgm:presLayoutVars>
      </dgm:prSet>
      <dgm:spPr/>
    </dgm:pt>
    <dgm:pt modelId="{04BA0EE8-8829-4879-BCE5-4DA986FB7C28}" type="pres">
      <dgm:prSet presAssocID="{C69E7271-7BCD-4B1F-90CC-4DBC30A5067A}" presName="node" presStyleLbl="node1" presStyleIdx="0" presStyleCnt="4">
        <dgm:presLayoutVars>
          <dgm:bulletEnabled val="1"/>
        </dgm:presLayoutVars>
      </dgm:prSet>
      <dgm:spPr/>
    </dgm:pt>
    <dgm:pt modelId="{9A699B72-AC44-43AB-AE0F-C1564D3B8743}" type="pres">
      <dgm:prSet presAssocID="{7659C510-CA68-4164-987F-17BFEE45D8E0}" presName="sibTrans" presStyleLbl="sibTrans2D1" presStyleIdx="0" presStyleCnt="3"/>
      <dgm:spPr/>
    </dgm:pt>
    <dgm:pt modelId="{F8D5CB22-1F84-4F82-87FD-7612753319B4}" type="pres">
      <dgm:prSet presAssocID="{7659C510-CA68-4164-987F-17BFEE45D8E0}" presName="connectorText" presStyleLbl="sibTrans2D1" presStyleIdx="0" presStyleCnt="3"/>
      <dgm:spPr/>
    </dgm:pt>
    <dgm:pt modelId="{1C934D81-B98B-4E1E-8B40-0D7809610D11}" type="pres">
      <dgm:prSet presAssocID="{929BF1F3-E761-47A0-9462-AE760194E7BE}" presName="node" presStyleLbl="node1" presStyleIdx="1" presStyleCnt="4">
        <dgm:presLayoutVars>
          <dgm:bulletEnabled val="1"/>
        </dgm:presLayoutVars>
      </dgm:prSet>
      <dgm:spPr/>
    </dgm:pt>
    <dgm:pt modelId="{A3C0E16E-E981-49C4-8A2C-58EB3035650C}" type="pres">
      <dgm:prSet presAssocID="{0AAA2DAD-07A4-429C-B4ED-D2B17A476E12}" presName="sibTrans" presStyleLbl="sibTrans2D1" presStyleIdx="1" presStyleCnt="3"/>
      <dgm:spPr/>
    </dgm:pt>
    <dgm:pt modelId="{A38546BF-55FB-4490-BEE2-ADBFBE01F12F}" type="pres">
      <dgm:prSet presAssocID="{0AAA2DAD-07A4-429C-B4ED-D2B17A476E12}" presName="connectorText" presStyleLbl="sibTrans2D1" presStyleIdx="1" presStyleCnt="3"/>
      <dgm:spPr/>
    </dgm:pt>
    <dgm:pt modelId="{7C2C3295-6D55-4C1E-A5D5-636358221EB5}" type="pres">
      <dgm:prSet presAssocID="{881F5644-48A7-409E-905E-094432D6CEB2}" presName="node" presStyleLbl="node1" presStyleIdx="2" presStyleCnt="4">
        <dgm:presLayoutVars>
          <dgm:bulletEnabled val="1"/>
        </dgm:presLayoutVars>
      </dgm:prSet>
      <dgm:spPr/>
    </dgm:pt>
    <dgm:pt modelId="{FF5B3946-17E9-44C5-8462-4269ABE306FD}" type="pres">
      <dgm:prSet presAssocID="{FD9BC43A-990C-4D0F-BFEF-E449A86519C4}" presName="sibTrans" presStyleLbl="sibTrans2D1" presStyleIdx="2" presStyleCnt="3"/>
      <dgm:spPr/>
    </dgm:pt>
    <dgm:pt modelId="{1793CA9C-03BC-4157-848D-7CD382C8ECFD}" type="pres">
      <dgm:prSet presAssocID="{FD9BC43A-990C-4D0F-BFEF-E449A86519C4}" presName="connectorText" presStyleLbl="sibTrans2D1" presStyleIdx="2" presStyleCnt="3"/>
      <dgm:spPr/>
    </dgm:pt>
    <dgm:pt modelId="{61B4A04B-0F70-4E53-8439-CE42D035336C}" type="pres">
      <dgm:prSet presAssocID="{BBFD60EB-9FB7-4960-AEBC-0A8CD00F0604}" presName="node" presStyleLbl="node1" presStyleIdx="3" presStyleCnt="4" custScaleY="100000">
        <dgm:presLayoutVars>
          <dgm:bulletEnabled val="1"/>
        </dgm:presLayoutVars>
      </dgm:prSet>
      <dgm:spPr/>
    </dgm:pt>
  </dgm:ptLst>
  <dgm:cxnLst>
    <dgm:cxn modelId="{B1C4323D-5204-4B44-8011-F0576785EA90}" srcId="{503DA58C-93DB-4A17-ABF8-07E5DB7D271E}" destId="{929BF1F3-E761-47A0-9462-AE760194E7BE}" srcOrd="1" destOrd="0" parTransId="{4285A705-155E-4996-A862-1570CBC06FCF}" sibTransId="{0AAA2DAD-07A4-429C-B4ED-D2B17A476E12}"/>
    <dgm:cxn modelId="{EC6A0945-F8DA-4A4E-873A-93425C0947B6}" type="presOf" srcId="{FD9BC43A-990C-4D0F-BFEF-E449A86519C4}" destId="{FF5B3946-17E9-44C5-8462-4269ABE306FD}" srcOrd="0" destOrd="0" presId="urn:microsoft.com/office/officeart/2005/8/layout/process2"/>
    <dgm:cxn modelId="{F3BC5069-07E4-4B30-9868-EF006E689370}" type="presOf" srcId="{C69E7271-7BCD-4B1F-90CC-4DBC30A5067A}" destId="{04BA0EE8-8829-4879-BCE5-4DA986FB7C28}" srcOrd="0" destOrd="0" presId="urn:microsoft.com/office/officeart/2005/8/layout/process2"/>
    <dgm:cxn modelId="{FB99426F-E689-4403-8055-81C278B4EA7A}" type="presOf" srcId="{0AAA2DAD-07A4-429C-B4ED-D2B17A476E12}" destId="{A38546BF-55FB-4490-BEE2-ADBFBE01F12F}" srcOrd="1" destOrd="0" presId="urn:microsoft.com/office/officeart/2005/8/layout/process2"/>
    <dgm:cxn modelId="{34061B72-FECA-49C6-96D6-D33EBF7B2ABA}" srcId="{503DA58C-93DB-4A17-ABF8-07E5DB7D271E}" destId="{BBFD60EB-9FB7-4960-AEBC-0A8CD00F0604}" srcOrd="3" destOrd="0" parTransId="{813EC472-B121-48B2-956F-7E5890ED8B47}" sibTransId="{6D024E53-0230-45B5-A799-5954B4757FC4}"/>
    <dgm:cxn modelId="{8FF6A87C-F65B-408B-A837-AF149389636C}" type="presOf" srcId="{7659C510-CA68-4164-987F-17BFEE45D8E0}" destId="{F8D5CB22-1F84-4F82-87FD-7612753319B4}" srcOrd="1" destOrd="0" presId="urn:microsoft.com/office/officeart/2005/8/layout/process2"/>
    <dgm:cxn modelId="{2CA11D93-58A0-4832-8DE5-6F93448F35A2}" type="presOf" srcId="{503DA58C-93DB-4A17-ABF8-07E5DB7D271E}" destId="{D56E62D1-B64F-4445-88D0-0E8B08C7DE37}" srcOrd="0" destOrd="0" presId="urn:microsoft.com/office/officeart/2005/8/layout/process2"/>
    <dgm:cxn modelId="{A016699B-FD1F-4BA9-81C0-4F5D4F1D5FA8}" type="presOf" srcId="{0AAA2DAD-07A4-429C-B4ED-D2B17A476E12}" destId="{A3C0E16E-E981-49C4-8A2C-58EB3035650C}" srcOrd="0" destOrd="0" presId="urn:microsoft.com/office/officeart/2005/8/layout/process2"/>
    <dgm:cxn modelId="{76B3A7B6-1AAE-43CB-97E5-F4CD83A78BAD}" type="presOf" srcId="{929BF1F3-E761-47A0-9462-AE760194E7BE}" destId="{1C934D81-B98B-4E1E-8B40-0D7809610D11}" srcOrd="0" destOrd="0" presId="urn:microsoft.com/office/officeart/2005/8/layout/process2"/>
    <dgm:cxn modelId="{1C4169B8-9E5C-41EF-A8E8-5F7B4C3E2FDB}" srcId="{503DA58C-93DB-4A17-ABF8-07E5DB7D271E}" destId="{C69E7271-7BCD-4B1F-90CC-4DBC30A5067A}" srcOrd="0" destOrd="0" parTransId="{55542890-98D0-44E4-B4D2-2DB5E1BC7483}" sibTransId="{7659C510-CA68-4164-987F-17BFEE45D8E0}"/>
    <dgm:cxn modelId="{D62753C5-4E96-47F8-B758-54AE4DE6A8B0}" type="presOf" srcId="{FD9BC43A-990C-4D0F-BFEF-E449A86519C4}" destId="{1793CA9C-03BC-4157-848D-7CD382C8ECFD}" srcOrd="1" destOrd="0" presId="urn:microsoft.com/office/officeart/2005/8/layout/process2"/>
    <dgm:cxn modelId="{BED046D2-FF82-4C9F-86A3-05DDD0C22995}" type="presOf" srcId="{BBFD60EB-9FB7-4960-AEBC-0A8CD00F0604}" destId="{61B4A04B-0F70-4E53-8439-CE42D035336C}" srcOrd="0" destOrd="0" presId="urn:microsoft.com/office/officeart/2005/8/layout/process2"/>
    <dgm:cxn modelId="{CE3C1BD6-C8B4-45A9-AA7D-08F3466D8714}" type="presOf" srcId="{7659C510-CA68-4164-987F-17BFEE45D8E0}" destId="{9A699B72-AC44-43AB-AE0F-C1564D3B8743}" srcOrd="0" destOrd="0" presId="urn:microsoft.com/office/officeart/2005/8/layout/process2"/>
    <dgm:cxn modelId="{30214AE3-092A-449A-9672-88318A6E5801}" srcId="{503DA58C-93DB-4A17-ABF8-07E5DB7D271E}" destId="{881F5644-48A7-409E-905E-094432D6CEB2}" srcOrd="2" destOrd="0" parTransId="{5CDCEB6E-900F-453F-8D7C-AD7A1D7ADEC6}" sibTransId="{FD9BC43A-990C-4D0F-BFEF-E449A86519C4}"/>
    <dgm:cxn modelId="{9EB91BED-4520-4A5B-9CC9-AA45900F7ABE}" type="presOf" srcId="{881F5644-48A7-409E-905E-094432D6CEB2}" destId="{7C2C3295-6D55-4C1E-A5D5-636358221EB5}" srcOrd="0" destOrd="0" presId="urn:microsoft.com/office/officeart/2005/8/layout/process2"/>
    <dgm:cxn modelId="{E75285C4-AB49-4C44-B640-623133A3CD20}" type="presParOf" srcId="{D56E62D1-B64F-4445-88D0-0E8B08C7DE37}" destId="{04BA0EE8-8829-4879-BCE5-4DA986FB7C28}" srcOrd="0" destOrd="0" presId="urn:microsoft.com/office/officeart/2005/8/layout/process2"/>
    <dgm:cxn modelId="{380176D4-28AD-4381-946A-1D9BE12EB37A}" type="presParOf" srcId="{D56E62D1-B64F-4445-88D0-0E8B08C7DE37}" destId="{9A699B72-AC44-43AB-AE0F-C1564D3B8743}" srcOrd="1" destOrd="0" presId="urn:microsoft.com/office/officeart/2005/8/layout/process2"/>
    <dgm:cxn modelId="{B82B998C-F3F5-42C0-B3B7-10BA030CE61B}" type="presParOf" srcId="{9A699B72-AC44-43AB-AE0F-C1564D3B8743}" destId="{F8D5CB22-1F84-4F82-87FD-7612753319B4}" srcOrd="0" destOrd="0" presId="urn:microsoft.com/office/officeart/2005/8/layout/process2"/>
    <dgm:cxn modelId="{E592E745-CA76-4E2E-90F4-2159357D1B1B}" type="presParOf" srcId="{D56E62D1-B64F-4445-88D0-0E8B08C7DE37}" destId="{1C934D81-B98B-4E1E-8B40-0D7809610D11}" srcOrd="2" destOrd="0" presId="urn:microsoft.com/office/officeart/2005/8/layout/process2"/>
    <dgm:cxn modelId="{3B7DC66E-7998-4C39-84D3-1C17480B7FD8}" type="presParOf" srcId="{D56E62D1-B64F-4445-88D0-0E8B08C7DE37}" destId="{A3C0E16E-E981-49C4-8A2C-58EB3035650C}" srcOrd="3" destOrd="0" presId="urn:microsoft.com/office/officeart/2005/8/layout/process2"/>
    <dgm:cxn modelId="{32376927-C9F3-4323-9BBE-C5DE79C7B930}" type="presParOf" srcId="{A3C0E16E-E981-49C4-8A2C-58EB3035650C}" destId="{A38546BF-55FB-4490-BEE2-ADBFBE01F12F}" srcOrd="0" destOrd="0" presId="urn:microsoft.com/office/officeart/2005/8/layout/process2"/>
    <dgm:cxn modelId="{F5C490DD-F4F9-4BF2-BB14-4D255F3FE800}" type="presParOf" srcId="{D56E62D1-B64F-4445-88D0-0E8B08C7DE37}" destId="{7C2C3295-6D55-4C1E-A5D5-636358221EB5}" srcOrd="4" destOrd="0" presId="urn:microsoft.com/office/officeart/2005/8/layout/process2"/>
    <dgm:cxn modelId="{3F3D2412-32C8-496E-B039-37CC94856B08}" type="presParOf" srcId="{D56E62D1-B64F-4445-88D0-0E8B08C7DE37}" destId="{FF5B3946-17E9-44C5-8462-4269ABE306FD}" srcOrd="5" destOrd="0" presId="urn:microsoft.com/office/officeart/2005/8/layout/process2"/>
    <dgm:cxn modelId="{8267512E-29A6-4984-A4D7-172E0F69BFB9}" type="presParOf" srcId="{FF5B3946-17E9-44C5-8462-4269ABE306FD}" destId="{1793CA9C-03BC-4157-848D-7CD382C8ECFD}" srcOrd="0" destOrd="0" presId="urn:microsoft.com/office/officeart/2005/8/layout/process2"/>
    <dgm:cxn modelId="{ABD96B6C-734D-4969-A44A-9A09CECA46DE}" type="presParOf" srcId="{D56E62D1-B64F-4445-88D0-0E8B08C7DE37}" destId="{61B4A04B-0F70-4E53-8439-CE42D035336C}" srcOrd="6" destOrd="0" presId="urn:microsoft.com/office/officeart/2005/8/layout/process2"/>
  </dgm:cxnLst>
  <dgm:bg/>
  <dgm:whole/>
  <dgm:extLst>
    <a:ext uri="http://schemas.microsoft.com/office/drawing/2008/diagram">
      <dsp:dataModelExt xmlns:dsp="http://schemas.microsoft.com/office/drawing/2008/diagram" relId="rId21"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503DA58C-93DB-4A17-ABF8-07E5DB7D271E}" type="doc">
      <dgm:prSet loTypeId="urn:microsoft.com/office/officeart/2005/8/layout/process2" loCatId="process" qsTypeId="urn:microsoft.com/office/officeart/2005/8/quickstyle/simple1" qsCatId="simple" csTypeId="urn:microsoft.com/office/officeart/2005/8/colors/accent5_2" csCatId="accent5" phldr="1"/>
      <dgm:spPr/>
    </dgm:pt>
    <dgm:pt modelId="{C69E7271-7BCD-4B1F-90CC-4DBC30A5067A}">
      <dgm:prSet phldrT="[Text]"/>
      <dgm:spPr/>
      <dgm:t>
        <a:bodyPr/>
        <a:lstStyle/>
        <a:p>
          <a:r>
            <a:rPr lang="en-US" u="none" dirty="0"/>
            <a:t>Investment cost, Maintenance cost, Repacement cost</a:t>
          </a:r>
        </a:p>
      </dgm:t>
    </dgm:pt>
    <dgm:pt modelId="{55542890-98D0-44E4-B4D2-2DB5E1BC7483}" type="parTrans" cxnId="{1C4169B8-9E5C-41EF-A8E8-5F7B4C3E2FDB}">
      <dgm:prSet/>
      <dgm:spPr/>
      <dgm:t>
        <a:bodyPr/>
        <a:lstStyle/>
        <a:p>
          <a:endParaRPr lang="en-US"/>
        </a:p>
      </dgm:t>
    </dgm:pt>
    <dgm:pt modelId="{7659C510-CA68-4164-987F-17BFEE45D8E0}" type="sibTrans" cxnId="{1C4169B8-9E5C-41EF-A8E8-5F7B4C3E2FDB}">
      <dgm:prSet/>
      <dgm:spPr/>
      <dgm:t>
        <a:bodyPr/>
        <a:lstStyle/>
        <a:p>
          <a:endParaRPr lang="en-US"/>
        </a:p>
      </dgm:t>
    </dgm:pt>
    <dgm:pt modelId="{7ED22D18-E597-4A9A-B016-4311D06DC95B}">
      <dgm:prSet phldrT="[Text]"/>
      <dgm:spPr/>
      <dgm:t>
        <a:bodyPr/>
        <a:lstStyle/>
        <a:p>
          <a:r>
            <a:rPr lang="en-US" dirty="0"/>
            <a:t>NPC and CRF</a:t>
          </a:r>
        </a:p>
      </dgm:t>
    </dgm:pt>
    <dgm:pt modelId="{82254A51-3FA5-4B57-A6E4-409E4457CDAA}" type="parTrans" cxnId="{811E7119-BC01-4E77-B532-143D7A8C3418}">
      <dgm:prSet/>
      <dgm:spPr/>
      <dgm:t>
        <a:bodyPr/>
        <a:lstStyle/>
        <a:p>
          <a:endParaRPr lang="en-US"/>
        </a:p>
      </dgm:t>
    </dgm:pt>
    <dgm:pt modelId="{C160EC47-6BDE-46F0-B81D-223D3573CA09}" type="sibTrans" cxnId="{811E7119-BC01-4E77-B532-143D7A8C3418}">
      <dgm:prSet/>
      <dgm:spPr/>
      <dgm:t>
        <a:bodyPr/>
        <a:lstStyle/>
        <a:p>
          <a:endParaRPr lang="en-US"/>
        </a:p>
      </dgm:t>
    </dgm:pt>
    <dgm:pt modelId="{CE5980D8-B2DD-4470-9D03-986C8A48BA0B}">
      <dgm:prSet phldrT="[Text]"/>
      <dgm:spPr/>
      <dgm:t>
        <a:bodyPr/>
        <a:lstStyle/>
        <a:p>
          <a:r>
            <a:rPr lang="en-US" dirty="0"/>
            <a:t>Calculate LCoE</a:t>
          </a:r>
        </a:p>
      </dgm:t>
    </dgm:pt>
    <dgm:pt modelId="{B069A2B5-056A-4D1F-A54A-949B0B7A052F}" type="parTrans" cxnId="{379EE22D-F1EE-4A37-98B5-69773FD61289}">
      <dgm:prSet/>
      <dgm:spPr/>
      <dgm:t>
        <a:bodyPr/>
        <a:lstStyle/>
        <a:p>
          <a:endParaRPr lang="en-US"/>
        </a:p>
      </dgm:t>
    </dgm:pt>
    <dgm:pt modelId="{74F025F6-383A-4687-B1B9-EAC915C250A5}" type="sibTrans" cxnId="{379EE22D-F1EE-4A37-98B5-69773FD61289}">
      <dgm:prSet/>
      <dgm:spPr/>
      <dgm:t>
        <a:bodyPr/>
        <a:lstStyle/>
        <a:p>
          <a:endParaRPr lang="en-US"/>
        </a:p>
      </dgm:t>
    </dgm:pt>
    <dgm:pt modelId="{D56E62D1-B64F-4445-88D0-0E8B08C7DE37}" type="pres">
      <dgm:prSet presAssocID="{503DA58C-93DB-4A17-ABF8-07E5DB7D271E}" presName="linearFlow" presStyleCnt="0">
        <dgm:presLayoutVars>
          <dgm:resizeHandles val="exact"/>
        </dgm:presLayoutVars>
      </dgm:prSet>
      <dgm:spPr/>
    </dgm:pt>
    <dgm:pt modelId="{04BA0EE8-8829-4879-BCE5-4DA986FB7C28}" type="pres">
      <dgm:prSet presAssocID="{C69E7271-7BCD-4B1F-90CC-4DBC30A5067A}" presName="node" presStyleLbl="node1" presStyleIdx="0" presStyleCnt="3">
        <dgm:presLayoutVars>
          <dgm:bulletEnabled val="1"/>
        </dgm:presLayoutVars>
      </dgm:prSet>
      <dgm:spPr/>
    </dgm:pt>
    <dgm:pt modelId="{9A699B72-AC44-43AB-AE0F-C1564D3B8743}" type="pres">
      <dgm:prSet presAssocID="{7659C510-CA68-4164-987F-17BFEE45D8E0}" presName="sibTrans" presStyleLbl="sibTrans2D1" presStyleIdx="0" presStyleCnt="2"/>
      <dgm:spPr/>
    </dgm:pt>
    <dgm:pt modelId="{F8D5CB22-1F84-4F82-87FD-7612753319B4}" type="pres">
      <dgm:prSet presAssocID="{7659C510-CA68-4164-987F-17BFEE45D8E0}" presName="connectorText" presStyleLbl="sibTrans2D1" presStyleIdx="0" presStyleCnt="2"/>
      <dgm:spPr/>
    </dgm:pt>
    <dgm:pt modelId="{46CC520C-90B1-43C0-A8E8-5E1F1D13935B}" type="pres">
      <dgm:prSet presAssocID="{7ED22D18-E597-4A9A-B016-4311D06DC95B}" presName="node" presStyleLbl="node1" presStyleIdx="1" presStyleCnt="3">
        <dgm:presLayoutVars>
          <dgm:bulletEnabled val="1"/>
        </dgm:presLayoutVars>
      </dgm:prSet>
      <dgm:spPr/>
    </dgm:pt>
    <dgm:pt modelId="{A12A92CD-DCD0-42C4-8020-BE7DA166F5EF}" type="pres">
      <dgm:prSet presAssocID="{C160EC47-6BDE-46F0-B81D-223D3573CA09}" presName="sibTrans" presStyleLbl="sibTrans2D1" presStyleIdx="1" presStyleCnt="2"/>
      <dgm:spPr/>
    </dgm:pt>
    <dgm:pt modelId="{CEAA4AE2-A1C4-481B-AB07-DF4619655423}" type="pres">
      <dgm:prSet presAssocID="{C160EC47-6BDE-46F0-B81D-223D3573CA09}" presName="connectorText" presStyleLbl="sibTrans2D1" presStyleIdx="1" presStyleCnt="2"/>
      <dgm:spPr/>
    </dgm:pt>
    <dgm:pt modelId="{5937225B-DAF1-400A-B212-180AAFB78B19}" type="pres">
      <dgm:prSet presAssocID="{CE5980D8-B2DD-4470-9D03-986C8A48BA0B}" presName="node" presStyleLbl="node1" presStyleIdx="2" presStyleCnt="3">
        <dgm:presLayoutVars>
          <dgm:bulletEnabled val="1"/>
        </dgm:presLayoutVars>
      </dgm:prSet>
      <dgm:spPr/>
    </dgm:pt>
  </dgm:ptLst>
  <dgm:cxnLst>
    <dgm:cxn modelId="{811E7119-BC01-4E77-B532-143D7A8C3418}" srcId="{503DA58C-93DB-4A17-ABF8-07E5DB7D271E}" destId="{7ED22D18-E597-4A9A-B016-4311D06DC95B}" srcOrd="1" destOrd="0" parTransId="{82254A51-3FA5-4B57-A6E4-409E4457CDAA}" sibTransId="{C160EC47-6BDE-46F0-B81D-223D3573CA09}"/>
    <dgm:cxn modelId="{379EE22D-F1EE-4A37-98B5-69773FD61289}" srcId="{503DA58C-93DB-4A17-ABF8-07E5DB7D271E}" destId="{CE5980D8-B2DD-4470-9D03-986C8A48BA0B}" srcOrd="2" destOrd="0" parTransId="{B069A2B5-056A-4D1F-A54A-949B0B7A052F}" sibTransId="{74F025F6-383A-4687-B1B9-EAC915C250A5}"/>
    <dgm:cxn modelId="{F3BC5069-07E4-4B30-9868-EF006E689370}" type="presOf" srcId="{C69E7271-7BCD-4B1F-90CC-4DBC30A5067A}" destId="{04BA0EE8-8829-4879-BCE5-4DA986FB7C28}" srcOrd="0" destOrd="0" presId="urn:microsoft.com/office/officeart/2005/8/layout/process2"/>
    <dgm:cxn modelId="{8FF6A87C-F65B-408B-A837-AF149389636C}" type="presOf" srcId="{7659C510-CA68-4164-987F-17BFEE45D8E0}" destId="{F8D5CB22-1F84-4F82-87FD-7612753319B4}" srcOrd="1" destOrd="0" presId="urn:microsoft.com/office/officeart/2005/8/layout/process2"/>
    <dgm:cxn modelId="{2CA11D93-58A0-4832-8DE5-6F93448F35A2}" type="presOf" srcId="{503DA58C-93DB-4A17-ABF8-07E5DB7D271E}" destId="{D56E62D1-B64F-4445-88D0-0E8B08C7DE37}" srcOrd="0" destOrd="0" presId="urn:microsoft.com/office/officeart/2005/8/layout/process2"/>
    <dgm:cxn modelId="{958B1594-0ACC-4EA6-B88A-EAE5E61E229F}" type="presOf" srcId="{C160EC47-6BDE-46F0-B81D-223D3573CA09}" destId="{CEAA4AE2-A1C4-481B-AB07-DF4619655423}" srcOrd="1" destOrd="0" presId="urn:microsoft.com/office/officeart/2005/8/layout/process2"/>
    <dgm:cxn modelId="{1C4169B8-9E5C-41EF-A8E8-5F7B4C3E2FDB}" srcId="{503DA58C-93DB-4A17-ABF8-07E5DB7D271E}" destId="{C69E7271-7BCD-4B1F-90CC-4DBC30A5067A}" srcOrd="0" destOrd="0" parTransId="{55542890-98D0-44E4-B4D2-2DB5E1BC7483}" sibTransId="{7659C510-CA68-4164-987F-17BFEE45D8E0}"/>
    <dgm:cxn modelId="{CE3C1BD6-C8B4-45A9-AA7D-08F3466D8714}" type="presOf" srcId="{7659C510-CA68-4164-987F-17BFEE45D8E0}" destId="{9A699B72-AC44-43AB-AE0F-C1564D3B8743}" srcOrd="0" destOrd="0" presId="urn:microsoft.com/office/officeart/2005/8/layout/process2"/>
    <dgm:cxn modelId="{B9B1C4E1-6332-4E35-BDB2-78CDC3A38EE1}" type="presOf" srcId="{CE5980D8-B2DD-4470-9D03-986C8A48BA0B}" destId="{5937225B-DAF1-400A-B212-180AAFB78B19}" srcOrd="0" destOrd="0" presId="urn:microsoft.com/office/officeart/2005/8/layout/process2"/>
    <dgm:cxn modelId="{12581FE9-DF0F-4DAE-AE63-BDFCD8B5AF4C}" type="presOf" srcId="{7ED22D18-E597-4A9A-B016-4311D06DC95B}" destId="{46CC520C-90B1-43C0-A8E8-5E1F1D13935B}" srcOrd="0" destOrd="0" presId="urn:microsoft.com/office/officeart/2005/8/layout/process2"/>
    <dgm:cxn modelId="{429006FC-D75F-4873-8BAA-4C50A3F2CFAC}" type="presOf" srcId="{C160EC47-6BDE-46F0-B81D-223D3573CA09}" destId="{A12A92CD-DCD0-42C4-8020-BE7DA166F5EF}" srcOrd="0" destOrd="0" presId="urn:microsoft.com/office/officeart/2005/8/layout/process2"/>
    <dgm:cxn modelId="{E75285C4-AB49-4C44-B640-623133A3CD20}" type="presParOf" srcId="{D56E62D1-B64F-4445-88D0-0E8B08C7DE37}" destId="{04BA0EE8-8829-4879-BCE5-4DA986FB7C28}" srcOrd="0" destOrd="0" presId="urn:microsoft.com/office/officeart/2005/8/layout/process2"/>
    <dgm:cxn modelId="{380176D4-28AD-4381-946A-1D9BE12EB37A}" type="presParOf" srcId="{D56E62D1-B64F-4445-88D0-0E8B08C7DE37}" destId="{9A699B72-AC44-43AB-AE0F-C1564D3B8743}" srcOrd="1" destOrd="0" presId="urn:microsoft.com/office/officeart/2005/8/layout/process2"/>
    <dgm:cxn modelId="{B82B998C-F3F5-42C0-B3B7-10BA030CE61B}" type="presParOf" srcId="{9A699B72-AC44-43AB-AE0F-C1564D3B8743}" destId="{F8D5CB22-1F84-4F82-87FD-7612753319B4}" srcOrd="0" destOrd="0" presId="urn:microsoft.com/office/officeart/2005/8/layout/process2"/>
    <dgm:cxn modelId="{AC256407-CCF1-4CE7-8E8B-DC59C755FE1E}" type="presParOf" srcId="{D56E62D1-B64F-4445-88D0-0E8B08C7DE37}" destId="{46CC520C-90B1-43C0-A8E8-5E1F1D13935B}" srcOrd="2" destOrd="0" presId="urn:microsoft.com/office/officeart/2005/8/layout/process2"/>
    <dgm:cxn modelId="{554BC11E-EC82-41CA-A8E8-03477C4FB4DA}" type="presParOf" srcId="{D56E62D1-B64F-4445-88D0-0E8B08C7DE37}" destId="{A12A92CD-DCD0-42C4-8020-BE7DA166F5EF}" srcOrd="3" destOrd="0" presId="urn:microsoft.com/office/officeart/2005/8/layout/process2"/>
    <dgm:cxn modelId="{D96E7AF1-1E06-4504-AE1D-70ED87783D9D}" type="presParOf" srcId="{A12A92CD-DCD0-42C4-8020-BE7DA166F5EF}" destId="{CEAA4AE2-A1C4-481B-AB07-DF4619655423}" srcOrd="0" destOrd="0" presId="urn:microsoft.com/office/officeart/2005/8/layout/process2"/>
    <dgm:cxn modelId="{B724F23E-974A-48E2-83FA-375D3E4EA261}" type="presParOf" srcId="{D56E62D1-B64F-4445-88D0-0E8B08C7DE37}" destId="{5937225B-DAF1-400A-B212-180AAFB78B19}" srcOrd="4" destOrd="0" presId="urn:microsoft.com/office/officeart/2005/8/layout/process2"/>
  </dgm:cxnLst>
  <dgm:bg/>
  <dgm:whole/>
  <dgm:extLst>
    <a:ext uri="http://schemas.microsoft.com/office/drawing/2008/diagram">
      <dsp:dataModelExt xmlns:dsp="http://schemas.microsoft.com/office/drawing/2008/diagram" relId="rId2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503DA58C-93DB-4A17-ABF8-07E5DB7D271E}" type="doc">
      <dgm:prSet loTypeId="urn:microsoft.com/office/officeart/2005/8/layout/process2" loCatId="process" qsTypeId="urn:microsoft.com/office/officeart/2005/8/quickstyle/simple1" qsCatId="simple" csTypeId="urn:microsoft.com/office/officeart/2005/8/colors/accent6_2" csCatId="accent6" phldr="1"/>
      <dgm:spPr/>
    </dgm:pt>
    <dgm:pt modelId="{C69E7271-7BCD-4B1F-90CC-4DBC30A5067A}">
      <dgm:prSet phldrT="[Text]"/>
      <dgm:spPr/>
      <dgm:t>
        <a:bodyPr/>
        <a:lstStyle/>
        <a:p>
          <a:r>
            <a:rPr lang="en-US" dirty="0"/>
            <a:t>Annual hourly generation &amp; consumption</a:t>
          </a:r>
        </a:p>
      </dgm:t>
    </dgm:pt>
    <dgm:pt modelId="{55542890-98D0-44E4-B4D2-2DB5E1BC7483}" type="parTrans" cxnId="{1C4169B8-9E5C-41EF-A8E8-5F7B4C3E2FDB}">
      <dgm:prSet/>
      <dgm:spPr/>
      <dgm:t>
        <a:bodyPr/>
        <a:lstStyle/>
        <a:p>
          <a:endParaRPr lang="en-US"/>
        </a:p>
      </dgm:t>
    </dgm:pt>
    <dgm:pt modelId="{7659C510-CA68-4164-987F-17BFEE45D8E0}" type="sibTrans" cxnId="{1C4169B8-9E5C-41EF-A8E8-5F7B4C3E2FDB}">
      <dgm:prSet/>
      <dgm:spPr/>
      <dgm:t>
        <a:bodyPr/>
        <a:lstStyle/>
        <a:p>
          <a:endParaRPr lang="en-US"/>
        </a:p>
      </dgm:t>
    </dgm:pt>
    <dgm:pt modelId="{929BF1F3-E761-47A0-9462-AE760194E7BE}">
      <dgm:prSet phldrT="[Text]"/>
      <dgm:spPr/>
      <dgm:t>
        <a:bodyPr/>
        <a:lstStyle/>
        <a:p>
          <a:r>
            <a:rPr lang="en-US" dirty="0"/>
            <a:t>1000 iteration cycle on GWO operation</a:t>
          </a:r>
        </a:p>
      </dgm:t>
    </dgm:pt>
    <dgm:pt modelId="{4285A705-155E-4996-A862-1570CBC06FCF}" type="parTrans" cxnId="{B1C4323D-5204-4B44-8011-F0576785EA90}">
      <dgm:prSet/>
      <dgm:spPr/>
      <dgm:t>
        <a:bodyPr/>
        <a:lstStyle/>
        <a:p>
          <a:endParaRPr lang="en-US"/>
        </a:p>
      </dgm:t>
    </dgm:pt>
    <dgm:pt modelId="{0AAA2DAD-07A4-429C-B4ED-D2B17A476E12}" type="sibTrans" cxnId="{B1C4323D-5204-4B44-8011-F0576785EA90}">
      <dgm:prSet/>
      <dgm:spPr/>
      <dgm:t>
        <a:bodyPr/>
        <a:lstStyle/>
        <a:p>
          <a:endParaRPr lang="en-US"/>
        </a:p>
      </dgm:t>
    </dgm:pt>
    <dgm:pt modelId="{D56E62D1-B64F-4445-88D0-0E8B08C7DE37}" type="pres">
      <dgm:prSet presAssocID="{503DA58C-93DB-4A17-ABF8-07E5DB7D271E}" presName="linearFlow" presStyleCnt="0">
        <dgm:presLayoutVars>
          <dgm:resizeHandles val="exact"/>
        </dgm:presLayoutVars>
      </dgm:prSet>
      <dgm:spPr/>
    </dgm:pt>
    <dgm:pt modelId="{04BA0EE8-8829-4879-BCE5-4DA986FB7C28}" type="pres">
      <dgm:prSet presAssocID="{C69E7271-7BCD-4B1F-90CC-4DBC30A5067A}" presName="node" presStyleLbl="node1" presStyleIdx="0" presStyleCnt="2">
        <dgm:presLayoutVars>
          <dgm:bulletEnabled val="1"/>
        </dgm:presLayoutVars>
      </dgm:prSet>
      <dgm:spPr/>
    </dgm:pt>
    <dgm:pt modelId="{9A699B72-AC44-43AB-AE0F-C1564D3B8743}" type="pres">
      <dgm:prSet presAssocID="{7659C510-CA68-4164-987F-17BFEE45D8E0}" presName="sibTrans" presStyleLbl="sibTrans2D1" presStyleIdx="0" presStyleCnt="1"/>
      <dgm:spPr/>
    </dgm:pt>
    <dgm:pt modelId="{F8D5CB22-1F84-4F82-87FD-7612753319B4}" type="pres">
      <dgm:prSet presAssocID="{7659C510-CA68-4164-987F-17BFEE45D8E0}" presName="connectorText" presStyleLbl="sibTrans2D1" presStyleIdx="0" presStyleCnt="1"/>
      <dgm:spPr/>
    </dgm:pt>
    <dgm:pt modelId="{1C934D81-B98B-4E1E-8B40-0D7809610D11}" type="pres">
      <dgm:prSet presAssocID="{929BF1F3-E761-47A0-9462-AE760194E7BE}" presName="node" presStyleLbl="node1" presStyleIdx="1" presStyleCnt="2">
        <dgm:presLayoutVars>
          <dgm:bulletEnabled val="1"/>
        </dgm:presLayoutVars>
      </dgm:prSet>
      <dgm:spPr/>
    </dgm:pt>
  </dgm:ptLst>
  <dgm:cxnLst>
    <dgm:cxn modelId="{B1C4323D-5204-4B44-8011-F0576785EA90}" srcId="{503DA58C-93DB-4A17-ABF8-07E5DB7D271E}" destId="{929BF1F3-E761-47A0-9462-AE760194E7BE}" srcOrd="1" destOrd="0" parTransId="{4285A705-155E-4996-A862-1570CBC06FCF}" sibTransId="{0AAA2DAD-07A4-429C-B4ED-D2B17A476E12}"/>
    <dgm:cxn modelId="{F3BC5069-07E4-4B30-9868-EF006E689370}" type="presOf" srcId="{C69E7271-7BCD-4B1F-90CC-4DBC30A5067A}" destId="{04BA0EE8-8829-4879-BCE5-4DA986FB7C28}" srcOrd="0" destOrd="0" presId="urn:microsoft.com/office/officeart/2005/8/layout/process2"/>
    <dgm:cxn modelId="{8FF6A87C-F65B-408B-A837-AF149389636C}" type="presOf" srcId="{7659C510-CA68-4164-987F-17BFEE45D8E0}" destId="{F8D5CB22-1F84-4F82-87FD-7612753319B4}" srcOrd="1" destOrd="0" presId="urn:microsoft.com/office/officeart/2005/8/layout/process2"/>
    <dgm:cxn modelId="{2CA11D93-58A0-4832-8DE5-6F93448F35A2}" type="presOf" srcId="{503DA58C-93DB-4A17-ABF8-07E5DB7D271E}" destId="{D56E62D1-B64F-4445-88D0-0E8B08C7DE37}" srcOrd="0" destOrd="0" presId="urn:microsoft.com/office/officeart/2005/8/layout/process2"/>
    <dgm:cxn modelId="{76B3A7B6-1AAE-43CB-97E5-F4CD83A78BAD}" type="presOf" srcId="{929BF1F3-E761-47A0-9462-AE760194E7BE}" destId="{1C934D81-B98B-4E1E-8B40-0D7809610D11}" srcOrd="0" destOrd="0" presId="urn:microsoft.com/office/officeart/2005/8/layout/process2"/>
    <dgm:cxn modelId="{1C4169B8-9E5C-41EF-A8E8-5F7B4C3E2FDB}" srcId="{503DA58C-93DB-4A17-ABF8-07E5DB7D271E}" destId="{C69E7271-7BCD-4B1F-90CC-4DBC30A5067A}" srcOrd="0" destOrd="0" parTransId="{55542890-98D0-44E4-B4D2-2DB5E1BC7483}" sibTransId="{7659C510-CA68-4164-987F-17BFEE45D8E0}"/>
    <dgm:cxn modelId="{CE3C1BD6-C8B4-45A9-AA7D-08F3466D8714}" type="presOf" srcId="{7659C510-CA68-4164-987F-17BFEE45D8E0}" destId="{9A699B72-AC44-43AB-AE0F-C1564D3B8743}" srcOrd="0" destOrd="0" presId="urn:microsoft.com/office/officeart/2005/8/layout/process2"/>
    <dgm:cxn modelId="{E75285C4-AB49-4C44-B640-623133A3CD20}" type="presParOf" srcId="{D56E62D1-B64F-4445-88D0-0E8B08C7DE37}" destId="{04BA0EE8-8829-4879-BCE5-4DA986FB7C28}" srcOrd="0" destOrd="0" presId="urn:microsoft.com/office/officeart/2005/8/layout/process2"/>
    <dgm:cxn modelId="{380176D4-28AD-4381-946A-1D9BE12EB37A}" type="presParOf" srcId="{D56E62D1-B64F-4445-88D0-0E8B08C7DE37}" destId="{9A699B72-AC44-43AB-AE0F-C1564D3B8743}" srcOrd="1" destOrd="0" presId="urn:microsoft.com/office/officeart/2005/8/layout/process2"/>
    <dgm:cxn modelId="{B82B998C-F3F5-42C0-B3B7-10BA030CE61B}" type="presParOf" srcId="{9A699B72-AC44-43AB-AE0F-C1564D3B8743}" destId="{F8D5CB22-1F84-4F82-87FD-7612753319B4}" srcOrd="0" destOrd="0" presId="urn:microsoft.com/office/officeart/2005/8/layout/process2"/>
    <dgm:cxn modelId="{E592E745-CA76-4E2E-90F4-2159357D1B1B}" type="presParOf" srcId="{D56E62D1-B64F-4445-88D0-0E8B08C7DE37}" destId="{1C934D81-B98B-4E1E-8B40-0D7809610D11}" srcOrd="2" destOrd="0" presId="urn:microsoft.com/office/officeart/2005/8/layout/process2"/>
  </dgm:cxnLst>
  <dgm:bg/>
  <dgm:whole/>
  <dgm:extLst>
    <a:ext uri="http://schemas.microsoft.com/office/drawing/2008/diagram">
      <dsp:dataModelExt xmlns:dsp="http://schemas.microsoft.com/office/drawing/2008/diagram" relId="rId31"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C10DD40-B6F5-450D-AC46-6580FCA054C8}">
      <dsp:nvSpPr>
        <dsp:cNvPr id="0" name=""/>
        <dsp:cNvSpPr/>
      </dsp:nvSpPr>
      <dsp:spPr>
        <a:xfrm>
          <a:off x="4055" y="881835"/>
          <a:ext cx="1508670" cy="603468"/>
        </a:xfrm>
        <a:prstGeom prst="chevron">
          <a:avLst/>
        </a:prstGeom>
        <a:solidFill>
          <a:schemeClr val="accent2">
            <a:hueOff val="0"/>
            <a:satOff val="0"/>
            <a:lumOff val="0"/>
            <a:alphaOff val="0"/>
          </a:schemeClr>
        </a:solidFill>
        <a:ln w="2642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0005" tIns="13335" rIns="13335" bIns="13335" numCol="1" spcCol="1270" anchor="ctr" anchorCtr="0">
          <a:noAutofit/>
        </a:bodyPr>
        <a:lstStyle/>
        <a:p>
          <a:pPr marL="0" lvl="0" indent="0" algn="ctr" defTabSz="444500">
            <a:lnSpc>
              <a:spcPct val="90000"/>
            </a:lnSpc>
            <a:spcBef>
              <a:spcPct val="0"/>
            </a:spcBef>
            <a:spcAft>
              <a:spcPct val="35000"/>
            </a:spcAft>
            <a:buNone/>
          </a:pPr>
          <a:r>
            <a:rPr lang="en-US" sz="1000" b="1" kern="1200" dirty="0"/>
            <a:t>Design Model</a:t>
          </a:r>
        </a:p>
      </dsp:txBody>
      <dsp:txXfrm>
        <a:off x="305789" y="881835"/>
        <a:ext cx="905202" cy="603468"/>
      </dsp:txXfrm>
    </dsp:sp>
    <dsp:sp modelId="{BE3DCBBF-991F-4E0A-90A9-CF724ECAA3AC}">
      <dsp:nvSpPr>
        <dsp:cNvPr id="0" name=""/>
        <dsp:cNvSpPr/>
      </dsp:nvSpPr>
      <dsp:spPr>
        <a:xfrm>
          <a:off x="1361859" y="881835"/>
          <a:ext cx="1508670" cy="603468"/>
        </a:xfrm>
        <a:prstGeom prst="chevron">
          <a:avLst/>
        </a:prstGeom>
        <a:solidFill>
          <a:schemeClr val="accent3">
            <a:hueOff val="0"/>
            <a:satOff val="0"/>
            <a:lumOff val="0"/>
            <a:alphaOff val="0"/>
          </a:schemeClr>
        </a:solidFill>
        <a:ln w="2642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0005" tIns="13335" rIns="13335" bIns="13335" numCol="1" spcCol="1270" anchor="ctr" anchorCtr="0">
          <a:noAutofit/>
        </a:bodyPr>
        <a:lstStyle/>
        <a:p>
          <a:pPr marL="0" lvl="0" indent="0" algn="ctr" defTabSz="444500">
            <a:lnSpc>
              <a:spcPct val="90000"/>
            </a:lnSpc>
            <a:spcBef>
              <a:spcPct val="0"/>
            </a:spcBef>
            <a:spcAft>
              <a:spcPct val="35000"/>
            </a:spcAft>
            <a:buNone/>
          </a:pPr>
          <a:r>
            <a:rPr lang="en-US" sz="1000" b="1" kern="1200" dirty="0"/>
            <a:t>Project Specification</a:t>
          </a:r>
        </a:p>
      </dsp:txBody>
      <dsp:txXfrm>
        <a:off x="1663593" y="881835"/>
        <a:ext cx="905202" cy="603468"/>
      </dsp:txXfrm>
    </dsp:sp>
    <dsp:sp modelId="{AEF872D1-7B96-4231-8002-684D00ABCB59}">
      <dsp:nvSpPr>
        <dsp:cNvPr id="0" name=""/>
        <dsp:cNvSpPr/>
      </dsp:nvSpPr>
      <dsp:spPr>
        <a:xfrm>
          <a:off x="2719662" y="881835"/>
          <a:ext cx="1508670" cy="603468"/>
        </a:xfrm>
        <a:prstGeom prst="chevron">
          <a:avLst/>
        </a:prstGeom>
        <a:solidFill>
          <a:schemeClr val="accent4">
            <a:hueOff val="0"/>
            <a:satOff val="0"/>
            <a:lumOff val="0"/>
            <a:alphaOff val="0"/>
          </a:schemeClr>
        </a:solidFill>
        <a:ln w="2642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0005" tIns="13335" rIns="13335" bIns="13335" numCol="1" spcCol="1270" anchor="ctr" anchorCtr="0">
          <a:noAutofit/>
        </a:bodyPr>
        <a:lstStyle/>
        <a:p>
          <a:pPr marL="0" lvl="0" indent="0" algn="ctr" defTabSz="444500">
            <a:lnSpc>
              <a:spcPct val="90000"/>
            </a:lnSpc>
            <a:spcBef>
              <a:spcPct val="0"/>
            </a:spcBef>
            <a:spcAft>
              <a:spcPct val="35000"/>
            </a:spcAft>
            <a:buNone/>
          </a:pPr>
          <a:r>
            <a:rPr lang="en-US" sz="1000" b="1" kern="1200" dirty="0"/>
            <a:t>GWO Algorithm</a:t>
          </a:r>
        </a:p>
      </dsp:txBody>
      <dsp:txXfrm>
        <a:off x="3021396" y="881835"/>
        <a:ext cx="905202" cy="603468"/>
      </dsp:txXfrm>
    </dsp:sp>
    <dsp:sp modelId="{ADF25CD0-3670-44AD-9BCC-2248E4373490}">
      <dsp:nvSpPr>
        <dsp:cNvPr id="0" name=""/>
        <dsp:cNvSpPr/>
      </dsp:nvSpPr>
      <dsp:spPr>
        <a:xfrm>
          <a:off x="4077466" y="881835"/>
          <a:ext cx="1508670" cy="603468"/>
        </a:xfrm>
        <a:prstGeom prst="chevron">
          <a:avLst/>
        </a:prstGeom>
        <a:solidFill>
          <a:schemeClr val="accent5">
            <a:hueOff val="0"/>
            <a:satOff val="0"/>
            <a:lumOff val="0"/>
            <a:alphaOff val="0"/>
          </a:schemeClr>
        </a:solidFill>
        <a:ln w="2642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0005" tIns="13335" rIns="13335" bIns="13335" numCol="1" spcCol="1270" anchor="ctr" anchorCtr="0">
          <a:noAutofit/>
        </a:bodyPr>
        <a:lstStyle/>
        <a:p>
          <a:pPr marL="0" lvl="0" indent="0" algn="ctr" defTabSz="444500">
            <a:lnSpc>
              <a:spcPct val="90000"/>
            </a:lnSpc>
            <a:spcBef>
              <a:spcPct val="0"/>
            </a:spcBef>
            <a:spcAft>
              <a:spcPct val="35000"/>
            </a:spcAft>
            <a:buNone/>
          </a:pPr>
          <a:r>
            <a:rPr lang="en-US" sz="1000" b="1" kern="1200" dirty="0"/>
            <a:t>Economic Analysis</a:t>
          </a:r>
        </a:p>
      </dsp:txBody>
      <dsp:txXfrm>
        <a:off x="4379200" y="881835"/>
        <a:ext cx="905202" cy="603468"/>
      </dsp:txXfrm>
    </dsp:sp>
    <dsp:sp modelId="{3CBB3B56-9A1E-49EB-BDE4-159EE04A4F37}">
      <dsp:nvSpPr>
        <dsp:cNvPr id="0" name=""/>
        <dsp:cNvSpPr/>
      </dsp:nvSpPr>
      <dsp:spPr>
        <a:xfrm>
          <a:off x="5435270" y="881835"/>
          <a:ext cx="1508670" cy="603468"/>
        </a:xfrm>
        <a:prstGeom prst="chevron">
          <a:avLst/>
        </a:prstGeom>
        <a:solidFill>
          <a:schemeClr val="accent6">
            <a:hueOff val="0"/>
            <a:satOff val="0"/>
            <a:lumOff val="0"/>
            <a:alphaOff val="0"/>
          </a:schemeClr>
        </a:solidFill>
        <a:ln w="2642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0005" tIns="13335" rIns="13335" bIns="13335" numCol="1" spcCol="1270" anchor="ctr" anchorCtr="0">
          <a:noAutofit/>
        </a:bodyPr>
        <a:lstStyle/>
        <a:p>
          <a:pPr marL="0" lvl="0" indent="0" algn="ctr" defTabSz="444500">
            <a:lnSpc>
              <a:spcPct val="90000"/>
            </a:lnSpc>
            <a:spcBef>
              <a:spcPct val="0"/>
            </a:spcBef>
            <a:spcAft>
              <a:spcPct val="35000"/>
            </a:spcAft>
            <a:buNone/>
          </a:pPr>
          <a:r>
            <a:rPr lang="en-US" sz="1000" b="1" kern="1200" dirty="0"/>
            <a:t>Simulation</a:t>
          </a:r>
        </a:p>
      </dsp:txBody>
      <dsp:txXfrm>
        <a:off x="5737004" y="881835"/>
        <a:ext cx="905202" cy="603468"/>
      </dsp:txXfrm>
    </dsp:sp>
    <dsp:sp modelId="{F94AB391-9A65-4644-B233-0929956BDA9E}">
      <dsp:nvSpPr>
        <dsp:cNvPr id="0" name=""/>
        <dsp:cNvSpPr/>
      </dsp:nvSpPr>
      <dsp:spPr>
        <a:xfrm>
          <a:off x="6793073" y="881835"/>
          <a:ext cx="1508670" cy="603468"/>
        </a:xfrm>
        <a:prstGeom prst="chevron">
          <a:avLst/>
        </a:prstGeom>
        <a:solidFill>
          <a:schemeClr val="accent2">
            <a:hueOff val="0"/>
            <a:satOff val="0"/>
            <a:lumOff val="0"/>
            <a:alphaOff val="0"/>
          </a:schemeClr>
        </a:solidFill>
        <a:ln w="2642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0005" tIns="13335" rIns="13335" bIns="13335" numCol="1" spcCol="1270" anchor="ctr" anchorCtr="0">
          <a:noAutofit/>
        </a:bodyPr>
        <a:lstStyle/>
        <a:p>
          <a:pPr marL="0" lvl="0" indent="0" algn="ctr" defTabSz="444500">
            <a:lnSpc>
              <a:spcPct val="90000"/>
            </a:lnSpc>
            <a:spcBef>
              <a:spcPct val="0"/>
            </a:spcBef>
            <a:spcAft>
              <a:spcPct val="35000"/>
            </a:spcAft>
            <a:buNone/>
          </a:pPr>
          <a:r>
            <a:rPr lang="en-US" sz="1000" b="1" kern="1200" dirty="0"/>
            <a:t>Result</a:t>
          </a:r>
        </a:p>
      </dsp:txBody>
      <dsp:txXfrm>
        <a:off x="7094807" y="881835"/>
        <a:ext cx="905202" cy="60346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4BA0EE8-8829-4879-BCE5-4DA986FB7C28}">
      <dsp:nvSpPr>
        <dsp:cNvPr id="0" name=""/>
        <dsp:cNvSpPr/>
      </dsp:nvSpPr>
      <dsp:spPr>
        <a:xfrm>
          <a:off x="0" y="159"/>
          <a:ext cx="863600" cy="523913"/>
        </a:xfrm>
        <a:prstGeom prst="roundRect">
          <a:avLst>
            <a:gd name="adj" fmla="val 10000"/>
          </a:avLst>
        </a:prstGeom>
        <a:solidFill>
          <a:schemeClr val="accent2">
            <a:hueOff val="0"/>
            <a:satOff val="0"/>
            <a:lumOff val="0"/>
            <a:alphaOff val="0"/>
          </a:schemeClr>
        </a:solidFill>
        <a:ln w="2642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US" sz="1100" kern="1200" dirty="0"/>
            <a:t>Technical Model</a:t>
          </a:r>
        </a:p>
      </dsp:txBody>
      <dsp:txXfrm>
        <a:off x="15345" y="15504"/>
        <a:ext cx="832910" cy="493223"/>
      </dsp:txXfrm>
    </dsp:sp>
    <dsp:sp modelId="{9A699B72-AC44-43AB-AE0F-C1564D3B8743}">
      <dsp:nvSpPr>
        <dsp:cNvPr id="0" name=""/>
        <dsp:cNvSpPr/>
      </dsp:nvSpPr>
      <dsp:spPr>
        <a:xfrm rot="5400000">
          <a:off x="333566" y="537171"/>
          <a:ext cx="196467" cy="235761"/>
        </a:xfrm>
        <a:prstGeom prst="rightArrow">
          <a:avLst>
            <a:gd name="adj1" fmla="val 60000"/>
            <a:gd name="adj2" fmla="val 50000"/>
          </a:avLst>
        </a:prstGeom>
        <a:solidFill>
          <a:schemeClr val="accent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00050">
            <a:lnSpc>
              <a:spcPct val="90000"/>
            </a:lnSpc>
            <a:spcBef>
              <a:spcPct val="0"/>
            </a:spcBef>
            <a:spcAft>
              <a:spcPct val="35000"/>
            </a:spcAft>
            <a:buNone/>
          </a:pPr>
          <a:endParaRPr lang="en-US" sz="900" kern="1200"/>
        </a:p>
      </dsp:txBody>
      <dsp:txXfrm rot="-5400000">
        <a:off x="361071" y="556818"/>
        <a:ext cx="141457" cy="137527"/>
      </dsp:txXfrm>
    </dsp:sp>
    <dsp:sp modelId="{1C934D81-B98B-4E1E-8B40-0D7809610D11}">
      <dsp:nvSpPr>
        <dsp:cNvPr id="0" name=""/>
        <dsp:cNvSpPr/>
      </dsp:nvSpPr>
      <dsp:spPr>
        <a:xfrm>
          <a:off x="0" y="786030"/>
          <a:ext cx="863600" cy="523913"/>
        </a:xfrm>
        <a:prstGeom prst="roundRect">
          <a:avLst>
            <a:gd name="adj" fmla="val 10000"/>
          </a:avLst>
        </a:prstGeom>
        <a:solidFill>
          <a:schemeClr val="accent2">
            <a:hueOff val="0"/>
            <a:satOff val="0"/>
            <a:lumOff val="0"/>
            <a:alphaOff val="0"/>
          </a:schemeClr>
        </a:solidFill>
        <a:ln w="2642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US" sz="1100" kern="1200" dirty="0"/>
            <a:t>Economical Model</a:t>
          </a:r>
        </a:p>
      </dsp:txBody>
      <dsp:txXfrm>
        <a:off x="15345" y="801375"/>
        <a:ext cx="832910" cy="493223"/>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4BA0EE8-8829-4879-BCE5-4DA986FB7C28}">
      <dsp:nvSpPr>
        <dsp:cNvPr id="0" name=""/>
        <dsp:cNvSpPr/>
      </dsp:nvSpPr>
      <dsp:spPr>
        <a:xfrm>
          <a:off x="0" y="159"/>
          <a:ext cx="863600" cy="523913"/>
        </a:xfrm>
        <a:prstGeom prst="roundRect">
          <a:avLst>
            <a:gd name="adj" fmla="val 10000"/>
          </a:avLst>
        </a:prstGeom>
        <a:solidFill>
          <a:schemeClr val="accent3">
            <a:hueOff val="0"/>
            <a:satOff val="0"/>
            <a:lumOff val="0"/>
            <a:alphaOff val="0"/>
          </a:schemeClr>
        </a:solidFill>
        <a:ln w="2642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US" sz="1000" kern="1200" dirty="0"/>
            <a:t>Location Coordinate</a:t>
          </a:r>
        </a:p>
      </dsp:txBody>
      <dsp:txXfrm>
        <a:off x="15345" y="15504"/>
        <a:ext cx="832910" cy="493223"/>
      </dsp:txXfrm>
    </dsp:sp>
    <dsp:sp modelId="{9A699B72-AC44-43AB-AE0F-C1564D3B8743}">
      <dsp:nvSpPr>
        <dsp:cNvPr id="0" name=""/>
        <dsp:cNvSpPr/>
      </dsp:nvSpPr>
      <dsp:spPr>
        <a:xfrm rot="5400000">
          <a:off x="333566" y="537171"/>
          <a:ext cx="196467" cy="235761"/>
        </a:xfrm>
        <a:prstGeom prst="rightArrow">
          <a:avLst>
            <a:gd name="adj1" fmla="val 60000"/>
            <a:gd name="adj2" fmla="val 50000"/>
          </a:avLst>
        </a:prstGeom>
        <a:solidFill>
          <a:schemeClr val="accent3">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355600">
            <a:lnSpc>
              <a:spcPct val="90000"/>
            </a:lnSpc>
            <a:spcBef>
              <a:spcPct val="0"/>
            </a:spcBef>
            <a:spcAft>
              <a:spcPct val="35000"/>
            </a:spcAft>
            <a:buNone/>
          </a:pPr>
          <a:endParaRPr lang="en-US" sz="800" kern="1200"/>
        </a:p>
      </dsp:txBody>
      <dsp:txXfrm rot="-5400000">
        <a:off x="361071" y="556818"/>
        <a:ext cx="141457" cy="137527"/>
      </dsp:txXfrm>
    </dsp:sp>
    <dsp:sp modelId="{1C934D81-B98B-4E1E-8B40-0D7809610D11}">
      <dsp:nvSpPr>
        <dsp:cNvPr id="0" name=""/>
        <dsp:cNvSpPr/>
      </dsp:nvSpPr>
      <dsp:spPr>
        <a:xfrm>
          <a:off x="0" y="786030"/>
          <a:ext cx="863600" cy="523913"/>
        </a:xfrm>
        <a:prstGeom prst="roundRect">
          <a:avLst>
            <a:gd name="adj" fmla="val 10000"/>
          </a:avLst>
        </a:prstGeom>
        <a:solidFill>
          <a:schemeClr val="accent3">
            <a:hueOff val="0"/>
            <a:satOff val="0"/>
            <a:lumOff val="0"/>
            <a:alphaOff val="0"/>
          </a:schemeClr>
        </a:solidFill>
        <a:ln w="2642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US" sz="1000" kern="1200" dirty="0"/>
            <a:t>Hourly Metrological Data</a:t>
          </a:r>
        </a:p>
      </dsp:txBody>
      <dsp:txXfrm>
        <a:off x="15345" y="801375"/>
        <a:ext cx="832910" cy="493223"/>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4BA0EE8-8829-4879-BCE5-4DA986FB7C28}">
      <dsp:nvSpPr>
        <dsp:cNvPr id="0" name=""/>
        <dsp:cNvSpPr/>
      </dsp:nvSpPr>
      <dsp:spPr>
        <a:xfrm>
          <a:off x="0" y="1544"/>
          <a:ext cx="930290" cy="574380"/>
        </a:xfrm>
        <a:prstGeom prst="roundRect">
          <a:avLst>
            <a:gd name="adj" fmla="val 10000"/>
          </a:avLst>
        </a:prstGeom>
        <a:solidFill>
          <a:schemeClr val="accent4">
            <a:hueOff val="0"/>
            <a:satOff val="0"/>
            <a:lumOff val="0"/>
            <a:alphaOff val="0"/>
          </a:schemeClr>
        </a:solidFill>
        <a:ln w="2642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US" sz="1100" b="0" kern="1200" dirty="0"/>
            <a:t>Initialize Wolf</a:t>
          </a:r>
        </a:p>
      </dsp:txBody>
      <dsp:txXfrm>
        <a:off x="16823" y="18367"/>
        <a:ext cx="896644" cy="540734"/>
      </dsp:txXfrm>
    </dsp:sp>
    <dsp:sp modelId="{9A699B72-AC44-43AB-AE0F-C1564D3B8743}">
      <dsp:nvSpPr>
        <dsp:cNvPr id="0" name=""/>
        <dsp:cNvSpPr/>
      </dsp:nvSpPr>
      <dsp:spPr>
        <a:xfrm rot="5400000">
          <a:off x="357448" y="590284"/>
          <a:ext cx="215392" cy="258471"/>
        </a:xfrm>
        <a:prstGeom prst="rightArrow">
          <a:avLst>
            <a:gd name="adj1" fmla="val 60000"/>
            <a:gd name="adj2" fmla="val 5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en-US" sz="1100" kern="1200"/>
        </a:p>
      </dsp:txBody>
      <dsp:txXfrm rot="-5400000">
        <a:off x="387603" y="611823"/>
        <a:ext cx="155083" cy="150774"/>
      </dsp:txXfrm>
    </dsp:sp>
    <dsp:sp modelId="{1C934D81-B98B-4E1E-8B40-0D7809610D11}">
      <dsp:nvSpPr>
        <dsp:cNvPr id="0" name=""/>
        <dsp:cNvSpPr/>
      </dsp:nvSpPr>
      <dsp:spPr>
        <a:xfrm>
          <a:off x="0" y="863115"/>
          <a:ext cx="930290" cy="574380"/>
        </a:xfrm>
        <a:prstGeom prst="roundRect">
          <a:avLst>
            <a:gd name="adj" fmla="val 10000"/>
          </a:avLst>
        </a:prstGeom>
        <a:solidFill>
          <a:schemeClr val="accent4">
            <a:hueOff val="406013"/>
            <a:satOff val="-7024"/>
            <a:lumOff val="-1503"/>
            <a:alphaOff val="0"/>
          </a:schemeClr>
        </a:solidFill>
        <a:ln w="2642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US" sz="1100" kern="1200" dirty="0"/>
            <a:t>Evaluate Fitness</a:t>
          </a:r>
        </a:p>
      </dsp:txBody>
      <dsp:txXfrm>
        <a:off x="16823" y="879938"/>
        <a:ext cx="896644" cy="540734"/>
      </dsp:txXfrm>
    </dsp:sp>
    <dsp:sp modelId="{A3C0E16E-E981-49C4-8A2C-58EB3035650C}">
      <dsp:nvSpPr>
        <dsp:cNvPr id="0" name=""/>
        <dsp:cNvSpPr/>
      </dsp:nvSpPr>
      <dsp:spPr>
        <a:xfrm rot="5400000">
          <a:off x="357448" y="1451855"/>
          <a:ext cx="215392" cy="258471"/>
        </a:xfrm>
        <a:prstGeom prst="rightArrow">
          <a:avLst>
            <a:gd name="adj1" fmla="val 60000"/>
            <a:gd name="adj2" fmla="val 50000"/>
          </a:avLst>
        </a:prstGeom>
        <a:solidFill>
          <a:schemeClr val="accent4">
            <a:hueOff val="609019"/>
            <a:satOff val="-10536"/>
            <a:lumOff val="-2255"/>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en-US" sz="1100" kern="1200"/>
        </a:p>
      </dsp:txBody>
      <dsp:txXfrm rot="-5400000">
        <a:off x="387603" y="1473394"/>
        <a:ext cx="155083" cy="150774"/>
      </dsp:txXfrm>
    </dsp:sp>
    <dsp:sp modelId="{7C2C3295-6D55-4C1E-A5D5-636358221EB5}">
      <dsp:nvSpPr>
        <dsp:cNvPr id="0" name=""/>
        <dsp:cNvSpPr/>
      </dsp:nvSpPr>
      <dsp:spPr>
        <a:xfrm>
          <a:off x="0" y="1724686"/>
          <a:ext cx="930290" cy="574380"/>
        </a:xfrm>
        <a:prstGeom prst="roundRect">
          <a:avLst>
            <a:gd name="adj" fmla="val 10000"/>
          </a:avLst>
        </a:prstGeom>
        <a:solidFill>
          <a:schemeClr val="accent4">
            <a:hueOff val="812025"/>
            <a:satOff val="-14048"/>
            <a:lumOff val="-3007"/>
            <a:alphaOff val="0"/>
          </a:schemeClr>
        </a:solidFill>
        <a:ln w="2642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US" sz="1100" kern="1200" dirty="0"/>
            <a:t>Assign and update </a:t>
          </a:r>
          <a:r>
            <a:rPr lang="el-GR" sz="1100" kern="1200" dirty="0">
              <a:latin typeface="Calibri" panose="020F0502020204030204" pitchFamily="34" charset="0"/>
              <a:cs typeface="Calibri" panose="020F0502020204030204" pitchFamily="34" charset="0"/>
            </a:rPr>
            <a:t>α</a:t>
          </a:r>
          <a:r>
            <a:rPr lang="en-US" sz="1100" kern="1200" dirty="0">
              <a:latin typeface="Calibri" panose="020F0502020204030204" pitchFamily="34" charset="0"/>
              <a:cs typeface="Calibri" panose="020F0502020204030204" pitchFamily="34" charset="0"/>
            </a:rPr>
            <a:t>, </a:t>
          </a:r>
          <a:r>
            <a:rPr lang="el-GR" sz="1100" kern="1200" dirty="0">
              <a:latin typeface="Calibri" panose="020F0502020204030204" pitchFamily="34" charset="0"/>
              <a:cs typeface="Calibri" panose="020F0502020204030204" pitchFamily="34" charset="0"/>
            </a:rPr>
            <a:t>β</a:t>
          </a:r>
          <a:r>
            <a:rPr lang="en-US" sz="1100" kern="1200" dirty="0">
              <a:latin typeface="Calibri" panose="020F0502020204030204" pitchFamily="34" charset="0"/>
              <a:cs typeface="Calibri" panose="020F0502020204030204" pitchFamily="34" charset="0"/>
            </a:rPr>
            <a:t>, and </a:t>
          </a:r>
          <a:r>
            <a:rPr lang="el-GR" sz="1100" kern="1200" dirty="0">
              <a:latin typeface="Calibri" panose="020F0502020204030204" pitchFamily="34" charset="0"/>
              <a:cs typeface="Calibri" panose="020F0502020204030204" pitchFamily="34" charset="0"/>
            </a:rPr>
            <a:t>δ</a:t>
          </a:r>
          <a:r>
            <a:rPr lang="en-US" sz="1100" kern="1200" dirty="0">
              <a:latin typeface="Calibri" panose="020F0502020204030204" pitchFamily="34" charset="0"/>
              <a:cs typeface="Calibri" panose="020F0502020204030204" pitchFamily="34" charset="0"/>
            </a:rPr>
            <a:t> </a:t>
          </a:r>
          <a:endParaRPr lang="en-US" sz="1100" kern="1200" dirty="0"/>
        </a:p>
      </dsp:txBody>
      <dsp:txXfrm>
        <a:off x="16823" y="1741509"/>
        <a:ext cx="896644" cy="540734"/>
      </dsp:txXfrm>
    </dsp:sp>
    <dsp:sp modelId="{FF5B3946-17E9-44C5-8462-4269ABE306FD}">
      <dsp:nvSpPr>
        <dsp:cNvPr id="0" name=""/>
        <dsp:cNvSpPr/>
      </dsp:nvSpPr>
      <dsp:spPr>
        <a:xfrm rot="5400000">
          <a:off x="357448" y="2313427"/>
          <a:ext cx="215392" cy="258471"/>
        </a:xfrm>
        <a:prstGeom prst="rightArrow">
          <a:avLst>
            <a:gd name="adj1" fmla="val 60000"/>
            <a:gd name="adj2" fmla="val 50000"/>
          </a:avLst>
        </a:prstGeom>
        <a:solidFill>
          <a:schemeClr val="accent4">
            <a:hueOff val="1218038"/>
            <a:satOff val="-21072"/>
            <a:lumOff val="-451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en-US" sz="1100" kern="1200"/>
        </a:p>
      </dsp:txBody>
      <dsp:txXfrm rot="-5400000">
        <a:off x="387603" y="2334966"/>
        <a:ext cx="155083" cy="150774"/>
      </dsp:txXfrm>
    </dsp:sp>
    <dsp:sp modelId="{61B4A04B-0F70-4E53-8439-CE42D035336C}">
      <dsp:nvSpPr>
        <dsp:cNvPr id="0" name=""/>
        <dsp:cNvSpPr/>
      </dsp:nvSpPr>
      <dsp:spPr>
        <a:xfrm>
          <a:off x="0" y="2586258"/>
          <a:ext cx="930290" cy="574380"/>
        </a:xfrm>
        <a:prstGeom prst="roundRect">
          <a:avLst>
            <a:gd name="adj" fmla="val 10000"/>
          </a:avLst>
        </a:prstGeom>
        <a:solidFill>
          <a:schemeClr val="accent4">
            <a:hueOff val="1218038"/>
            <a:satOff val="-21072"/>
            <a:lumOff val="-4510"/>
            <a:alphaOff val="0"/>
          </a:schemeClr>
        </a:solidFill>
        <a:ln w="2642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US" sz="1100" kern="1200" dirty="0"/>
            <a:t>Run till Termination critera met</a:t>
          </a:r>
        </a:p>
      </dsp:txBody>
      <dsp:txXfrm>
        <a:off x="16823" y="2603081"/>
        <a:ext cx="896644" cy="540734"/>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4BA0EE8-8829-4879-BCE5-4DA986FB7C28}">
      <dsp:nvSpPr>
        <dsp:cNvPr id="0" name=""/>
        <dsp:cNvSpPr/>
      </dsp:nvSpPr>
      <dsp:spPr>
        <a:xfrm>
          <a:off x="0" y="0"/>
          <a:ext cx="1037287" cy="645303"/>
        </a:xfrm>
        <a:prstGeom prst="roundRect">
          <a:avLst>
            <a:gd name="adj" fmla="val 10000"/>
          </a:avLst>
        </a:prstGeom>
        <a:solidFill>
          <a:schemeClr val="accent5">
            <a:hueOff val="0"/>
            <a:satOff val="0"/>
            <a:lumOff val="0"/>
            <a:alphaOff val="0"/>
          </a:schemeClr>
        </a:solidFill>
        <a:ln w="2642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en-US" sz="900" u="none" kern="1200" dirty="0"/>
            <a:t>Investment cost, Maintenance cost, Repacement cost</a:t>
          </a:r>
        </a:p>
      </dsp:txBody>
      <dsp:txXfrm>
        <a:off x="18900" y="18900"/>
        <a:ext cx="999487" cy="607503"/>
      </dsp:txXfrm>
    </dsp:sp>
    <dsp:sp modelId="{9A699B72-AC44-43AB-AE0F-C1564D3B8743}">
      <dsp:nvSpPr>
        <dsp:cNvPr id="0" name=""/>
        <dsp:cNvSpPr/>
      </dsp:nvSpPr>
      <dsp:spPr>
        <a:xfrm rot="5400000">
          <a:off x="397649" y="661436"/>
          <a:ext cx="241988" cy="290386"/>
        </a:xfrm>
        <a:prstGeom prst="rightArrow">
          <a:avLst>
            <a:gd name="adj1" fmla="val 60000"/>
            <a:gd name="adj2" fmla="val 50000"/>
          </a:avLst>
        </a:prstGeom>
        <a:solidFill>
          <a:schemeClr val="accent5">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311150">
            <a:lnSpc>
              <a:spcPct val="90000"/>
            </a:lnSpc>
            <a:spcBef>
              <a:spcPct val="0"/>
            </a:spcBef>
            <a:spcAft>
              <a:spcPct val="35000"/>
            </a:spcAft>
            <a:buNone/>
          </a:pPr>
          <a:endParaRPr lang="en-US" sz="700" kern="1200"/>
        </a:p>
      </dsp:txBody>
      <dsp:txXfrm rot="-5400000">
        <a:off x="431527" y="685635"/>
        <a:ext cx="174232" cy="169392"/>
      </dsp:txXfrm>
    </dsp:sp>
    <dsp:sp modelId="{46CC520C-90B1-43C0-A8E8-5E1F1D13935B}">
      <dsp:nvSpPr>
        <dsp:cNvPr id="0" name=""/>
        <dsp:cNvSpPr/>
      </dsp:nvSpPr>
      <dsp:spPr>
        <a:xfrm>
          <a:off x="0" y="967955"/>
          <a:ext cx="1037287" cy="645303"/>
        </a:xfrm>
        <a:prstGeom prst="roundRect">
          <a:avLst>
            <a:gd name="adj" fmla="val 10000"/>
          </a:avLst>
        </a:prstGeom>
        <a:solidFill>
          <a:schemeClr val="accent5">
            <a:hueOff val="0"/>
            <a:satOff val="0"/>
            <a:lumOff val="0"/>
            <a:alphaOff val="0"/>
          </a:schemeClr>
        </a:solidFill>
        <a:ln w="2642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en-US" sz="900" kern="1200" dirty="0"/>
            <a:t>NPC and CRF</a:t>
          </a:r>
        </a:p>
      </dsp:txBody>
      <dsp:txXfrm>
        <a:off x="18900" y="986855"/>
        <a:ext cx="999487" cy="607503"/>
      </dsp:txXfrm>
    </dsp:sp>
    <dsp:sp modelId="{A12A92CD-DCD0-42C4-8020-BE7DA166F5EF}">
      <dsp:nvSpPr>
        <dsp:cNvPr id="0" name=""/>
        <dsp:cNvSpPr/>
      </dsp:nvSpPr>
      <dsp:spPr>
        <a:xfrm rot="5400000">
          <a:off x="397649" y="1629391"/>
          <a:ext cx="241988" cy="290386"/>
        </a:xfrm>
        <a:prstGeom prst="rightArrow">
          <a:avLst>
            <a:gd name="adj1" fmla="val 60000"/>
            <a:gd name="adj2" fmla="val 50000"/>
          </a:avLst>
        </a:prstGeom>
        <a:solidFill>
          <a:schemeClr val="accent5">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311150">
            <a:lnSpc>
              <a:spcPct val="90000"/>
            </a:lnSpc>
            <a:spcBef>
              <a:spcPct val="0"/>
            </a:spcBef>
            <a:spcAft>
              <a:spcPct val="35000"/>
            </a:spcAft>
            <a:buNone/>
          </a:pPr>
          <a:endParaRPr lang="en-US" sz="700" kern="1200"/>
        </a:p>
      </dsp:txBody>
      <dsp:txXfrm rot="-5400000">
        <a:off x="431527" y="1653590"/>
        <a:ext cx="174232" cy="169392"/>
      </dsp:txXfrm>
    </dsp:sp>
    <dsp:sp modelId="{5937225B-DAF1-400A-B212-180AAFB78B19}">
      <dsp:nvSpPr>
        <dsp:cNvPr id="0" name=""/>
        <dsp:cNvSpPr/>
      </dsp:nvSpPr>
      <dsp:spPr>
        <a:xfrm>
          <a:off x="0" y="1935911"/>
          <a:ext cx="1037287" cy="645303"/>
        </a:xfrm>
        <a:prstGeom prst="roundRect">
          <a:avLst>
            <a:gd name="adj" fmla="val 10000"/>
          </a:avLst>
        </a:prstGeom>
        <a:solidFill>
          <a:schemeClr val="accent5">
            <a:hueOff val="0"/>
            <a:satOff val="0"/>
            <a:lumOff val="0"/>
            <a:alphaOff val="0"/>
          </a:schemeClr>
        </a:solidFill>
        <a:ln w="2642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en-US" sz="900" kern="1200" dirty="0"/>
            <a:t>Calculate LCoE</a:t>
          </a:r>
        </a:p>
      </dsp:txBody>
      <dsp:txXfrm>
        <a:off x="18900" y="1954811"/>
        <a:ext cx="999487" cy="607503"/>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4BA0EE8-8829-4879-BCE5-4DA986FB7C28}">
      <dsp:nvSpPr>
        <dsp:cNvPr id="0" name=""/>
        <dsp:cNvSpPr/>
      </dsp:nvSpPr>
      <dsp:spPr>
        <a:xfrm>
          <a:off x="0" y="232"/>
          <a:ext cx="902525" cy="761813"/>
        </a:xfrm>
        <a:prstGeom prst="roundRect">
          <a:avLst>
            <a:gd name="adj" fmla="val 10000"/>
          </a:avLst>
        </a:prstGeom>
        <a:solidFill>
          <a:schemeClr val="accent6">
            <a:hueOff val="0"/>
            <a:satOff val="0"/>
            <a:lumOff val="0"/>
            <a:alphaOff val="0"/>
          </a:schemeClr>
        </a:solidFill>
        <a:ln w="2642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US" sz="1000" kern="1200" dirty="0"/>
            <a:t>Annual hourly generation &amp; consumption</a:t>
          </a:r>
        </a:p>
      </dsp:txBody>
      <dsp:txXfrm>
        <a:off x="22313" y="22545"/>
        <a:ext cx="857899" cy="717187"/>
      </dsp:txXfrm>
    </dsp:sp>
    <dsp:sp modelId="{9A699B72-AC44-43AB-AE0F-C1564D3B8743}">
      <dsp:nvSpPr>
        <dsp:cNvPr id="0" name=""/>
        <dsp:cNvSpPr/>
      </dsp:nvSpPr>
      <dsp:spPr>
        <a:xfrm rot="5400000">
          <a:off x="308422" y="781091"/>
          <a:ext cx="285680" cy="342816"/>
        </a:xfrm>
        <a:prstGeom prst="rightArrow">
          <a:avLst>
            <a:gd name="adj1" fmla="val 60000"/>
            <a:gd name="adj2" fmla="val 50000"/>
          </a:avLst>
        </a:prstGeom>
        <a:solidFill>
          <a:schemeClr val="accent6">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355600">
            <a:lnSpc>
              <a:spcPct val="90000"/>
            </a:lnSpc>
            <a:spcBef>
              <a:spcPct val="0"/>
            </a:spcBef>
            <a:spcAft>
              <a:spcPct val="35000"/>
            </a:spcAft>
            <a:buNone/>
          </a:pPr>
          <a:endParaRPr lang="en-US" sz="800" kern="1200"/>
        </a:p>
      </dsp:txBody>
      <dsp:txXfrm rot="-5400000">
        <a:off x="348417" y="809659"/>
        <a:ext cx="205690" cy="199976"/>
      </dsp:txXfrm>
    </dsp:sp>
    <dsp:sp modelId="{1C934D81-B98B-4E1E-8B40-0D7809610D11}">
      <dsp:nvSpPr>
        <dsp:cNvPr id="0" name=""/>
        <dsp:cNvSpPr/>
      </dsp:nvSpPr>
      <dsp:spPr>
        <a:xfrm>
          <a:off x="0" y="1142953"/>
          <a:ext cx="902525" cy="761813"/>
        </a:xfrm>
        <a:prstGeom prst="roundRect">
          <a:avLst>
            <a:gd name="adj" fmla="val 10000"/>
          </a:avLst>
        </a:prstGeom>
        <a:solidFill>
          <a:schemeClr val="accent6">
            <a:hueOff val="0"/>
            <a:satOff val="0"/>
            <a:lumOff val="0"/>
            <a:alphaOff val="0"/>
          </a:schemeClr>
        </a:solidFill>
        <a:ln w="2642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US" sz="1000" kern="1200" dirty="0"/>
            <a:t>1000 iteration cycle on GWO operation</a:t>
          </a:r>
        </a:p>
      </dsp:txBody>
      <dsp:txXfrm>
        <a:off x="22313" y="1165266"/>
        <a:ext cx="857899" cy="717187"/>
      </dsp:txXfrm>
    </dsp:sp>
  </dsp:spTree>
</dsp:drawing>
</file>

<file path=ppt/diagrams/layout1.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2.xml><?xml version="1.0" encoding="utf-8"?>
<dgm:layoutDef xmlns:dgm="http://schemas.openxmlformats.org/drawingml/2006/diagram" xmlns:a="http://schemas.openxmlformats.org/drawingml/2006/main" uniqueId="urn:microsoft.com/office/officeart/2005/8/layout/process2">
  <dgm:title val=""/>
  <dgm:desc val=""/>
  <dgm:catLst>
    <dgm:cat type="process"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resizeHandles val="exact"/>
    </dgm:varLst>
    <dgm:alg type="lin">
      <dgm:param type="linDir" val="fromT"/>
    </dgm:alg>
    <dgm:shape xmlns:r="http://schemas.openxmlformats.org/officeDocument/2006/relationships" r:blip="">
      <dgm:adjLst/>
    </dgm:shape>
    <dgm:presOf/>
    <dgm:constrLst>
      <dgm:constr type="h" for="ch" ptType="node" refType="h"/>
      <dgm:constr type="h" for="ch" ptType="sibTrans" refType="h" refFor="ch" refPtType="node" fact="0.5"/>
      <dgm:constr type="w" for="ch" ptType="node"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choose name="Name0">
          <dgm:if name="Name1" axis="root des" ptType="all node" func="maxDepth" op="gt" val="1">
            <dgm:alg type="tx">
              <dgm:param type="parTxLTRAlign" val="l"/>
              <dgm:param type="parTxRTLAlign" val="r"/>
              <dgm:param type="txAnchorVertCh" val="mid"/>
            </dgm:alg>
          </dgm:if>
          <dgm:else name="Name2">
            <dgm:alg type="tx"/>
          </dgm:else>
        </dgm:choose>
        <dgm:shape xmlns:r="http://schemas.openxmlformats.org/officeDocument/2006/relationships" type="roundRect" r:blip="">
          <dgm:adjLst>
            <dgm:adj idx="1" val="0.1"/>
          </dgm:adjLst>
        </dgm:shape>
        <dgm:presOf axis="desOrSelf" ptType="node"/>
        <dgm:constrLst>
          <dgm:constr type="w" refType="h" fact="1.8"/>
          <dgm:constr type="tMarg" refType="primFontSz" fact="0.3"/>
          <dgm:constr type="bMarg" refType="primFontSz" fact="0.3"/>
          <dgm:constr type="lMarg" refType="primFontSz" fact="0.3"/>
          <dgm:constr type="rMarg" refType="primFontSz" fact="0.3"/>
        </dgm:constrLst>
        <dgm:ruleLst>
          <dgm:rule type="primFontSz" val="18" fact="NaN" max="NaN"/>
          <dgm:rule type="w" val="NaN" fact="4" max="NaN"/>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w" refType="h" fact="0.9"/>
            <dgm:constr type="connDist"/>
            <dgm:constr type="wArH" refType="w" fact="0.5"/>
            <dgm:constr type="hArH" refType="w"/>
            <dgm:constr type="stemThick" refType="w" fact="0.6"/>
            <dgm:constr type="begPad" refType="connDist" fact="0.125"/>
            <dgm:constr type="endPad" refType="connDist" fact="0.125"/>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process2">
  <dgm:title val=""/>
  <dgm:desc val=""/>
  <dgm:catLst>
    <dgm:cat type="process"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resizeHandles val="exact"/>
    </dgm:varLst>
    <dgm:alg type="lin">
      <dgm:param type="linDir" val="fromT"/>
    </dgm:alg>
    <dgm:shape xmlns:r="http://schemas.openxmlformats.org/officeDocument/2006/relationships" r:blip="">
      <dgm:adjLst/>
    </dgm:shape>
    <dgm:presOf/>
    <dgm:constrLst>
      <dgm:constr type="h" for="ch" ptType="node" refType="h"/>
      <dgm:constr type="h" for="ch" ptType="sibTrans" refType="h" refFor="ch" refPtType="node" fact="0.5"/>
      <dgm:constr type="w" for="ch" ptType="node"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choose name="Name0">
          <dgm:if name="Name1" axis="root des" ptType="all node" func="maxDepth" op="gt" val="1">
            <dgm:alg type="tx">
              <dgm:param type="parTxLTRAlign" val="l"/>
              <dgm:param type="parTxRTLAlign" val="r"/>
              <dgm:param type="txAnchorVertCh" val="mid"/>
            </dgm:alg>
          </dgm:if>
          <dgm:else name="Name2">
            <dgm:alg type="tx"/>
          </dgm:else>
        </dgm:choose>
        <dgm:shape xmlns:r="http://schemas.openxmlformats.org/officeDocument/2006/relationships" type="roundRect" r:blip="">
          <dgm:adjLst>
            <dgm:adj idx="1" val="0.1"/>
          </dgm:adjLst>
        </dgm:shape>
        <dgm:presOf axis="desOrSelf" ptType="node"/>
        <dgm:constrLst>
          <dgm:constr type="w" refType="h" fact="1.8"/>
          <dgm:constr type="tMarg" refType="primFontSz" fact="0.3"/>
          <dgm:constr type="bMarg" refType="primFontSz" fact="0.3"/>
          <dgm:constr type="lMarg" refType="primFontSz" fact="0.3"/>
          <dgm:constr type="rMarg" refType="primFontSz" fact="0.3"/>
        </dgm:constrLst>
        <dgm:ruleLst>
          <dgm:rule type="primFontSz" val="18" fact="NaN" max="NaN"/>
          <dgm:rule type="w" val="NaN" fact="4" max="NaN"/>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w" refType="h" fact="0.9"/>
            <dgm:constr type="connDist"/>
            <dgm:constr type="wArH" refType="w" fact="0.5"/>
            <dgm:constr type="hArH" refType="w"/>
            <dgm:constr type="stemThick" refType="w" fact="0.6"/>
            <dgm:constr type="begPad" refType="connDist" fact="0.125"/>
            <dgm:constr type="endPad" refType="connDist" fact="0.125"/>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process2">
  <dgm:title val=""/>
  <dgm:desc val=""/>
  <dgm:catLst>
    <dgm:cat type="process"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resizeHandles val="exact"/>
    </dgm:varLst>
    <dgm:alg type="lin">
      <dgm:param type="linDir" val="fromT"/>
    </dgm:alg>
    <dgm:shape xmlns:r="http://schemas.openxmlformats.org/officeDocument/2006/relationships" r:blip="">
      <dgm:adjLst/>
    </dgm:shape>
    <dgm:presOf/>
    <dgm:constrLst>
      <dgm:constr type="h" for="ch" ptType="node" refType="h"/>
      <dgm:constr type="h" for="ch" ptType="sibTrans" refType="h" refFor="ch" refPtType="node" fact="0.5"/>
      <dgm:constr type="w" for="ch" ptType="node"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choose name="Name0">
          <dgm:if name="Name1" axis="root des" ptType="all node" func="maxDepth" op="gt" val="1">
            <dgm:alg type="tx">
              <dgm:param type="parTxLTRAlign" val="l"/>
              <dgm:param type="parTxRTLAlign" val="r"/>
              <dgm:param type="txAnchorVertCh" val="mid"/>
            </dgm:alg>
          </dgm:if>
          <dgm:else name="Name2">
            <dgm:alg type="tx"/>
          </dgm:else>
        </dgm:choose>
        <dgm:shape xmlns:r="http://schemas.openxmlformats.org/officeDocument/2006/relationships" type="roundRect" r:blip="">
          <dgm:adjLst>
            <dgm:adj idx="1" val="0.1"/>
          </dgm:adjLst>
        </dgm:shape>
        <dgm:presOf axis="desOrSelf" ptType="node"/>
        <dgm:constrLst>
          <dgm:constr type="w" refType="h" fact="1.8"/>
          <dgm:constr type="tMarg" refType="primFontSz" fact="0.3"/>
          <dgm:constr type="bMarg" refType="primFontSz" fact="0.3"/>
          <dgm:constr type="lMarg" refType="primFontSz" fact="0.3"/>
          <dgm:constr type="rMarg" refType="primFontSz" fact="0.3"/>
        </dgm:constrLst>
        <dgm:ruleLst>
          <dgm:rule type="primFontSz" val="18" fact="NaN" max="NaN"/>
          <dgm:rule type="w" val="NaN" fact="4" max="NaN"/>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w" refType="h" fact="0.9"/>
            <dgm:constr type="connDist"/>
            <dgm:constr type="wArH" refType="w" fact="0.5"/>
            <dgm:constr type="hArH" refType="w"/>
            <dgm:constr type="stemThick" refType="w" fact="0.6"/>
            <dgm:constr type="begPad" refType="connDist" fact="0.125"/>
            <dgm:constr type="endPad" refType="connDist" fact="0.125"/>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process2">
  <dgm:title val=""/>
  <dgm:desc val=""/>
  <dgm:catLst>
    <dgm:cat type="process"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resizeHandles val="exact"/>
    </dgm:varLst>
    <dgm:alg type="lin">
      <dgm:param type="linDir" val="fromT"/>
    </dgm:alg>
    <dgm:shape xmlns:r="http://schemas.openxmlformats.org/officeDocument/2006/relationships" r:blip="">
      <dgm:adjLst/>
    </dgm:shape>
    <dgm:presOf/>
    <dgm:constrLst>
      <dgm:constr type="h" for="ch" ptType="node" refType="h"/>
      <dgm:constr type="h" for="ch" ptType="sibTrans" refType="h" refFor="ch" refPtType="node" fact="0.5"/>
      <dgm:constr type="w" for="ch" ptType="node"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choose name="Name0">
          <dgm:if name="Name1" axis="root des" ptType="all node" func="maxDepth" op="gt" val="1">
            <dgm:alg type="tx">
              <dgm:param type="parTxLTRAlign" val="l"/>
              <dgm:param type="parTxRTLAlign" val="r"/>
              <dgm:param type="txAnchorVertCh" val="mid"/>
            </dgm:alg>
          </dgm:if>
          <dgm:else name="Name2">
            <dgm:alg type="tx"/>
          </dgm:else>
        </dgm:choose>
        <dgm:shape xmlns:r="http://schemas.openxmlformats.org/officeDocument/2006/relationships" type="roundRect" r:blip="">
          <dgm:adjLst>
            <dgm:adj idx="1" val="0.1"/>
          </dgm:adjLst>
        </dgm:shape>
        <dgm:presOf axis="desOrSelf" ptType="node"/>
        <dgm:constrLst>
          <dgm:constr type="w" refType="h" fact="1.8"/>
          <dgm:constr type="tMarg" refType="primFontSz" fact="0.3"/>
          <dgm:constr type="bMarg" refType="primFontSz" fact="0.3"/>
          <dgm:constr type="lMarg" refType="primFontSz" fact="0.3"/>
          <dgm:constr type="rMarg" refType="primFontSz" fact="0.3"/>
        </dgm:constrLst>
        <dgm:ruleLst>
          <dgm:rule type="primFontSz" val="18" fact="NaN" max="NaN"/>
          <dgm:rule type="w" val="NaN" fact="4" max="NaN"/>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w" refType="h" fact="0.9"/>
            <dgm:constr type="connDist"/>
            <dgm:constr type="wArH" refType="w" fact="0.5"/>
            <dgm:constr type="hArH" refType="w"/>
            <dgm:constr type="stemThick" refType="w" fact="0.6"/>
            <dgm:constr type="begPad" refType="connDist" fact="0.125"/>
            <dgm:constr type="endPad" refType="connDist" fact="0.125"/>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process2">
  <dgm:title val=""/>
  <dgm:desc val=""/>
  <dgm:catLst>
    <dgm:cat type="process"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resizeHandles val="exact"/>
    </dgm:varLst>
    <dgm:alg type="lin">
      <dgm:param type="linDir" val="fromT"/>
    </dgm:alg>
    <dgm:shape xmlns:r="http://schemas.openxmlformats.org/officeDocument/2006/relationships" r:blip="">
      <dgm:adjLst/>
    </dgm:shape>
    <dgm:presOf/>
    <dgm:constrLst>
      <dgm:constr type="h" for="ch" ptType="node" refType="h"/>
      <dgm:constr type="h" for="ch" ptType="sibTrans" refType="h" refFor="ch" refPtType="node" fact="0.5"/>
      <dgm:constr type="w" for="ch" ptType="node"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choose name="Name0">
          <dgm:if name="Name1" axis="root des" ptType="all node" func="maxDepth" op="gt" val="1">
            <dgm:alg type="tx">
              <dgm:param type="parTxLTRAlign" val="l"/>
              <dgm:param type="parTxRTLAlign" val="r"/>
              <dgm:param type="txAnchorVertCh" val="mid"/>
            </dgm:alg>
          </dgm:if>
          <dgm:else name="Name2">
            <dgm:alg type="tx"/>
          </dgm:else>
        </dgm:choose>
        <dgm:shape xmlns:r="http://schemas.openxmlformats.org/officeDocument/2006/relationships" type="roundRect" r:blip="">
          <dgm:adjLst>
            <dgm:adj idx="1" val="0.1"/>
          </dgm:adjLst>
        </dgm:shape>
        <dgm:presOf axis="desOrSelf" ptType="node"/>
        <dgm:constrLst>
          <dgm:constr type="w" refType="h" fact="1.8"/>
          <dgm:constr type="tMarg" refType="primFontSz" fact="0.3"/>
          <dgm:constr type="bMarg" refType="primFontSz" fact="0.3"/>
          <dgm:constr type="lMarg" refType="primFontSz" fact="0.3"/>
          <dgm:constr type="rMarg" refType="primFontSz" fact="0.3"/>
        </dgm:constrLst>
        <dgm:ruleLst>
          <dgm:rule type="primFontSz" val="18" fact="NaN" max="NaN"/>
          <dgm:rule type="w" val="NaN" fact="4" max="NaN"/>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w" refType="h" fact="0.9"/>
            <dgm:constr type="connDist"/>
            <dgm:constr type="wArH" refType="w" fact="0.5"/>
            <dgm:constr type="hArH" refType="w"/>
            <dgm:constr type="stemThick" refType="w" fact="0.6"/>
            <dgm:constr type="begPad" refType="connDist" fact="0.125"/>
            <dgm:constr type="endPad" refType="connDist" fact="0.125"/>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8C75992-8EB6-404F-84A5-920BF9F8DB0A}" type="datetimeFigureOut">
              <a:rPr lang="en-US" smtClean="0"/>
              <a:pPr/>
              <a:t>11/25/2023</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F6749F6-3DE5-408A-BD8A-9AC172E5F5B3}" type="slidenum">
              <a:rPr lang="en-US" smtClean="0"/>
              <a:pPr/>
              <a:t>‹#›</a:t>
            </a:fld>
            <a:endParaRPr lang="en-US"/>
          </a:p>
        </p:txBody>
      </p:sp>
    </p:spTree>
    <p:extLst>
      <p:ext uri="{BB962C8B-B14F-4D97-AF65-F5344CB8AC3E}">
        <p14:creationId xmlns:p14="http://schemas.microsoft.com/office/powerpoint/2010/main" val="30315005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F6749F6-3DE5-408A-BD8A-9AC172E5F5B3}" type="slidenum">
              <a:rPr lang="en-US" smtClean="0"/>
              <a:pPr/>
              <a:t>1</a:t>
            </a:fld>
            <a:endParaRPr lang="en-US"/>
          </a:p>
        </p:txBody>
      </p:sp>
    </p:spTree>
    <p:extLst>
      <p:ext uri="{BB962C8B-B14F-4D97-AF65-F5344CB8AC3E}">
        <p14:creationId xmlns:p14="http://schemas.microsoft.com/office/powerpoint/2010/main" val="347745503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F6749F6-3DE5-408A-BD8A-9AC172E5F5B3}" type="slidenum">
              <a:rPr lang="en-US" smtClean="0"/>
              <a:pPr/>
              <a:t>4</a:t>
            </a:fld>
            <a:endParaRPr lang="en-US"/>
          </a:p>
        </p:txBody>
      </p:sp>
    </p:spTree>
    <p:extLst>
      <p:ext uri="{BB962C8B-B14F-4D97-AF65-F5344CB8AC3E}">
        <p14:creationId xmlns:p14="http://schemas.microsoft.com/office/powerpoint/2010/main" val="188101636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F6749F6-3DE5-408A-BD8A-9AC172E5F5B3}" type="slidenum">
              <a:rPr lang="en-US" smtClean="0"/>
              <a:pPr/>
              <a:t>9</a:t>
            </a:fld>
            <a:endParaRPr lang="en-US"/>
          </a:p>
        </p:txBody>
      </p:sp>
    </p:spTree>
    <p:extLst>
      <p:ext uri="{BB962C8B-B14F-4D97-AF65-F5344CB8AC3E}">
        <p14:creationId xmlns:p14="http://schemas.microsoft.com/office/powerpoint/2010/main" val="109435387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F6749F6-3DE5-408A-BD8A-9AC172E5F5B3}" type="slidenum">
              <a:rPr lang="en-US" smtClean="0"/>
              <a:pPr/>
              <a:t>10</a:t>
            </a:fld>
            <a:endParaRPr lang="en-US"/>
          </a:p>
        </p:txBody>
      </p:sp>
    </p:spTree>
    <p:extLst>
      <p:ext uri="{BB962C8B-B14F-4D97-AF65-F5344CB8AC3E}">
        <p14:creationId xmlns:p14="http://schemas.microsoft.com/office/powerpoint/2010/main" val="399420688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F6749F6-3DE5-408A-BD8A-9AC172E5F5B3}" type="slidenum">
              <a:rPr lang="en-US" smtClean="0"/>
              <a:pPr/>
              <a:t>11</a:t>
            </a:fld>
            <a:endParaRPr lang="en-US"/>
          </a:p>
        </p:txBody>
      </p:sp>
    </p:spTree>
    <p:extLst>
      <p:ext uri="{BB962C8B-B14F-4D97-AF65-F5344CB8AC3E}">
        <p14:creationId xmlns:p14="http://schemas.microsoft.com/office/powerpoint/2010/main" val="399420688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F6749F6-3DE5-408A-BD8A-9AC172E5F5B3}" type="slidenum">
              <a:rPr lang="en-US" smtClean="0"/>
              <a:pPr/>
              <a:t>12</a:t>
            </a:fld>
            <a:endParaRPr lang="en-US"/>
          </a:p>
        </p:txBody>
      </p:sp>
    </p:spTree>
    <p:extLst>
      <p:ext uri="{BB962C8B-B14F-4D97-AF65-F5344CB8AC3E}">
        <p14:creationId xmlns:p14="http://schemas.microsoft.com/office/powerpoint/2010/main" val="399420688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F6749F6-3DE5-408A-BD8A-9AC172E5F5B3}" type="slidenum">
              <a:rPr lang="en-US" smtClean="0"/>
              <a:pPr/>
              <a:t>13</a:t>
            </a:fld>
            <a:endParaRPr lang="en-US"/>
          </a:p>
        </p:txBody>
      </p:sp>
    </p:spTree>
    <p:extLst>
      <p:ext uri="{BB962C8B-B14F-4D97-AF65-F5344CB8AC3E}">
        <p14:creationId xmlns:p14="http://schemas.microsoft.com/office/powerpoint/2010/main" val="399420688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F6749F6-3DE5-408A-BD8A-9AC172E5F5B3}" type="slidenum">
              <a:rPr lang="en-US" smtClean="0"/>
              <a:pPr/>
              <a:t>14</a:t>
            </a:fld>
            <a:endParaRPr lang="en-US"/>
          </a:p>
        </p:txBody>
      </p:sp>
    </p:spTree>
    <p:extLst>
      <p:ext uri="{BB962C8B-B14F-4D97-AF65-F5344CB8AC3E}">
        <p14:creationId xmlns:p14="http://schemas.microsoft.com/office/powerpoint/2010/main" val="218350406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371600"/>
            <a:ext cx="7848600" cy="1927225"/>
          </a:xfrm>
        </p:spPr>
        <p:txBody>
          <a:bodyPr anchor="b">
            <a:noAutofit/>
          </a:bodyPr>
          <a:lstStyle>
            <a:lvl1pPr>
              <a:defRPr sz="5400" cap="all" baseline="0"/>
            </a:lvl1pPr>
          </a:lstStyle>
          <a:p>
            <a:r>
              <a:rPr lang="en-US"/>
              <a:t>Click to edit Master title style</a:t>
            </a:r>
            <a:endParaRPr lang="en-US" dirty="0"/>
          </a:p>
        </p:txBody>
      </p:sp>
      <p:sp>
        <p:nvSpPr>
          <p:cNvPr id="3" name="Subtitle 2"/>
          <p:cNvSpPr>
            <a:spLocks noGrp="1"/>
          </p:cNvSpPr>
          <p:nvPr>
            <p:ph type="subTitle" idx="1"/>
          </p:nvPr>
        </p:nvSpPr>
        <p:spPr>
          <a:xfrm>
            <a:off x="685800" y="3505200"/>
            <a:ext cx="6400800" cy="1752600"/>
          </a:xfrm>
        </p:spPr>
        <p:txBody>
          <a:bodyPr/>
          <a:lstStyle>
            <a:lvl1pPr marL="0" indent="0" algn="l">
              <a:buNone/>
              <a:defRPr>
                <a:solidFill>
                  <a:schemeClr val="tx1">
                    <a:lumMod val="75000"/>
                    <a:lumOff val="2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11/25/2023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cxnSp>
        <p:nvCxnSpPr>
          <p:cNvPr id="8" name="Straight Connector 7"/>
          <p:cNvCxnSpPr/>
          <p:nvPr/>
        </p:nvCxnSpPr>
        <p:spPr>
          <a:xfrm>
            <a:off x="685800" y="3398520"/>
            <a:ext cx="7848600" cy="158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11/25/2023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22313" y="2362200"/>
            <a:ext cx="7772400" cy="2200275"/>
          </a:xfrm>
        </p:spPr>
        <p:txBody>
          <a:bodyPr anchor="b">
            <a:normAutofit/>
          </a:bodyPr>
          <a:lstStyle>
            <a:lvl1pPr algn="l">
              <a:defRPr sz="4800" b="0" cap="all"/>
            </a:lvl1pPr>
          </a:lstStyle>
          <a:p>
            <a:r>
              <a:rPr lang="en-US"/>
              <a:t>Click to edit Master title style</a:t>
            </a:r>
            <a:endParaRPr lang="en-US" dirty="0"/>
          </a:p>
        </p:txBody>
      </p:sp>
      <p:sp>
        <p:nvSpPr>
          <p:cNvPr id="3" name="Text Placeholder 2"/>
          <p:cNvSpPr>
            <a:spLocks noGrp="1"/>
          </p:cNvSpPr>
          <p:nvPr>
            <p:ph type="body" idx="1"/>
          </p:nvPr>
        </p:nvSpPr>
        <p:spPr>
          <a:xfrm>
            <a:off x="722313" y="4626864"/>
            <a:ext cx="7772400" cy="1500187"/>
          </a:xfrm>
        </p:spPr>
        <p:txBody>
          <a:bodyPr anchor="t">
            <a:normAutofit/>
          </a:bodyPr>
          <a:lstStyle>
            <a:lvl1pPr marL="0" indent="0">
              <a:buNone/>
              <a:defRPr sz="24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11/25/2023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cxnSp>
        <p:nvCxnSpPr>
          <p:cNvPr id="7" name="Straight Connector 6"/>
          <p:cNvCxnSpPr/>
          <p:nvPr/>
        </p:nvCxnSpPr>
        <p:spPr>
          <a:xfrm>
            <a:off x="731520" y="4599432"/>
            <a:ext cx="7848600" cy="158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73352"/>
            <a:ext cx="4038600" cy="471830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48200" y="1673352"/>
            <a:ext cx="4038600" cy="471830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D8BD707-D9CF-40AE-B4C6-C98DA3205C09}" type="datetimeFigureOut">
              <a:rPr lang="en-US" smtClean="0"/>
              <a:pPr/>
              <a:t>11/25/2023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457200" y="1676400"/>
            <a:ext cx="3931920" cy="639762"/>
          </a:xfrm>
          <a:noFill/>
          <a:ln>
            <a:noFill/>
          </a:ln>
          <a:effectLst/>
        </p:spPr>
        <p:style>
          <a:lnRef idx="3">
            <a:schemeClr val="lt1"/>
          </a:lnRef>
          <a:fillRef idx="1">
            <a:schemeClr val="accent2"/>
          </a:fillRef>
          <a:effectRef idx="1">
            <a:schemeClr val="accent2"/>
          </a:effectRef>
          <a:fontRef idx="none"/>
        </p:style>
        <p:txBody>
          <a:bodyPr anchor="ctr">
            <a:normAutofit/>
          </a:bodyPr>
          <a:lstStyle>
            <a:lvl1pPr marL="0" indent="0" algn="ctr">
              <a:buNone/>
              <a:defRPr sz="20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438400"/>
            <a:ext cx="393192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754880" y="1676400"/>
            <a:ext cx="3931920" cy="639762"/>
          </a:xfrm>
          <a:noFill/>
          <a:ln>
            <a:noFill/>
          </a:ln>
          <a:effectLst/>
        </p:spPr>
        <p:style>
          <a:lnRef idx="3">
            <a:schemeClr val="lt1"/>
          </a:lnRef>
          <a:fillRef idx="1">
            <a:schemeClr val="accent2"/>
          </a:fillRef>
          <a:effectRef idx="1">
            <a:schemeClr val="accent2"/>
          </a:effectRef>
          <a:fontRef idx="none"/>
        </p:style>
        <p:txBody>
          <a:bodyPr anchor="ctr">
            <a:normAutofit/>
          </a:bodyPr>
          <a:lstStyle>
            <a:lvl1pPr marL="0" indent="0" algn="ctr">
              <a:buNone/>
              <a:defRPr lang="en-US" sz="2000" b="0" kern="1200" dirty="0" smtClean="0">
                <a:solidFill>
                  <a:schemeClr val="tx2"/>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754880" y="2438400"/>
            <a:ext cx="393192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D8BD707-D9CF-40AE-B4C6-C98DA3205C09}" type="datetimeFigureOut">
              <a:rPr lang="en-US" smtClean="0"/>
              <a:pPr/>
              <a:t>11/25/2023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cxnSp>
        <p:nvCxnSpPr>
          <p:cNvPr id="11" name="Straight Connector 10"/>
          <p:cNvCxnSpPr/>
          <p:nvPr/>
        </p:nvCxnSpPr>
        <p:spPr>
          <a:xfrm rot="5400000">
            <a:off x="2217817" y="4045823"/>
            <a:ext cx="4709160" cy="794"/>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11/25/2023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11/25/2023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792080"/>
            <a:ext cx="2139696" cy="1261872"/>
          </a:xfrm>
        </p:spPr>
        <p:txBody>
          <a:bodyPr anchor="b">
            <a:no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2971800" y="792080"/>
            <a:ext cx="5715000" cy="557784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1" y="2130552"/>
            <a:ext cx="2139696" cy="4243615"/>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11/25/2023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cxnSp>
        <p:nvCxnSpPr>
          <p:cNvPr id="9" name="Straight Connector 8"/>
          <p:cNvCxnSpPr/>
          <p:nvPr/>
        </p:nvCxnSpPr>
        <p:spPr>
          <a:xfrm rot="5400000">
            <a:off x="-13116" y="3580206"/>
            <a:ext cx="5577840" cy="158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792480"/>
            <a:ext cx="2142680" cy="1264920"/>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p:cNvSpPr>
          <p:nvPr>
            <p:ph type="pic" idx="1"/>
          </p:nvPr>
        </p:nvSpPr>
        <p:spPr>
          <a:xfrm>
            <a:off x="2858610" y="838201"/>
            <a:ext cx="5904390" cy="5500456"/>
          </a:xfrm>
          <a:solidFill>
            <a:schemeClr val="bg2"/>
          </a:solidFill>
          <a:ln w="76200">
            <a:solidFill>
              <a:srgbClr val="FFFFFF"/>
            </a:solidFill>
            <a:miter lim="800000"/>
          </a:ln>
          <a:effectLst>
            <a:outerShdw blurRad="50800" dist="12700" dir="5400000" algn="t" rotWithShape="0">
              <a:prstClr val="black">
                <a:alpha val="59000"/>
              </a:prstClr>
            </a:outerShdw>
          </a:effectLst>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457200" y="2133600"/>
            <a:ext cx="2139696" cy="424281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11/25/2023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11/25/2023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609600"/>
            <a:ext cx="2057400" cy="5867400"/>
          </a:xfrm>
        </p:spPr>
        <p:txBody>
          <a:bodyPr vert="eaVert" anchor="b"/>
          <a:lstStyle/>
          <a:p>
            <a:r>
              <a:rPr lang="en-US"/>
              <a:t>Click to edit Master title style</a:t>
            </a:r>
            <a:endParaRPr lang="en-US" dirty="0"/>
          </a:p>
        </p:txBody>
      </p:sp>
      <p:sp>
        <p:nvSpPr>
          <p:cNvPr id="3" name="Vertical Text Placeholder 2"/>
          <p:cNvSpPr>
            <a:spLocks noGrp="1"/>
          </p:cNvSpPr>
          <p:nvPr>
            <p:ph type="body" orient="vert" idx="1"/>
          </p:nvPr>
        </p:nvSpPr>
        <p:spPr>
          <a:xfrm>
            <a:off x="457200" y="609600"/>
            <a:ext cx="6019800" cy="5867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11/25/2023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 name="Rectangle 9"/>
          <p:cNvSpPr/>
          <p:nvPr/>
        </p:nvSpPr>
        <p:spPr>
          <a:xfrm>
            <a:off x="0" y="220786"/>
            <a:ext cx="9144000" cy="2286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457200" y="533400"/>
            <a:ext cx="8229600" cy="9906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457200" y="1600200"/>
            <a:ext cx="8229600" cy="4876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Rectangle 6"/>
          <p:cNvSpPr/>
          <p:nvPr/>
        </p:nvSpPr>
        <p:spPr>
          <a:xfrm>
            <a:off x="0" y="0"/>
            <a:ext cx="9144000" cy="3657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p:cNvSpPr>
            <a:spLocks noGrp="1"/>
          </p:cNvSpPr>
          <p:nvPr>
            <p:ph type="dt" sz="half" idx="2"/>
          </p:nvPr>
        </p:nvSpPr>
        <p:spPr>
          <a:xfrm>
            <a:off x="457200" y="18288"/>
            <a:ext cx="2895600" cy="329184"/>
          </a:xfrm>
          <a:prstGeom prst="rect">
            <a:avLst/>
          </a:prstGeom>
        </p:spPr>
        <p:txBody>
          <a:bodyPr vert="horz" lIns="91440" tIns="45720" rIns="91440" bIns="45720" rtlCol="0" anchor="ctr"/>
          <a:lstStyle>
            <a:lvl1pPr algn="l">
              <a:defRPr sz="1200">
                <a:solidFill>
                  <a:srgbClr val="FFFFFF"/>
                </a:solidFill>
              </a:defRPr>
            </a:lvl1pPr>
          </a:lstStyle>
          <a:p>
            <a:fld id="{1D8BD707-D9CF-40AE-B4C6-C98DA3205C09}" type="datetimeFigureOut">
              <a:rPr lang="en-US" smtClean="0"/>
              <a:pPr/>
              <a:t>11/25/2023</a:t>
            </a:fld>
            <a:endParaRPr lang="en-US"/>
          </a:p>
        </p:txBody>
      </p:sp>
      <p:sp>
        <p:nvSpPr>
          <p:cNvPr id="5" name="Footer Placeholder 4"/>
          <p:cNvSpPr>
            <a:spLocks noGrp="1"/>
          </p:cNvSpPr>
          <p:nvPr>
            <p:ph type="ftr" sz="quarter" idx="3"/>
          </p:nvPr>
        </p:nvSpPr>
        <p:spPr>
          <a:xfrm>
            <a:off x="3429000" y="18288"/>
            <a:ext cx="4114800" cy="329184"/>
          </a:xfrm>
          <a:prstGeom prst="rect">
            <a:avLst/>
          </a:prstGeom>
        </p:spPr>
        <p:txBody>
          <a:bodyPr vert="horz" lIns="91440" tIns="45720" rIns="91440" bIns="45720" rtlCol="0" anchor="ctr"/>
          <a:lstStyle>
            <a:lvl1pPr algn="ctr">
              <a:defRPr sz="1200">
                <a:solidFill>
                  <a:srgbClr val="FFFFFF"/>
                </a:solidFill>
              </a:defRPr>
            </a:lvl1pPr>
          </a:lstStyle>
          <a:p>
            <a:endParaRPr lang="en-US"/>
          </a:p>
        </p:txBody>
      </p:sp>
      <p:sp>
        <p:nvSpPr>
          <p:cNvPr id="6" name="Slide Number Placeholder 5"/>
          <p:cNvSpPr>
            <a:spLocks noGrp="1"/>
          </p:cNvSpPr>
          <p:nvPr>
            <p:ph type="sldNum" sz="quarter" idx="4"/>
          </p:nvPr>
        </p:nvSpPr>
        <p:spPr>
          <a:xfrm>
            <a:off x="7620000" y="18288"/>
            <a:ext cx="1066800" cy="329184"/>
          </a:xfrm>
          <a:prstGeom prst="rect">
            <a:avLst/>
          </a:prstGeom>
        </p:spPr>
        <p:txBody>
          <a:bodyPr vert="horz" lIns="91440" tIns="45720" rIns="91440" bIns="45720" rtlCol="0" anchor="ctr"/>
          <a:lstStyle>
            <a:lvl1pPr algn="l">
              <a:defRPr sz="1400" b="1">
                <a:solidFill>
                  <a:srgbClr val="FFFFFF"/>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xStyles>
    <p:titleStyle>
      <a:lvl1pPr algn="l" defTabSz="914400" rtl="0" eaLnBrk="1" latinLnBrk="0" hangingPunct="1">
        <a:spcBef>
          <a:spcPct val="0"/>
        </a:spcBef>
        <a:buNone/>
        <a:defRPr sz="4000" kern="1200" spc="-100" baseline="0">
          <a:solidFill>
            <a:schemeClr val="tx2"/>
          </a:solidFill>
          <a:latin typeface="+mj-lt"/>
          <a:ea typeface="+mj-ea"/>
          <a:cs typeface="+mj-cs"/>
        </a:defRPr>
      </a:lvl1pPr>
    </p:titleStyle>
    <p:bodyStyle>
      <a:lvl1pPr marL="182880" indent="-182880" algn="l" defTabSz="914400" rtl="0" eaLnBrk="1" latinLnBrk="0" hangingPunct="1">
        <a:spcBef>
          <a:spcPct val="20000"/>
        </a:spcBef>
        <a:buClr>
          <a:schemeClr val="accent1"/>
        </a:buClr>
        <a:buSzPct val="85000"/>
        <a:buFont typeface="Arial" pitchFamily="34" charset="0"/>
        <a:buChar char="•"/>
        <a:defRPr sz="2400" kern="1200">
          <a:solidFill>
            <a:schemeClr val="tx1"/>
          </a:solidFill>
          <a:latin typeface="+mn-lt"/>
          <a:ea typeface="+mn-ea"/>
          <a:cs typeface="+mn-cs"/>
        </a:defRPr>
      </a:lvl1pPr>
      <a:lvl2pPr marL="457200" indent="-182880" algn="l" defTabSz="914400" rtl="0" eaLnBrk="1" latinLnBrk="0" hangingPunct="1">
        <a:spcBef>
          <a:spcPct val="20000"/>
        </a:spcBef>
        <a:buClr>
          <a:schemeClr val="accent1"/>
        </a:buClr>
        <a:buSzPct val="85000"/>
        <a:buFont typeface="Arial" pitchFamily="34" charset="0"/>
        <a:buChar char="•"/>
        <a:defRPr sz="2000" kern="1200">
          <a:solidFill>
            <a:schemeClr val="tx1"/>
          </a:solidFill>
          <a:latin typeface="+mn-lt"/>
          <a:ea typeface="+mn-ea"/>
          <a:cs typeface="+mn-cs"/>
        </a:defRPr>
      </a:lvl2pPr>
      <a:lvl3pPr marL="731520" indent="-182880" algn="l" defTabSz="914400" rtl="0" eaLnBrk="1" latinLnBrk="0" hangingPunct="1">
        <a:spcBef>
          <a:spcPct val="20000"/>
        </a:spcBef>
        <a:buClr>
          <a:schemeClr val="accent1"/>
        </a:buClr>
        <a:buSzPct val="90000"/>
        <a:buFont typeface="Arial" pitchFamily="34" charset="0"/>
        <a:buChar char="•"/>
        <a:defRPr sz="1800" kern="1200">
          <a:solidFill>
            <a:schemeClr val="tx1"/>
          </a:solidFill>
          <a:latin typeface="+mn-lt"/>
          <a:ea typeface="+mn-ea"/>
          <a:cs typeface="+mn-cs"/>
        </a:defRPr>
      </a:lvl3pPr>
      <a:lvl4pPr marL="1005840" indent="-182880" algn="l" defTabSz="914400" rtl="0" eaLnBrk="1" latinLnBrk="0" hangingPunct="1">
        <a:spcBef>
          <a:spcPct val="20000"/>
        </a:spcBef>
        <a:buClr>
          <a:schemeClr val="accent1"/>
        </a:buClr>
        <a:buFont typeface="Arial" pitchFamily="34" charset="0"/>
        <a:buChar char="•"/>
        <a:defRPr sz="1600" kern="1200">
          <a:solidFill>
            <a:schemeClr val="tx1"/>
          </a:solidFill>
          <a:latin typeface="+mn-lt"/>
          <a:ea typeface="+mn-ea"/>
          <a:cs typeface="+mn-cs"/>
        </a:defRPr>
      </a:lvl4pPr>
      <a:lvl5pPr marL="1188720" indent="-137160" algn="l" defTabSz="914400" rtl="0" eaLnBrk="1" latinLnBrk="0" hangingPunct="1">
        <a:spcBef>
          <a:spcPct val="20000"/>
        </a:spcBef>
        <a:buClr>
          <a:schemeClr val="accent1"/>
        </a:buClr>
        <a:buSzPct val="100000"/>
        <a:buFont typeface="Arial" pitchFamily="34" charset="0"/>
        <a:buChar char="•"/>
        <a:defRPr sz="1400" kern="1200" baseline="0">
          <a:solidFill>
            <a:schemeClr val="tx1"/>
          </a:solidFill>
          <a:latin typeface="+mn-lt"/>
          <a:ea typeface="+mn-ea"/>
          <a:cs typeface="+mn-cs"/>
        </a:defRPr>
      </a:lvl5pPr>
      <a:lvl6pPr marL="137160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6pPr>
      <a:lvl7pPr marL="155448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7pPr>
      <a:lvl8pPr marL="173736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8pPr>
      <a:lvl9pPr marL="192024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8" Type="http://schemas.openxmlformats.org/officeDocument/2006/relationships/diagramLayout" Target="../diagrams/layout2.xml"/><Relationship Id="rId13" Type="http://schemas.openxmlformats.org/officeDocument/2006/relationships/diagramLayout" Target="../diagrams/layout3.xml"/><Relationship Id="rId18" Type="http://schemas.openxmlformats.org/officeDocument/2006/relationships/diagramLayout" Target="../diagrams/layout4.xml"/><Relationship Id="rId26" Type="http://schemas.microsoft.com/office/2007/relationships/diagramDrawing" Target="../diagrams/drawing5.xml"/><Relationship Id="rId3" Type="http://schemas.openxmlformats.org/officeDocument/2006/relationships/diagramLayout" Target="../diagrams/layout1.xml"/><Relationship Id="rId21" Type="http://schemas.microsoft.com/office/2007/relationships/diagramDrawing" Target="../diagrams/drawing4.xml"/><Relationship Id="rId7" Type="http://schemas.openxmlformats.org/officeDocument/2006/relationships/diagramData" Target="../diagrams/data2.xml"/><Relationship Id="rId12" Type="http://schemas.openxmlformats.org/officeDocument/2006/relationships/diagramData" Target="../diagrams/data3.xml"/><Relationship Id="rId17" Type="http://schemas.openxmlformats.org/officeDocument/2006/relationships/diagramData" Target="../diagrams/data4.xml"/><Relationship Id="rId25" Type="http://schemas.openxmlformats.org/officeDocument/2006/relationships/diagramColors" Target="../diagrams/colors5.xml"/><Relationship Id="rId2" Type="http://schemas.openxmlformats.org/officeDocument/2006/relationships/diagramData" Target="../diagrams/data1.xml"/><Relationship Id="rId16" Type="http://schemas.microsoft.com/office/2007/relationships/diagramDrawing" Target="../diagrams/drawing3.xml"/><Relationship Id="rId20" Type="http://schemas.openxmlformats.org/officeDocument/2006/relationships/diagramColors" Target="../diagrams/colors4.xml"/><Relationship Id="rId29" Type="http://schemas.openxmlformats.org/officeDocument/2006/relationships/diagramQuickStyle" Target="../diagrams/quickStyle6.xml"/><Relationship Id="rId1" Type="http://schemas.openxmlformats.org/officeDocument/2006/relationships/slideLayout" Target="../slideLayouts/slideLayout2.xml"/><Relationship Id="rId6" Type="http://schemas.microsoft.com/office/2007/relationships/diagramDrawing" Target="../diagrams/drawing1.xml"/><Relationship Id="rId11" Type="http://schemas.microsoft.com/office/2007/relationships/diagramDrawing" Target="../diagrams/drawing2.xml"/><Relationship Id="rId24" Type="http://schemas.openxmlformats.org/officeDocument/2006/relationships/diagramQuickStyle" Target="../diagrams/quickStyle5.xml"/><Relationship Id="rId5" Type="http://schemas.openxmlformats.org/officeDocument/2006/relationships/diagramColors" Target="../diagrams/colors1.xml"/><Relationship Id="rId15" Type="http://schemas.openxmlformats.org/officeDocument/2006/relationships/diagramColors" Target="../diagrams/colors3.xml"/><Relationship Id="rId23" Type="http://schemas.openxmlformats.org/officeDocument/2006/relationships/diagramLayout" Target="../diagrams/layout5.xml"/><Relationship Id="rId28" Type="http://schemas.openxmlformats.org/officeDocument/2006/relationships/diagramLayout" Target="../diagrams/layout6.xml"/><Relationship Id="rId10" Type="http://schemas.openxmlformats.org/officeDocument/2006/relationships/diagramColors" Target="../diagrams/colors2.xml"/><Relationship Id="rId19" Type="http://schemas.openxmlformats.org/officeDocument/2006/relationships/diagramQuickStyle" Target="../diagrams/quickStyle4.xml"/><Relationship Id="rId31" Type="http://schemas.microsoft.com/office/2007/relationships/diagramDrawing" Target="../diagrams/drawing6.xml"/><Relationship Id="rId4" Type="http://schemas.openxmlformats.org/officeDocument/2006/relationships/diagramQuickStyle" Target="../diagrams/quickStyle1.xml"/><Relationship Id="rId9" Type="http://schemas.openxmlformats.org/officeDocument/2006/relationships/diagramQuickStyle" Target="../diagrams/quickStyle2.xml"/><Relationship Id="rId14" Type="http://schemas.openxmlformats.org/officeDocument/2006/relationships/diagramQuickStyle" Target="../diagrams/quickStyle3.xml"/><Relationship Id="rId22" Type="http://schemas.openxmlformats.org/officeDocument/2006/relationships/diagramData" Target="../diagrams/data5.xml"/><Relationship Id="rId27" Type="http://schemas.openxmlformats.org/officeDocument/2006/relationships/diagramData" Target="../diagrams/data6.xml"/><Relationship Id="rId30" Type="http://schemas.openxmlformats.org/officeDocument/2006/relationships/diagramColors" Target="../diagrams/colors6.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0.jpeg"/></Relationships>
</file>

<file path=ppt/slides/_rels/slide12.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3.jpeg"/></Relationships>
</file>

<file path=ppt/slides/_rels/slide14.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5.jpe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97123" y="1828800"/>
            <a:ext cx="7924800" cy="1447799"/>
          </a:xfrm>
          <a:ln>
            <a:noFill/>
          </a:ln>
        </p:spPr>
        <p:txBody>
          <a:bodyPr>
            <a:normAutofit/>
          </a:bodyPr>
          <a:lstStyle/>
          <a:p>
            <a:pPr algn="ctr"/>
            <a:r>
              <a:rPr lang="en-US" sz="2800" dirty="0">
                <a:solidFill>
                  <a:schemeClr val="accent1"/>
                </a:solidFill>
                <a:latin typeface="Liberation Serif" panose="02020603050405020304" pitchFamily="18" charset="0"/>
                <a:ea typeface="Liberation Serif" panose="02020603050405020304" pitchFamily="18" charset="0"/>
                <a:cs typeface="Liberation Serif" panose="02020603050405020304" pitchFamily="18" charset="0"/>
              </a:rPr>
              <a:t>Design Optimization and Assessment of Floating Solar PV with Wind Turbine Systems at KEPZ</a:t>
            </a:r>
          </a:p>
        </p:txBody>
      </p:sp>
      <p:graphicFrame>
        <p:nvGraphicFramePr>
          <p:cNvPr id="5" name="Table 4"/>
          <p:cNvGraphicFramePr>
            <a:graphicFrameLocks noGrp="1"/>
          </p:cNvGraphicFramePr>
          <p:nvPr>
            <p:extLst>
              <p:ext uri="{D42A27DB-BD31-4B8C-83A1-F6EECF244321}">
                <p14:modId xmlns:p14="http://schemas.microsoft.com/office/powerpoint/2010/main" val="1399459357"/>
              </p:ext>
            </p:extLst>
          </p:nvPr>
        </p:nvGraphicFramePr>
        <p:xfrm>
          <a:off x="762000" y="3429000"/>
          <a:ext cx="7696200" cy="1371599"/>
        </p:xfrm>
        <a:graphic>
          <a:graphicData uri="http://schemas.openxmlformats.org/drawingml/2006/table">
            <a:tbl>
              <a:tblPr firstRow="1" bandRow="1">
                <a:tableStyleId>{2D5ABB26-0587-4C30-8999-92F81FD0307C}</a:tableStyleId>
              </a:tblPr>
              <a:tblGrid>
                <a:gridCol w="3886200">
                  <a:extLst>
                    <a:ext uri="{9D8B030D-6E8A-4147-A177-3AD203B41FA5}">
                      <a16:colId xmlns:a16="http://schemas.microsoft.com/office/drawing/2014/main" val="20000"/>
                    </a:ext>
                  </a:extLst>
                </a:gridCol>
                <a:gridCol w="3810000">
                  <a:extLst>
                    <a:ext uri="{9D8B030D-6E8A-4147-A177-3AD203B41FA5}">
                      <a16:colId xmlns:a16="http://schemas.microsoft.com/office/drawing/2014/main" val="20001"/>
                    </a:ext>
                  </a:extLst>
                </a:gridCol>
              </a:tblGrid>
              <a:tr h="1371599">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b="1" i="1" u="none" dirty="0">
                          <a:solidFill>
                            <a:schemeClr val="tx1">
                              <a:lumMod val="65000"/>
                              <a:lumOff val="35000"/>
                            </a:schemeClr>
                          </a:solidFill>
                          <a:latin typeface="Liberation Serif" panose="02020603050405020304" pitchFamily="18" charset="0"/>
                          <a:ea typeface="Liberation Serif" panose="02020603050405020304" pitchFamily="18" charset="0"/>
                          <a:cs typeface="Liberation Serif" panose="02020603050405020304" pitchFamily="18" charset="0"/>
                        </a:rPr>
                        <a:t>Presented by</a:t>
                      </a:r>
                    </a:p>
                    <a:p>
                      <a:pPr marL="0" marR="0" indent="0" algn="ctr" defTabSz="914400" rtl="0" eaLnBrk="1" fontAlgn="auto" latinLnBrk="0" hangingPunct="1">
                        <a:lnSpc>
                          <a:spcPct val="100000"/>
                        </a:lnSpc>
                        <a:spcBef>
                          <a:spcPts val="0"/>
                        </a:spcBef>
                        <a:spcAft>
                          <a:spcPts val="200"/>
                        </a:spcAft>
                        <a:buClrTx/>
                        <a:buSzTx/>
                        <a:buFontTx/>
                        <a:buNone/>
                        <a:tabLst/>
                        <a:defRPr/>
                      </a:pPr>
                      <a:r>
                        <a:rPr lang="en-US" sz="1400" b="0" i="1" u="sng" dirty="0">
                          <a:solidFill>
                            <a:schemeClr val="tx1">
                              <a:lumMod val="65000"/>
                              <a:lumOff val="35000"/>
                            </a:schemeClr>
                          </a:solidFill>
                          <a:latin typeface="Liberation Serif" panose="02020603050405020304" pitchFamily="18" charset="0"/>
                          <a:ea typeface="Liberation Serif" panose="02020603050405020304" pitchFamily="18" charset="0"/>
                          <a:cs typeface="Liberation Serif" panose="02020603050405020304" pitchFamily="18" charset="0"/>
                        </a:rPr>
                        <a:t>A.I. Ikram</a:t>
                      </a:r>
                    </a:p>
                    <a:p>
                      <a:pPr marL="0" marR="0" indent="0" algn="ctr" defTabSz="914400" rtl="0" eaLnBrk="1" fontAlgn="auto" latinLnBrk="0" hangingPunct="1">
                        <a:lnSpc>
                          <a:spcPct val="100000"/>
                        </a:lnSpc>
                        <a:spcBef>
                          <a:spcPts val="0"/>
                        </a:spcBef>
                        <a:spcAft>
                          <a:spcPts val="0"/>
                        </a:spcAft>
                        <a:buClrTx/>
                        <a:buSzTx/>
                        <a:buFontTx/>
                        <a:buNone/>
                        <a:tabLst/>
                        <a:defRPr/>
                      </a:pPr>
                      <a:r>
                        <a:rPr lang="en-US" sz="1400" b="1" i="1" u="none" dirty="0">
                          <a:solidFill>
                            <a:schemeClr val="tx1">
                              <a:lumMod val="65000"/>
                              <a:lumOff val="35000"/>
                            </a:schemeClr>
                          </a:solidFill>
                          <a:latin typeface="Liberation Serif" panose="02020603050405020304" pitchFamily="18" charset="0"/>
                          <a:ea typeface="Liberation Serif" panose="02020603050405020304" pitchFamily="18" charset="0"/>
                          <a:cs typeface="Liberation Serif" panose="02020603050405020304" pitchFamily="18" charset="0"/>
                        </a:rPr>
                        <a:t>Authors</a:t>
                      </a:r>
                    </a:p>
                    <a:p>
                      <a:pPr algn="ctr"/>
                      <a:r>
                        <a:rPr lang="en-US" sz="1400" b="1" i="1" dirty="0">
                          <a:solidFill>
                            <a:srgbClr val="595959"/>
                          </a:solidFill>
                          <a:latin typeface="Liberation Serif" panose="02020603050405020304" pitchFamily="18" charset="0"/>
                          <a:ea typeface="Liberation Serif" panose="02020603050405020304" pitchFamily="18" charset="0"/>
                          <a:cs typeface="Liberation Serif" panose="02020603050405020304" pitchFamily="18" charset="0"/>
                        </a:rPr>
                        <a:t>A.I. Ikram</a:t>
                      </a:r>
                      <a:r>
                        <a:rPr lang="en-US" sz="1400" b="0" i="1" dirty="0">
                          <a:solidFill>
                            <a:srgbClr val="595959"/>
                          </a:solidFill>
                          <a:latin typeface="Liberation Serif" panose="02020603050405020304" pitchFamily="18" charset="0"/>
                          <a:ea typeface="Liberation Serif" panose="02020603050405020304" pitchFamily="18" charset="0"/>
                          <a:cs typeface="Liberation Serif" panose="02020603050405020304" pitchFamily="18" charset="0"/>
                        </a:rPr>
                        <a:t>*, A.W. Erfan, T. Khandaker, M.A.R. Reyad, S.E.A. Himu, M.M. Alam, M.S. Islam</a:t>
                      </a:r>
                    </a:p>
                  </a:txBody>
                  <a:tcP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600"/>
                        </a:spcAft>
                        <a:buClrTx/>
                        <a:buSzTx/>
                        <a:buFontTx/>
                        <a:buNone/>
                        <a:tabLst/>
                        <a:defRPr/>
                      </a:pPr>
                      <a:r>
                        <a:rPr lang="en-US" sz="1400" b="0" i="1" u="none" dirty="0">
                          <a:solidFill>
                            <a:schemeClr val="tx1">
                              <a:lumMod val="65000"/>
                              <a:lumOff val="35000"/>
                            </a:schemeClr>
                          </a:solidFill>
                          <a:latin typeface="Liberation Serif" panose="02020603050405020304" pitchFamily="18" charset="0"/>
                          <a:ea typeface="Liberation Serif" panose="02020603050405020304" pitchFamily="18" charset="0"/>
                          <a:cs typeface="Liberation Serif" panose="02020603050405020304" pitchFamily="18" charset="0"/>
                        </a:rPr>
                        <a:t>Submitted to</a:t>
                      </a:r>
                      <a:endParaRPr lang="en-US" sz="200" b="0" i="1" u="none" dirty="0">
                        <a:solidFill>
                          <a:schemeClr val="tx1">
                            <a:lumMod val="65000"/>
                            <a:lumOff val="35000"/>
                          </a:schemeClr>
                        </a:solidFill>
                        <a:latin typeface="Liberation Serif" panose="02020603050405020304" pitchFamily="18" charset="0"/>
                        <a:ea typeface="Liberation Serif" panose="02020603050405020304" pitchFamily="18" charset="0"/>
                        <a:cs typeface="Liberation Serif" panose="02020603050405020304" pitchFamily="18" charset="0"/>
                      </a:endParaRPr>
                    </a:p>
                    <a:p>
                      <a:pPr algn="ctr"/>
                      <a:r>
                        <a:rPr lang="en-US" sz="1400" b="1" i="1" dirty="0">
                          <a:solidFill>
                            <a:schemeClr val="accent1"/>
                          </a:solidFill>
                          <a:latin typeface="Liberation Serif" panose="02020603050405020304" pitchFamily="18" charset="0"/>
                          <a:ea typeface="Liberation Serif" panose="02020603050405020304" pitchFamily="18" charset="0"/>
                          <a:cs typeface="Liberation Serif" panose="02020603050405020304" pitchFamily="18" charset="0"/>
                        </a:rPr>
                        <a:t>Paper ID 1075</a:t>
                      </a:r>
                    </a:p>
                    <a:p>
                      <a:pPr algn="ctr"/>
                      <a:r>
                        <a:rPr lang="en-US" sz="1400" i="1" dirty="0">
                          <a:solidFill>
                            <a:schemeClr val="tx1">
                              <a:lumMod val="65000"/>
                              <a:lumOff val="35000"/>
                            </a:schemeClr>
                          </a:solidFill>
                          <a:latin typeface="Liberation Serif" panose="02020603050405020304" pitchFamily="18" charset="0"/>
                          <a:ea typeface="Liberation Serif" panose="02020603050405020304" pitchFamily="18" charset="0"/>
                          <a:cs typeface="Liberation Serif" panose="02020603050405020304" pitchFamily="18" charset="0"/>
                        </a:rPr>
                        <a:t>International Conference on Sustainable</a:t>
                      </a:r>
                    </a:p>
                    <a:p>
                      <a:pPr algn="ctr"/>
                      <a:r>
                        <a:rPr lang="en-US" sz="1400" i="1" dirty="0">
                          <a:solidFill>
                            <a:schemeClr val="tx1">
                              <a:lumMod val="65000"/>
                              <a:lumOff val="35000"/>
                            </a:schemeClr>
                          </a:solidFill>
                          <a:latin typeface="Liberation Serif" panose="02020603050405020304" pitchFamily="18" charset="0"/>
                          <a:ea typeface="Liberation Serif" panose="02020603050405020304" pitchFamily="18" charset="0"/>
                          <a:cs typeface="Liberation Serif" panose="02020603050405020304" pitchFamily="18" charset="0"/>
                        </a:rPr>
                        <a:t> Technologies for Industry 5.0 (STI)</a:t>
                      </a:r>
                    </a:p>
                  </a:txBody>
                  <a:tcP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p:sp>
        <p:nvSpPr>
          <p:cNvPr id="3" name="TextBox 2">
            <a:extLst>
              <a:ext uri="{FF2B5EF4-FFF2-40B4-BE49-F238E27FC236}">
                <a16:creationId xmlns:a16="http://schemas.microsoft.com/office/drawing/2014/main" id="{166F4DDE-4471-FBCD-2AE0-C04580C8BD1B}"/>
              </a:ext>
            </a:extLst>
          </p:cNvPr>
          <p:cNvSpPr txBox="1"/>
          <p:nvPr/>
        </p:nvSpPr>
        <p:spPr>
          <a:xfrm>
            <a:off x="1263534" y="690771"/>
            <a:ext cx="7194666" cy="707886"/>
          </a:xfrm>
          <a:prstGeom prst="rect">
            <a:avLst/>
          </a:prstGeom>
          <a:noFill/>
        </p:spPr>
        <p:txBody>
          <a:bodyPr wrap="square" rtlCol="0">
            <a:spAutoFit/>
          </a:bodyPr>
          <a:lstStyle/>
          <a:p>
            <a:pPr algn="ctr"/>
            <a:r>
              <a:rPr lang="en-US" sz="2000" b="1" dirty="0">
                <a:solidFill>
                  <a:schemeClr val="tx1">
                    <a:lumMod val="50000"/>
                    <a:lumOff val="50000"/>
                  </a:schemeClr>
                </a:solidFill>
                <a:cs typeface="Times New Roman" panose="02020603050405020304" pitchFamily="18" charset="0"/>
              </a:rPr>
              <a:t>2023 5th International Conference on Sustainable Technologies for Industry 5.0 (STI)</a:t>
            </a:r>
          </a:p>
        </p:txBody>
      </p:sp>
      <p:pic>
        <p:nvPicPr>
          <p:cNvPr id="4" name="Picture 2">
            <a:extLst>
              <a:ext uri="{FF2B5EF4-FFF2-40B4-BE49-F238E27FC236}">
                <a16:creationId xmlns:a16="http://schemas.microsoft.com/office/drawing/2014/main" id="{6622A559-E3CE-264B-CC91-950C8E45E159}"/>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85800" y="544721"/>
            <a:ext cx="1069008" cy="10690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97575058"/>
      </p:ext>
    </p:extLst>
  </p:cSld>
  <p:clrMapOvr>
    <a:masterClrMapping/>
  </p:clrMapOvr>
  <p:transition spd="slow">
    <p:push dir="u"/>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a:solidFill>
                  <a:schemeClr val="accent1"/>
                </a:solidFill>
                <a:latin typeface="Calibri" panose="020F0502020204030204" pitchFamily="34" charset="0"/>
                <a:cs typeface="Calibri" panose="020F0502020204030204" pitchFamily="34" charset="0"/>
              </a:rPr>
              <a:t>PRESENTATION OUTLINE</a:t>
            </a:r>
          </a:p>
        </p:txBody>
      </p:sp>
      <p:sp>
        <p:nvSpPr>
          <p:cNvPr id="3" name="Content Placeholder 2"/>
          <p:cNvSpPr>
            <a:spLocks noGrp="1"/>
          </p:cNvSpPr>
          <p:nvPr>
            <p:ph idx="1"/>
          </p:nvPr>
        </p:nvSpPr>
        <p:spPr/>
        <p:txBody>
          <a:bodyPr>
            <a:normAutofit/>
          </a:bodyPr>
          <a:lstStyle/>
          <a:p>
            <a:pPr>
              <a:spcBef>
                <a:spcPts val="600"/>
              </a:spcBef>
              <a:buFont typeface="Wingdings" panose="05000000000000000000" pitchFamily="2" charset="2"/>
              <a:buChar char="§"/>
            </a:pPr>
            <a:endParaRPr lang="en-US" sz="2000" dirty="0">
              <a:solidFill>
                <a:schemeClr val="tx1">
                  <a:lumMod val="65000"/>
                  <a:lumOff val="35000"/>
                </a:schemeClr>
              </a:solidFill>
              <a:latin typeface="Calibri" panose="020F0502020204030204" pitchFamily="34" charset="0"/>
              <a:cs typeface="Calibri" panose="020F0502020204030204" pitchFamily="34" charset="0"/>
            </a:endParaRPr>
          </a:p>
          <a:p>
            <a:pPr>
              <a:spcBef>
                <a:spcPts val="600"/>
              </a:spcBef>
              <a:buFont typeface="Wingdings" panose="05000000000000000000" pitchFamily="2" charset="2"/>
              <a:buChar char="§"/>
            </a:pPr>
            <a:r>
              <a:rPr lang="en-US" sz="2000" dirty="0">
                <a:solidFill>
                  <a:schemeClr val="tx1">
                    <a:lumMod val="65000"/>
                    <a:lumOff val="35000"/>
                  </a:schemeClr>
                </a:solidFill>
                <a:latin typeface="Calibri" panose="020F0502020204030204" pitchFamily="34" charset="0"/>
                <a:cs typeface="Calibri" panose="020F0502020204030204" pitchFamily="34" charset="0"/>
              </a:rPr>
              <a:t>Introduction</a:t>
            </a:r>
          </a:p>
          <a:p>
            <a:pPr>
              <a:spcBef>
                <a:spcPts val="600"/>
              </a:spcBef>
              <a:buFont typeface="Wingdings" panose="05000000000000000000" pitchFamily="2" charset="2"/>
              <a:buChar char="§"/>
            </a:pPr>
            <a:r>
              <a:rPr lang="en-US" sz="2000" dirty="0">
                <a:solidFill>
                  <a:schemeClr val="tx1">
                    <a:lumMod val="65000"/>
                    <a:lumOff val="35000"/>
                  </a:schemeClr>
                </a:solidFill>
                <a:latin typeface="Calibri" panose="020F0502020204030204" pitchFamily="34" charset="0"/>
                <a:cs typeface="Calibri" panose="020F0502020204030204" pitchFamily="34" charset="0"/>
              </a:rPr>
              <a:t>Literature reviews</a:t>
            </a:r>
          </a:p>
          <a:p>
            <a:pPr>
              <a:spcBef>
                <a:spcPts val="600"/>
              </a:spcBef>
              <a:buFont typeface="Wingdings" panose="05000000000000000000" pitchFamily="2" charset="2"/>
              <a:buChar char="§"/>
            </a:pPr>
            <a:r>
              <a:rPr lang="en-US" sz="2000" dirty="0">
                <a:solidFill>
                  <a:schemeClr val="tx1">
                    <a:lumMod val="65000"/>
                    <a:lumOff val="35000"/>
                  </a:schemeClr>
                </a:solidFill>
                <a:latin typeface="Calibri" panose="020F0502020204030204" pitchFamily="34" charset="0"/>
                <a:cs typeface="Calibri" panose="020F0502020204030204" pitchFamily="34" charset="0"/>
              </a:rPr>
              <a:t>Aims and objective</a:t>
            </a:r>
          </a:p>
          <a:p>
            <a:pPr>
              <a:spcBef>
                <a:spcPts val="600"/>
              </a:spcBef>
              <a:buFont typeface="Wingdings" panose="05000000000000000000" pitchFamily="2" charset="2"/>
              <a:buChar char="§"/>
            </a:pPr>
            <a:r>
              <a:rPr lang="en-US" sz="2000" dirty="0">
                <a:solidFill>
                  <a:schemeClr val="tx1">
                    <a:lumMod val="65000"/>
                    <a:lumOff val="35000"/>
                  </a:schemeClr>
                </a:solidFill>
                <a:latin typeface="Calibri" panose="020F0502020204030204" pitchFamily="34" charset="0"/>
                <a:cs typeface="Calibri" panose="020F0502020204030204" pitchFamily="34" charset="0"/>
              </a:rPr>
              <a:t>Methodology</a:t>
            </a:r>
          </a:p>
          <a:p>
            <a:pPr>
              <a:spcBef>
                <a:spcPts val="600"/>
              </a:spcBef>
              <a:buFont typeface="Wingdings" panose="05000000000000000000" pitchFamily="2" charset="2"/>
              <a:buChar char="§"/>
            </a:pPr>
            <a:r>
              <a:rPr lang="en-US" sz="2000" dirty="0">
                <a:solidFill>
                  <a:schemeClr val="tx1">
                    <a:lumMod val="65000"/>
                    <a:lumOff val="35000"/>
                  </a:schemeClr>
                </a:solidFill>
                <a:latin typeface="Calibri" panose="020F0502020204030204" pitchFamily="34" charset="0"/>
                <a:cs typeface="Calibri" panose="020F0502020204030204" pitchFamily="34" charset="0"/>
              </a:rPr>
              <a:t>Analysis Conditions</a:t>
            </a:r>
          </a:p>
          <a:p>
            <a:pPr>
              <a:spcBef>
                <a:spcPts val="600"/>
              </a:spcBef>
              <a:buFont typeface="Wingdings" panose="05000000000000000000" pitchFamily="2" charset="2"/>
              <a:buChar char="§"/>
            </a:pPr>
            <a:r>
              <a:rPr lang="en-US" sz="2000" dirty="0">
                <a:solidFill>
                  <a:schemeClr val="tx1">
                    <a:lumMod val="65000"/>
                    <a:lumOff val="35000"/>
                  </a:schemeClr>
                </a:solidFill>
                <a:latin typeface="Calibri" panose="020F0502020204030204" pitchFamily="34" charset="0"/>
                <a:cs typeface="Calibri" panose="020F0502020204030204" pitchFamily="34" charset="0"/>
              </a:rPr>
              <a:t>Results and simulations</a:t>
            </a:r>
          </a:p>
          <a:p>
            <a:pPr>
              <a:spcBef>
                <a:spcPts val="600"/>
              </a:spcBef>
              <a:buFont typeface="Wingdings" panose="05000000000000000000" pitchFamily="2" charset="2"/>
              <a:buChar char="§"/>
            </a:pPr>
            <a:r>
              <a:rPr lang="en-US" sz="2000" dirty="0">
                <a:solidFill>
                  <a:schemeClr val="tx1">
                    <a:lumMod val="65000"/>
                    <a:lumOff val="35000"/>
                  </a:schemeClr>
                </a:solidFill>
                <a:latin typeface="Calibri" panose="020F0502020204030204" pitchFamily="34" charset="0"/>
                <a:cs typeface="Calibri" panose="020F0502020204030204" pitchFamily="34" charset="0"/>
              </a:rPr>
              <a:t>Conclusions</a:t>
            </a:r>
          </a:p>
          <a:p>
            <a:pPr>
              <a:spcBef>
                <a:spcPts val="600"/>
              </a:spcBef>
              <a:buFont typeface="Wingdings" panose="05000000000000000000" pitchFamily="2" charset="2"/>
              <a:buChar char="§"/>
            </a:pPr>
            <a:r>
              <a:rPr lang="en-US" sz="2000" dirty="0">
                <a:solidFill>
                  <a:schemeClr val="tx1">
                    <a:lumMod val="65000"/>
                    <a:lumOff val="35000"/>
                  </a:schemeClr>
                </a:solidFill>
                <a:latin typeface="Calibri" panose="020F0502020204030204" pitchFamily="34" charset="0"/>
                <a:cs typeface="Calibri" panose="020F0502020204030204" pitchFamily="34" charset="0"/>
              </a:rPr>
              <a:t>References</a:t>
            </a:r>
          </a:p>
        </p:txBody>
      </p:sp>
      <p:cxnSp>
        <p:nvCxnSpPr>
          <p:cNvPr id="4" name="Straight Connector 3"/>
          <p:cNvCxnSpPr/>
          <p:nvPr/>
        </p:nvCxnSpPr>
        <p:spPr>
          <a:xfrm>
            <a:off x="457200" y="1447800"/>
            <a:ext cx="8229600" cy="0"/>
          </a:xfrm>
          <a:prstGeom prst="line">
            <a:avLst/>
          </a:prstGeom>
          <a:ln w="28575"/>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40438153"/>
      </p:ext>
    </p:extLst>
  </p:cSld>
  <p:clrMapOvr>
    <a:masterClrMapping/>
  </p:clrMapOvr>
  <p:transition spd="slow">
    <p:push dir="u"/>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noFill/>
          <a:ln>
            <a:noFill/>
          </a:ln>
        </p:spPr>
        <p:txBody>
          <a:bodyPr>
            <a:normAutofit/>
          </a:bodyPr>
          <a:lstStyle/>
          <a:p>
            <a:r>
              <a:rPr lang="en-US" sz="3600" dirty="0">
                <a:solidFill>
                  <a:schemeClr val="accent1"/>
                </a:solidFill>
                <a:latin typeface="Calibri" panose="020F0502020204030204" pitchFamily="34" charset="0"/>
                <a:cs typeface="Calibri" panose="020F0502020204030204" pitchFamily="34" charset="0"/>
              </a:rPr>
              <a:t>INTRODUCTION</a:t>
            </a:r>
          </a:p>
        </p:txBody>
      </p:sp>
      <p:sp>
        <p:nvSpPr>
          <p:cNvPr id="3" name="Content Placeholder 2"/>
          <p:cNvSpPr>
            <a:spLocks noGrp="1"/>
          </p:cNvSpPr>
          <p:nvPr>
            <p:ph idx="1"/>
          </p:nvPr>
        </p:nvSpPr>
        <p:spPr/>
        <p:txBody>
          <a:bodyPr>
            <a:normAutofit/>
          </a:bodyPr>
          <a:lstStyle/>
          <a:p>
            <a:pPr marL="0" indent="0" algn="just">
              <a:buNone/>
            </a:pPr>
            <a:endParaRPr lang="en-US" sz="2000" dirty="0">
              <a:solidFill>
                <a:schemeClr val="tx1">
                  <a:lumMod val="65000"/>
                  <a:lumOff val="35000"/>
                </a:schemeClr>
              </a:solidFill>
              <a:latin typeface="Calibri" panose="020F0502020204030204" pitchFamily="34" charset="0"/>
              <a:cs typeface="Calibri" panose="020F0502020204030204" pitchFamily="34" charset="0"/>
            </a:endParaRPr>
          </a:p>
          <a:p>
            <a:pPr marL="457200" indent="-457200" algn="just">
              <a:buFont typeface="Wingdings" pitchFamily="2" charset="2"/>
              <a:buChar char="§"/>
            </a:pPr>
            <a:r>
              <a:rPr lang="en-US" sz="2000" dirty="0">
                <a:solidFill>
                  <a:schemeClr val="tx1">
                    <a:lumMod val="65000"/>
                    <a:lumOff val="35000"/>
                  </a:schemeClr>
                </a:solidFill>
                <a:latin typeface="Calibri" panose="020F0502020204030204" pitchFamily="34" charset="0"/>
                <a:cs typeface="Calibri" panose="020F0502020204030204" pitchFamily="34" charset="0"/>
              </a:rPr>
              <a:t>Bangladesh is heavily relied on natural gas and coal to meet its power generation demand. </a:t>
            </a:r>
          </a:p>
          <a:p>
            <a:pPr marL="457200" indent="-457200" algn="just">
              <a:buFont typeface="Wingdings" pitchFamily="2" charset="2"/>
              <a:buChar char="§"/>
            </a:pPr>
            <a:r>
              <a:rPr lang="en-US" sz="2000" dirty="0">
                <a:solidFill>
                  <a:schemeClr val="tx1">
                    <a:lumMod val="65000"/>
                    <a:lumOff val="35000"/>
                  </a:schemeClr>
                </a:solidFill>
                <a:latin typeface="Calibri" panose="020F0502020204030204" pitchFamily="34" charset="0"/>
                <a:cs typeface="Calibri" panose="020F0502020204030204" pitchFamily="34" charset="0"/>
              </a:rPr>
              <a:t>Renewable technology proved its viability as an alternative solution for energy crisis that is yet to come due to limited natural gas resources and environmental concern. </a:t>
            </a:r>
          </a:p>
          <a:p>
            <a:pPr marL="457200" indent="-457200" algn="just">
              <a:buFont typeface="Wingdings" pitchFamily="2" charset="2"/>
              <a:buChar char="§"/>
            </a:pPr>
            <a:r>
              <a:rPr lang="en-US" sz="2000" dirty="0">
                <a:solidFill>
                  <a:schemeClr val="tx1">
                    <a:lumMod val="65000"/>
                    <a:lumOff val="35000"/>
                  </a:schemeClr>
                </a:solidFill>
                <a:latin typeface="Calibri" panose="020F0502020204030204" pitchFamily="34" charset="0"/>
                <a:cs typeface="Calibri" panose="020F0502020204030204" pitchFamily="34" charset="0"/>
              </a:rPr>
              <a:t>We find the urge to test the economic feasibility of grid-integrated hybrid renewable system for an industrial zone name KEPZ (Korean Export Processing Zone).</a:t>
            </a:r>
          </a:p>
        </p:txBody>
      </p:sp>
      <p:cxnSp>
        <p:nvCxnSpPr>
          <p:cNvPr id="5" name="Straight Connector 4"/>
          <p:cNvCxnSpPr/>
          <p:nvPr/>
        </p:nvCxnSpPr>
        <p:spPr>
          <a:xfrm>
            <a:off x="457200" y="1447800"/>
            <a:ext cx="8229600" cy="0"/>
          </a:xfrm>
          <a:prstGeom prst="line">
            <a:avLst/>
          </a:prstGeom>
          <a:ln w="28575"/>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81477866"/>
      </p:ext>
    </p:extLst>
  </p:cSld>
  <p:clrMapOvr>
    <a:masterClrMapping/>
  </p:clrMapOvr>
  <p:transition spd="slow">
    <p:push dir="u"/>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noFill/>
          <a:ln>
            <a:noFill/>
          </a:ln>
        </p:spPr>
        <p:txBody>
          <a:bodyPr>
            <a:normAutofit/>
          </a:bodyPr>
          <a:lstStyle/>
          <a:p>
            <a:r>
              <a:rPr lang="en-US" sz="3600" dirty="0">
                <a:solidFill>
                  <a:schemeClr val="accent1"/>
                </a:solidFill>
                <a:latin typeface="Calibri" panose="020F0502020204030204" pitchFamily="34" charset="0"/>
                <a:cs typeface="Calibri" panose="020F0502020204030204" pitchFamily="34" charset="0"/>
              </a:rPr>
              <a:t>LITERATURE REVIEW</a:t>
            </a:r>
            <a:endParaRPr lang="en-US" dirty="0">
              <a:solidFill>
                <a:schemeClr val="accent1"/>
              </a:solidFill>
              <a:latin typeface="Calibri" panose="020F0502020204030204" pitchFamily="34" charset="0"/>
              <a:cs typeface="Calibri" panose="020F0502020204030204" pitchFamily="34" charset="0"/>
            </a:endParaRP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3296146035"/>
              </p:ext>
            </p:extLst>
          </p:nvPr>
        </p:nvGraphicFramePr>
        <p:xfrm>
          <a:off x="381000" y="1600200"/>
          <a:ext cx="8305800" cy="5057140"/>
        </p:xfrm>
        <a:graphic>
          <a:graphicData uri="http://schemas.openxmlformats.org/drawingml/2006/table">
            <a:tbl>
              <a:tblPr firstRow="1" bandRow="1">
                <a:tableStyleId>{5C22544A-7EE6-4342-B048-85BDC9FD1C3A}</a:tableStyleId>
              </a:tblPr>
              <a:tblGrid>
                <a:gridCol w="297180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1905000">
                  <a:extLst>
                    <a:ext uri="{9D8B030D-6E8A-4147-A177-3AD203B41FA5}">
                      <a16:colId xmlns:a16="http://schemas.microsoft.com/office/drawing/2014/main" val="20002"/>
                    </a:ext>
                  </a:extLst>
                </a:gridCol>
                <a:gridCol w="1600200">
                  <a:extLst>
                    <a:ext uri="{9D8B030D-6E8A-4147-A177-3AD203B41FA5}">
                      <a16:colId xmlns:a16="http://schemas.microsoft.com/office/drawing/2014/main" val="20003"/>
                    </a:ext>
                  </a:extLst>
                </a:gridCol>
              </a:tblGrid>
              <a:tr h="393700">
                <a:tc>
                  <a:txBody>
                    <a:bodyPr/>
                    <a:lstStyle/>
                    <a:p>
                      <a:pPr algn="just"/>
                      <a:r>
                        <a:rPr lang="en-US" sz="1800" dirty="0">
                          <a:solidFill>
                            <a:srgbClr val="595959"/>
                          </a:solidFill>
                          <a:latin typeface="Calibri" panose="020F0502020204030204" pitchFamily="34" charset="0"/>
                          <a:cs typeface="Calibri" panose="020F0502020204030204" pitchFamily="34" charset="0"/>
                        </a:rPr>
                        <a:t>Title</a:t>
                      </a:r>
                    </a:p>
                  </a:txBody>
                  <a:tcPr/>
                </a:tc>
                <a:tc>
                  <a:txBody>
                    <a:bodyPr/>
                    <a:lstStyle/>
                    <a:p>
                      <a:pPr algn="just"/>
                      <a:r>
                        <a:rPr lang="en-US" sz="1800" dirty="0">
                          <a:solidFill>
                            <a:srgbClr val="595959"/>
                          </a:solidFill>
                          <a:latin typeface="Calibri" panose="020F0502020204030204" pitchFamily="34" charset="0"/>
                          <a:cs typeface="Calibri" panose="020F0502020204030204" pitchFamily="34" charset="0"/>
                        </a:rPr>
                        <a:t>Author</a:t>
                      </a:r>
                    </a:p>
                  </a:txBody>
                  <a:tcPr/>
                </a:tc>
                <a:tc>
                  <a:txBody>
                    <a:bodyPr/>
                    <a:lstStyle/>
                    <a:p>
                      <a:pPr algn="just"/>
                      <a:r>
                        <a:rPr lang="en-US" sz="1800" dirty="0">
                          <a:solidFill>
                            <a:srgbClr val="595959"/>
                          </a:solidFill>
                          <a:latin typeface="Calibri" panose="020F0502020204030204" pitchFamily="34" charset="0"/>
                          <a:cs typeface="Calibri" panose="020F0502020204030204" pitchFamily="34" charset="0"/>
                        </a:rPr>
                        <a:t>Contribution </a:t>
                      </a:r>
                    </a:p>
                  </a:txBody>
                  <a:tcPr/>
                </a:tc>
                <a:tc>
                  <a:txBody>
                    <a:bodyPr/>
                    <a:lstStyle/>
                    <a:p>
                      <a:pPr algn="just"/>
                      <a:r>
                        <a:rPr lang="en-US" sz="1800" dirty="0">
                          <a:solidFill>
                            <a:srgbClr val="595959"/>
                          </a:solidFill>
                          <a:latin typeface="Calibri" panose="020F0502020204030204" pitchFamily="34" charset="0"/>
                          <a:cs typeface="Calibri" panose="020F0502020204030204" pitchFamily="34" charset="0"/>
                        </a:rPr>
                        <a:t>Limitation</a:t>
                      </a:r>
                    </a:p>
                  </a:txBody>
                  <a:tcPr/>
                </a:tc>
                <a:extLst>
                  <a:ext uri="{0D108BD9-81ED-4DB2-BD59-A6C34878D82A}">
                    <a16:rowId xmlns:a16="http://schemas.microsoft.com/office/drawing/2014/main" val="10000"/>
                  </a:ext>
                </a:extLst>
              </a:tr>
              <a:tr h="393700">
                <a:tc>
                  <a:txBody>
                    <a:bodyPr/>
                    <a:lstStyle/>
                    <a:p>
                      <a:pPr algn="just"/>
                      <a:r>
                        <a:rPr lang="en-US" sz="1800" dirty="0">
                          <a:solidFill>
                            <a:srgbClr val="595959"/>
                          </a:solidFill>
                          <a:latin typeface="Calibri" panose="020F0502020204030204" pitchFamily="34" charset="0"/>
                          <a:cs typeface="Calibri" panose="020F0502020204030204" pitchFamily="34" charset="0"/>
                        </a:rPr>
                        <a:t>Floating Solar Photovoltaic System: An Overview</a:t>
                      </a:r>
                    </a:p>
                    <a:p>
                      <a:pPr algn="just"/>
                      <a:r>
                        <a:rPr lang="en-US" sz="1800" dirty="0">
                          <a:solidFill>
                            <a:srgbClr val="595959"/>
                          </a:solidFill>
                          <a:latin typeface="Calibri" panose="020F0502020204030204" pitchFamily="34" charset="0"/>
                          <a:cs typeface="Calibri" panose="020F0502020204030204" pitchFamily="34" charset="0"/>
                        </a:rPr>
                        <a:t>and their Feasibility at </a:t>
                      </a:r>
                      <a:r>
                        <a:rPr lang="en-US" sz="1800" dirty="0" err="1">
                          <a:solidFill>
                            <a:srgbClr val="595959"/>
                          </a:solidFill>
                          <a:latin typeface="Calibri" panose="020F0502020204030204" pitchFamily="34" charset="0"/>
                          <a:cs typeface="Calibri" panose="020F0502020204030204" pitchFamily="34" charset="0"/>
                        </a:rPr>
                        <a:t>Kaptai</a:t>
                      </a:r>
                      <a:r>
                        <a:rPr lang="en-US" sz="1800" dirty="0">
                          <a:solidFill>
                            <a:srgbClr val="595959"/>
                          </a:solidFill>
                          <a:latin typeface="Calibri" panose="020F0502020204030204" pitchFamily="34" charset="0"/>
                          <a:cs typeface="Calibri" panose="020F0502020204030204" pitchFamily="34" charset="0"/>
                        </a:rPr>
                        <a:t> in </a:t>
                      </a:r>
                      <a:r>
                        <a:rPr lang="en-US" sz="1800" dirty="0" err="1">
                          <a:solidFill>
                            <a:srgbClr val="595959"/>
                          </a:solidFill>
                          <a:latin typeface="Calibri" panose="020F0502020204030204" pitchFamily="34" charset="0"/>
                          <a:cs typeface="Calibri" panose="020F0502020204030204" pitchFamily="34" charset="0"/>
                        </a:rPr>
                        <a:t>Rangamati</a:t>
                      </a:r>
                      <a:r>
                        <a:rPr lang="en-US" sz="1800" dirty="0">
                          <a:solidFill>
                            <a:srgbClr val="595959"/>
                          </a:solidFill>
                          <a:latin typeface="Calibri" panose="020F0502020204030204" pitchFamily="34" charset="0"/>
                          <a:cs typeface="Calibri" panose="020F0502020204030204" pitchFamily="34" charset="0"/>
                        </a:rPr>
                        <a:t>.</a:t>
                      </a:r>
                    </a:p>
                  </a:txBody>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sz="1800" dirty="0" err="1">
                          <a:solidFill>
                            <a:srgbClr val="595959"/>
                          </a:solidFill>
                          <a:latin typeface="Calibri" panose="020F0502020204030204" pitchFamily="34" charset="0"/>
                          <a:cs typeface="Calibri" panose="020F0502020204030204" pitchFamily="34" charset="0"/>
                        </a:rPr>
                        <a:t>Raihan</a:t>
                      </a:r>
                      <a:r>
                        <a:rPr lang="en-US" sz="1800" baseline="0" dirty="0">
                          <a:solidFill>
                            <a:srgbClr val="595959"/>
                          </a:solidFill>
                          <a:latin typeface="Calibri" panose="020F0502020204030204" pitchFamily="34" charset="0"/>
                          <a:cs typeface="Calibri" panose="020F0502020204030204" pitchFamily="34" charset="0"/>
                        </a:rPr>
                        <a:t> </a:t>
                      </a:r>
                      <a:r>
                        <a:rPr lang="en-US" sz="1800" dirty="0" err="1">
                          <a:solidFill>
                            <a:srgbClr val="595959"/>
                          </a:solidFill>
                          <a:latin typeface="Calibri" panose="020F0502020204030204" pitchFamily="34" charset="0"/>
                          <a:cs typeface="Calibri" panose="020F0502020204030204" pitchFamily="34" charset="0"/>
                        </a:rPr>
                        <a:t>Chowdhury</a:t>
                      </a:r>
                      <a:r>
                        <a:rPr lang="en-US" sz="1800" dirty="0">
                          <a:solidFill>
                            <a:srgbClr val="595959"/>
                          </a:solidFill>
                          <a:latin typeface="Calibri" panose="020F0502020204030204" pitchFamily="34" charset="0"/>
                          <a:cs typeface="Calibri" panose="020F0502020204030204" pitchFamily="34" charset="0"/>
                        </a:rPr>
                        <a:t>,</a:t>
                      </a:r>
                      <a:r>
                        <a:rPr lang="en-US" sz="1800" baseline="0" dirty="0">
                          <a:solidFill>
                            <a:srgbClr val="595959"/>
                          </a:solidFill>
                          <a:latin typeface="Calibri" panose="020F0502020204030204" pitchFamily="34" charset="0"/>
                          <a:cs typeface="Calibri" panose="020F0502020204030204" pitchFamily="34" charset="0"/>
                        </a:rPr>
                        <a:t> </a:t>
                      </a:r>
                      <a:r>
                        <a:rPr lang="en-US" sz="1800" dirty="0">
                          <a:solidFill>
                            <a:srgbClr val="595959"/>
                          </a:solidFill>
                          <a:latin typeface="Calibri" panose="020F0502020204030204" pitchFamily="34" charset="0"/>
                          <a:cs typeface="Calibri" panose="020F0502020204030204" pitchFamily="34" charset="0"/>
                        </a:rPr>
                        <a:t>Md. Abdul </a:t>
                      </a:r>
                      <a:r>
                        <a:rPr lang="en-US" sz="1800" dirty="0" err="1">
                          <a:solidFill>
                            <a:srgbClr val="595959"/>
                          </a:solidFill>
                          <a:latin typeface="Calibri" panose="020F0502020204030204" pitchFamily="34" charset="0"/>
                          <a:cs typeface="Calibri" panose="020F0502020204030204" pitchFamily="34" charset="0"/>
                        </a:rPr>
                        <a:t>Aowal</a:t>
                      </a:r>
                      <a:r>
                        <a:rPr lang="en-US" sz="1800" dirty="0">
                          <a:solidFill>
                            <a:srgbClr val="595959"/>
                          </a:solidFill>
                          <a:latin typeface="Calibri" panose="020F0502020204030204" pitchFamily="34" charset="0"/>
                          <a:cs typeface="Calibri" panose="020F0502020204030204" pitchFamily="34" charset="0"/>
                        </a:rPr>
                        <a:t>,</a:t>
                      </a:r>
                      <a:r>
                        <a:rPr lang="en-US" sz="1800" baseline="0" dirty="0">
                          <a:solidFill>
                            <a:srgbClr val="595959"/>
                          </a:solidFill>
                          <a:latin typeface="Calibri" panose="020F0502020204030204" pitchFamily="34" charset="0"/>
                          <a:cs typeface="Calibri" panose="020F0502020204030204" pitchFamily="34" charset="0"/>
                        </a:rPr>
                        <a:t> </a:t>
                      </a:r>
                      <a:r>
                        <a:rPr lang="en-US" sz="1800" dirty="0">
                          <a:solidFill>
                            <a:srgbClr val="595959"/>
                          </a:solidFill>
                          <a:latin typeface="Calibri" panose="020F0502020204030204" pitchFamily="34" charset="0"/>
                          <a:cs typeface="Calibri" panose="020F0502020204030204" pitchFamily="34" charset="0"/>
                        </a:rPr>
                        <a:t>Sk. Md.</a:t>
                      </a:r>
                      <a:r>
                        <a:rPr lang="en-US" sz="1800" baseline="0" dirty="0">
                          <a:solidFill>
                            <a:srgbClr val="595959"/>
                          </a:solidFill>
                          <a:latin typeface="Calibri" panose="020F0502020204030204" pitchFamily="34" charset="0"/>
                          <a:cs typeface="Calibri" panose="020F0502020204030204" pitchFamily="34" charset="0"/>
                        </a:rPr>
                        <a:t> </a:t>
                      </a:r>
                      <a:r>
                        <a:rPr lang="en-US" sz="1800" dirty="0" err="1">
                          <a:solidFill>
                            <a:srgbClr val="595959"/>
                          </a:solidFill>
                          <a:latin typeface="Calibri" panose="020F0502020204030204" pitchFamily="34" charset="0"/>
                          <a:cs typeface="Calibri" panose="020F0502020204030204" pitchFamily="34" charset="0"/>
                        </a:rPr>
                        <a:t>Golam</a:t>
                      </a:r>
                      <a:r>
                        <a:rPr lang="en-US" sz="1800" dirty="0">
                          <a:solidFill>
                            <a:srgbClr val="595959"/>
                          </a:solidFill>
                          <a:latin typeface="Calibri" panose="020F0502020204030204" pitchFamily="34" charset="0"/>
                          <a:cs typeface="Calibri" panose="020F0502020204030204" pitchFamily="34" charset="0"/>
                        </a:rPr>
                        <a:t> </a:t>
                      </a:r>
                      <a:r>
                        <a:rPr lang="en-US" sz="1800" dirty="0" err="1">
                          <a:solidFill>
                            <a:srgbClr val="595959"/>
                          </a:solidFill>
                          <a:latin typeface="Calibri" panose="020F0502020204030204" pitchFamily="34" charset="0"/>
                          <a:cs typeface="Calibri" panose="020F0502020204030204" pitchFamily="34" charset="0"/>
                        </a:rPr>
                        <a:t>Mostafa</a:t>
                      </a:r>
                      <a:endParaRPr lang="en-US" sz="1800" dirty="0">
                        <a:solidFill>
                          <a:srgbClr val="595959"/>
                        </a:solidFill>
                        <a:latin typeface="Calibri" panose="020F0502020204030204" pitchFamily="34" charset="0"/>
                        <a:cs typeface="Calibri" panose="020F0502020204030204" pitchFamily="34" charset="0"/>
                      </a:endParaRPr>
                    </a:p>
                  </a:txBody>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sz="1800" dirty="0">
                          <a:solidFill>
                            <a:srgbClr val="595959"/>
                          </a:solidFill>
                          <a:latin typeface="Calibri" panose="020F0502020204030204" pitchFamily="34" charset="0"/>
                          <a:cs typeface="Calibri" panose="020F0502020204030204" pitchFamily="34" charset="0"/>
                        </a:rPr>
                        <a:t>Floating</a:t>
                      </a:r>
                      <a:r>
                        <a:rPr lang="en-US" sz="1800" baseline="0" dirty="0">
                          <a:solidFill>
                            <a:srgbClr val="595959"/>
                          </a:solidFill>
                          <a:latin typeface="Calibri" panose="020F0502020204030204" pitchFamily="34" charset="0"/>
                          <a:cs typeface="Calibri" panose="020F0502020204030204" pitchFamily="34" charset="0"/>
                        </a:rPr>
                        <a:t> solar viability and performance tested  </a:t>
                      </a:r>
                      <a:endParaRPr lang="en-US" sz="1800" dirty="0">
                        <a:solidFill>
                          <a:srgbClr val="595959"/>
                        </a:solidFill>
                        <a:latin typeface="Calibri" panose="020F0502020204030204" pitchFamily="34" charset="0"/>
                        <a:cs typeface="Calibri" panose="020F0502020204030204" pitchFamily="34" charset="0"/>
                      </a:endParaRPr>
                    </a:p>
                  </a:txBody>
                  <a:tcPr/>
                </a:tc>
                <a:tc>
                  <a:txBody>
                    <a:bodyPr/>
                    <a:lstStyle/>
                    <a:p>
                      <a:pPr algn="just"/>
                      <a:r>
                        <a:rPr lang="en-US" sz="1800" dirty="0">
                          <a:solidFill>
                            <a:srgbClr val="595959"/>
                          </a:solidFill>
                          <a:latin typeface="Calibri" panose="020F0502020204030204" pitchFamily="34" charset="0"/>
                          <a:cs typeface="Calibri" panose="020F0502020204030204" pitchFamily="34" charset="0"/>
                        </a:rPr>
                        <a:t>No economic feasibility tested.</a:t>
                      </a:r>
                    </a:p>
                  </a:txBody>
                  <a:tcPr/>
                </a:tc>
                <a:extLst>
                  <a:ext uri="{0D108BD9-81ED-4DB2-BD59-A6C34878D82A}">
                    <a16:rowId xmlns:a16="http://schemas.microsoft.com/office/drawing/2014/main" val="10001"/>
                  </a:ext>
                </a:extLst>
              </a:tr>
              <a:tr h="393700">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sz="1800" dirty="0">
                          <a:solidFill>
                            <a:srgbClr val="595959"/>
                          </a:solidFill>
                          <a:latin typeface="Calibri" panose="020F0502020204030204" pitchFamily="34" charset="0"/>
                          <a:cs typeface="Calibri" panose="020F0502020204030204" pitchFamily="34" charset="0"/>
                        </a:rPr>
                        <a:t>Feasibility study of an islanded </a:t>
                      </a:r>
                      <a:r>
                        <a:rPr lang="en-US" sz="1800" dirty="0" err="1">
                          <a:solidFill>
                            <a:srgbClr val="595959"/>
                          </a:solidFill>
                          <a:latin typeface="Calibri" panose="020F0502020204030204" pitchFamily="34" charset="0"/>
                          <a:cs typeface="Calibri" panose="020F0502020204030204" pitchFamily="34" charset="0"/>
                        </a:rPr>
                        <a:t>microgrid</a:t>
                      </a:r>
                      <a:r>
                        <a:rPr lang="en-US" sz="1800" dirty="0">
                          <a:solidFill>
                            <a:srgbClr val="595959"/>
                          </a:solidFill>
                          <a:latin typeface="Calibri" panose="020F0502020204030204" pitchFamily="34" charset="0"/>
                          <a:cs typeface="Calibri" panose="020F0502020204030204" pitchFamily="34" charset="0"/>
                        </a:rPr>
                        <a:t> in rural area consisting of </a:t>
                      </a:r>
                      <a:r>
                        <a:rPr lang="en-US" sz="1800" dirty="0" err="1">
                          <a:solidFill>
                            <a:srgbClr val="595959"/>
                          </a:solidFill>
                          <a:latin typeface="Calibri" panose="020F0502020204030204" pitchFamily="34" charset="0"/>
                          <a:cs typeface="Calibri" panose="020F0502020204030204" pitchFamily="34" charset="0"/>
                        </a:rPr>
                        <a:t>pv</a:t>
                      </a:r>
                      <a:r>
                        <a:rPr lang="en-US" sz="1800" dirty="0">
                          <a:solidFill>
                            <a:srgbClr val="595959"/>
                          </a:solidFill>
                          <a:latin typeface="Calibri" panose="020F0502020204030204" pitchFamily="34" charset="0"/>
                          <a:cs typeface="Calibri" panose="020F0502020204030204" pitchFamily="34" charset="0"/>
                        </a:rPr>
                        <a:t>, wind, biomass and battery energy storage system</a:t>
                      </a:r>
                    </a:p>
                  </a:txBody>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sz="1800" dirty="0">
                          <a:solidFill>
                            <a:srgbClr val="595959"/>
                          </a:solidFill>
                          <a:latin typeface="Calibri" panose="020F0502020204030204" pitchFamily="34" charset="0"/>
                          <a:cs typeface="Calibri" panose="020F0502020204030204" pitchFamily="34" charset="0"/>
                        </a:rPr>
                        <a:t>S. Singh, M. Singh, and S. C. </a:t>
                      </a:r>
                      <a:r>
                        <a:rPr lang="en-US" sz="1800" dirty="0" err="1">
                          <a:solidFill>
                            <a:srgbClr val="595959"/>
                          </a:solidFill>
                          <a:latin typeface="Calibri" panose="020F0502020204030204" pitchFamily="34" charset="0"/>
                          <a:cs typeface="Calibri" panose="020F0502020204030204" pitchFamily="34" charset="0"/>
                        </a:rPr>
                        <a:t>Kaushik</a:t>
                      </a:r>
                      <a:endParaRPr lang="en-US" sz="1800" dirty="0">
                        <a:solidFill>
                          <a:srgbClr val="595959"/>
                        </a:solidFill>
                        <a:latin typeface="Calibri" panose="020F0502020204030204" pitchFamily="34" charset="0"/>
                        <a:cs typeface="Calibri" panose="020F0502020204030204" pitchFamily="34" charset="0"/>
                      </a:endParaRPr>
                    </a:p>
                    <a:p>
                      <a:pPr algn="just"/>
                      <a:endParaRPr lang="en-US" sz="1800" dirty="0">
                        <a:solidFill>
                          <a:srgbClr val="595959"/>
                        </a:solidFill>
                        <a:latin typeface="Calibri" panose="020F0502020204030204" pitchFamily="34" charset="0"/>
                        <a:cs typeface="Calibri" panose="020F0502020204030204" pitchFamily="34" charset="0"/>
                      </a:endParaRPr>
                    </a:p>
                  </a:txBody>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sz="1800" dirty="0">
                          <a:solidFill>
                            <a:srgbClr val="595959"/>
                          </a:solidFill>
                          <a:latin typeface="Calibri" panose="020F0502020204030204" pitchFamily="34" charset="0"/>
                          <a:cs typeface="Calibri" panose="020F0502020204030204" pitchFamily="34" charset="0"/>
                        </a:rPr>
                        <a:t>Economic</a:t>
                      </a:r>
                      <a:r>
                        <a:rPr lang="en-US" sz="1800" baseline="0" dirty="0">
                          <a:solidFill>
                            <a:srgbClr val="595959"/>
                          </a:solidFill>
                          <a:latin typeface="Calibri" panose="020F0502020204030204" pitchFamily="34" charset="0"/>
                          <a:cs typeface="Calibri" panose="020F0502020204030204" pitchFamily="34" charset="0"/>
                        </a:rPr>
                        <a:t> feasibility with hybrid distributed generator</a:t>
                      </a:r>
                      <a:endParaRPr lang="en-US" sz="1800" dirty="0">
                        <a:solidFill>
                          <a:srgbClr val="595959"/>
                        </a:solidFill>
                        <a:latin typeface="Calibri" panose="020F0502020204030204" pitchFamily="34" charset="0"/>
                        <a:cs typeface="Calibri" panose="020F0502020204030204" pitchFamily="34" charset="0"/>
                      </a:endParaRPr>
                    </a:p>
                    <a:p>
                      <a:pPr algn="just"/>
                      <a:endParaRPr lang="en-US" sz="1800" dirty="0">
                        <a:solidFill>
                          <a:srgbClr val="595959"/>
                        </a:solidFill>
                        <a:latin typeface="Calibri" panose="020F0502020204030204" pitchFamily="34" charset="0"/>
                        <a:cs typeface="Calibri" panose="020F0502020204030204" pitchFamily="34" charset="0"/>
                      </a:endParaRPr>
                    </a:p>
                  </a:txBody>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sz="1800" dirty="0">
                          <a:solidFill>
                            <a:srgbClr val="595959"/>
                          </a:solidFill>
                          <a:latin typeface="Calibri" panose="020F0502020204030204" pitchFamily="34" charset="0"/>
                          <a:cs typeface="Calibri" panose="020F0502020204030204" pitchFamily="34" charset="0"/>
                        </a:rPr>
                        <a:t>No optimization</a:t>
                      </a:r>
                      <a:r>
                        <a:rPr lang="en-US" sz="1800" baseline="0" dirty="0">
                          <a:solidFill>
                            <a:srgbClr val="595959"/>
                          </a:solidFill>
                          <a:latin typeface="Calibri" panose="020F0502020204030204" pitchFamily="34" charset="0"/>
                          <a:cs typeface="Calibri" panose="020F0502020204030204" pitchFamily="34" charset="0"/>
                        </a:rPr>
                        <a:t> regarding operating cost.</a:t>
                      </a:r>
                      <a:endParaRPr lang="en-US" sz="1800" dirty="0">
                        <a:solidFill>
                          <a:srgbClr val="595959"/>
                        </a:solidFill>
                        <a:latin typeface="Calibri" panose="020F0502020204030204" pitchFamily="34" charset="0"/>
                        <a:cs typeface="Calibri" panose="020F0502020204030204" pitchFamily="34" charset="0"/>
                      </a:endParaRPr>
                    </a:p>
                    <a:p>
                      <a:pPr algn="just"/>
                      <a:endParaRPr lang="en-US" sz="1800" dirty="0">
                        <a:solidFill>
                          <a:srgbClr val="595959"/>
                        </a:solidFill>
                        <a:latin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10002"/>
                  </a:ext>
                </a:extLst>
              </a:tr>
              <a:tr h="393700">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sz="1800" dirty="0">
                          <a:solidFill>
                            <a:srgbClr val="595959"/>
                          </a:solidFill>
                          <a:latin typeface="Calibri" panose="020F0502020204030204" pitchFamily="34" charset="0"/>
                          <a:cs typeface="Calibri" panose="020F0502020204030204" pitchFamily="34" charset="0"/>
                        </a:rPr>
                        <a:t>Design and techno-economical optimization for hybrid </a:t>
                      </a:r>
                      <a:r>
                        <a:rPr lang="en-US" sz="1800" dirty="0" err="1">
                          <a:solidFill>
                            <a:srgbClr val="595959"/>
                          </a:solidFill>
                          <a:latin typeface="Calibri" panose="020F0502020204030204" pitchFamily="34" charset="0"/>
                          <a:cs typeface="Calibri" panose="020F0502020204030204" pitchFamily="34" charset="0"/>
                        </a:rPr>
                        <a:t>pv</a:t>
                      </a:r>
                      <a:r>
                        <a:rPr lang="en-US" sz="1800" dirty="0">
                          <a:solidFill>
                            <a:srgbClr val="595959"/>
                          </a:solidFill>
                          <a:latin typeface="Calibri" panose="020F0502020204030204" pitchFamily="34" charset="0"/>
                          <a:cs typeface="Calibri" panose="020F0502020204030204" pitchFamily="34" charset="0"/>
                        </a:rPr>
                        <a:t>/wind system under various meteorological conditions</a:t>
                      </a:r>
                    </a:p>
                  </a:txBody>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sz="1800" dirty="0">
                          <a:solidFill>
                            <a:srgbClr val="595959"/>
                          </a:solidFill>
                          <a:latin typeface="Calibri" panose="020F0502020204030204" pitchFamily="34" charset="0"/>
                          <a:cs typeface="Calibri" panose="020F0502020204030204" pitchFamily="34" charset="0"/>
                        </a:rPr>
                        <a:t>S. </a:t>
                      </a:r>
                      <a:r>
                        <a:rPr lang="en-US" sz="1800" dirty="0" err="1">
                          <a:solidFill>
                            <a:srgbClr val="595959"/>
                          </a:solidFill>
                          <a:latin typeface="Calibri" panose="020F0502020204030204" pitchFamily="34" charset="0"/>
                          <a:cs typeface="Calibri" panose="020F0502020204030204" pitchFamily="34" charset="0"/>
                        </a:rPr>
                        <a:t>Diaf</a:t>
                      </a:r>
                      <a:r>
                        <a:rPr lang="en-US" sz="1800" dirty="0">
                          <a:solidFill>
                            <a:srgbClr val="595959"/>
                          </a:solidFill>
                          <a:latin typeface="Calibri" panose="020F0502020204030204" pitchFamily="34" charset="0"/>
                          <a:cs typeface="Calibri" panose="020F0502020204030204" pitchFamily="34" charset="0"/>
                        </a:rPr>
                        <a:t>, G. </a:t>
                      </a:r>
                      <a:r>
                        <a:rPr lang="en-US" sz="1800" dirty="0" err="1">
                          <a:solidFill>
                            <a:srgbClr val="595959"/>
                          </a:solidFill>
                          <a:latin typeface="Calibri" panose="020F0502020204030204" pitchFamily="34" charset="0"/>
                          <a:cs typeface="Calibri" panose="020F0502020204030204" pitchFamily="34" charset="0"/>
                        </a:rPr>
                        <a:t>Notton</a:t>
                      </a:r>
                      <a:r>
                        <a:rPr lang="en-US" sz="1800" dirty="0">
                          <a:solidFill>
                            <a:srgbClr val="595959"/>
                          </a:solidFill>
                          <a:latin typeface="Calibri" panose="020F0502020204030204" pitchFamily="34" charset="0"/>
                          <a:cs typeface="Calibri" panose="020F0502020204030204" pitchFamily="34" charset="0"/>
                        </a:rPr>
                        <a:t>, M. </a:t>
                      </a:r>
                      <a:r>
                        <a:rPr lang="en-US" sz="1800" dirty="0" err="1">
                          <a:solidFill>
                            <a:srgbClr val="595959"/>
                          </a:solidFill>
                          <a:latin typeface="Calibri" panose="020F0502020204030204" pitchFamily="34" charset="0"/>
                          <a:cs typeface="Calibri" panose="020F0502020204030204" pitchFamily="34" charset="0"/>
                        </a:rPr>
                        <a:t>Belhamel</a:t>
                      </a:r>
                      <a:r>
                        <a:rPr lang="en-US" sz="1800" dirty="0">
                          <a:solidFill>
                            <a:srgbClr val="595959"/>
                          </a:solidFill>
                          <a:latin typeface="Calibri" panose="020F0502020204030204" pitchFamily="34" charset="0"/>
                          <a:cs typeface="Calibri" panose="020F0502020204030204" pitchFamily="34" charset="0"/>
                        </a:rPr>
                        <a:t>, M. </a:t>
                      </a:r>
                      <a:r>
                        <a:rPr lang="en-US" sz="1800" dirty="0" err="1">
                          <a:solidFill>
                            <a:srgbClr val="595959"/>
                          </a:solidFill>
                          <a:latin typeface="Calibri" panose="020F0502020204030204" pitchFamily="34" charset="0"/>
                          <a:cs typeface="Calibri" panose="020F0502020204030204" pitchFamily="34" charset="0"/>
                        </a:rPr>
                        <a:t>Haddadi</a:t>
                      </a:r>
                      <a:r>
                        <a:rPr lang="en-US" sz="1800" dirty="0">
                          <a:solidFill>
                            <a:srgbClr val="595959"/>
                          </a:solidFill>
                          <a:latin typeface="Calibri" panose="020F0502020204030204" pitchFamily="34" charset="0"/>
                          <a:cs typeface="Calibri" panose="020F0502020204030204" pitchFamily="34" charset="0"/>
                        </a:rPr>
                        <a:t>, and A. Louche</a:t>
                      </a:r>
                    </a:p>
                    <a:p>
                      <a:pPr algn="just"/>
                      <a:endParaRPr lang="en-US" sz="1800" dirty="0">
                        <a:solidFill>
                          <a:srgbClr val="595959"/>
                        </a:solidFill>
                        <a:latin typeface="Calibri" panose="020F0502020204030204" pitchFamily="34" charset="0"/>
                        <a:cs typeface="Calibri" panose="020F0502020204030204" pitchFamily="34" charset="0"/>
                      </a:endParaRPr>
                    </a:p>
                  </a:txBody>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sz="1800" dirty="0">
                          <a:solidFill>
                            <a:srgbClr val="595959"/>
                          </a:solidFill>
                          <a:latin typeface="Calibri" panose="020F0502020204030204" pitchFamily="34" charset="0"/>
                          <a:cs typeface="Calibri" panose="020F0502020204030204" pitchFamily="34" charset="0"/>
                        </a:rPr>
                        <a:t>Economic</a:t>
                      </a:r>
                      <a:r>
                        <a:rPr lang="en-US" sz="1800" baseline="0" dirty="0">
                          <a:solidFill>
                            <a:srgbClr val="595959"/>
                          </a:solidFill>
                          <a:latin typeface="Calibri" panose="020F0502020204030204" pitchFamily="34" charset="0"/>
                          <a:cs typeface="Calibri" panose="020F0502020204030204" pitchFamily="34" charset="0"/>
                        </a:rPr>
                        <a:t> feasibility and optimization</a:t>
                      </a:r>
                      <a:endParaRPr lang="en-US" sz="1800" dirty="0">
                        <a:solidFill>
                          <a:srgbClr val="595959"/>
                        </a:solidFill>
                        <a:latin typeface="Calibri" panose="020F0502020204030204" pitchFamily="34" charset="0"/>
                        <a:cs typeface="Calibri" panose="020F0502020204030204" pitchFamily="34" charset="0"/>
                      </a:endParaRPr>
                    </a:p>
                    <a:p>
                      <a:pPr algn="just"/>
                      <a:endParaRPr lang="en-US" sz="1800" b="1" dirty="0">
                        <a:solidFill>
                          <a:srgbClr val="595959"/>
                        </a:solidFill>
                        <a:latin typeface="Calibri" panose="020F0502020204030204" pitchFamily="34" charset="0"/>
                        <a:cs typeface="Calibri" panose="020F0502020204030204" pitchFamily="34" charset="0"/>
                      </a:endParaRPr>
                    </a:p>
                  </a:txBody>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sz="1800" dirty="0">
                          <a:solidFill>
                            <a:srgbClr val="595959"/>
                          </a:solidFill>
                          <a:latin typeface="Calibri" panose="020F0502020204030204" pitchFamily="34" charset="0"/>
                          <a:cs typeface="Calibri" panose="020F0502020204030204" pitchFamily="34" charset="0"/>
                        </a:rPr>
                        <a:t>No floating solar considered </a:t>
                      </a:r>
                    </a:p>
                    <a:p>
                      <a:pPr algn="just"/>
                      <a:endParaRPr lang="en-US" sz="1800" dirty="0">
                        <a:solidFill>
                          <a:srgbClr val="595959"/>
                        </a:solidFill>
                        <a:latin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10003"/>
                  </a:ext>
                </a:extLst>
              </a:tr>
            </a:tbl>
          </a:graphicData>
        </a:graphic>
      </p:graphicFrame>
      <p:cxnSp>
        <p:nvCxnSpPr>
          <p:cNvPr id="5" name="Straight Connector 4"/>
          <p:cNvCxnSpPr/>
          <p:nvPr/>
        </p:nvCxnSpPr>
        <p:spPr>
          <a:xfrm>
            <a:off x="457200" y="1447800"/>
            <a:ext cx="8229600" cy="0"/>
          </a:xfrm>
          <a:prstGeom prst="line">
            <a:avLst/>
          </a:prstGeom>
          <a:ln w="28575"/>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55909602"/>
      </p:ext>
    </p:extLst>
  </p:cSld>
  <p:clrMapOvr>
    <a:masterClrMapping/>
  </p:clrMapOvr>
  <p:transition spd="slow">
    <p:push dir="u"/>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noFill/>
          <a:ln>
            <a:noFill/>
          </a:ln>
        </p:spPr>
        <p:txBody>
          <a:bodyPr>
            <a:normAutofit/>
          </a:bodyPr>
          <a:lstStyle/>
          <a:p>
            <a:r>
              <a:rPr lang="en-US" sz="3600" dirty="0">
                <a:solidFill>
                  <a:schemeClr val="accent1"/>
                </a:solidFill>
                <a:latin typeface="Calibri" panose="020F0502020204030204" pitchFamily="34" charset="0"/>
                <a:cs typeface="Calibri" panose="020F0502020204030204" pitchFamily="34" charset="0"/>
              </a:rPr>
              <a:t>AIMS AND OBJECTIVES</a:t>
            </a:r>
            <a:endParaRPr lang="en-US" dirty="0">
              <a:solidFill>
                <a:schemeClr val="accent1"/>
              </a:solidFill>
              <a:latin typeface="Calibri" panose="020F0502020204030204" pitchFamily="34" charset="0"/>
              <a:cs typeface="Calibri" panose="020F0502020204030204" pitchFamily="34" charset="0"/>
            </a:endParaRPr>
          </a:p>
        </p:txBody>
      </p:sp>
      <p:sp>
        <p:nvSpPr>
          <p:cNvPr id="3" name="Content Placeholder 2"/>
          <p:cNvSpPr>
            <a:spLocks noGrp="1"/>
          </p:cNvSpPr>
          <p:nvPr>
            <p:ph idx="1"/>
          </p:nvPr>
        </p:nvSpPr>
        <p:spPr/>
        <p:txBody>
          <a:bodyPr>
            <a:normAutofit/>
          </a:bodyPr>
          <a:lstStyle/>
          <a:p>
            <a:pPr marL="0" indent="0" algn="just">
              <a:buNone/>
            </a:pPr>
            <a:endParaRPr lang="en-US" sz="2000" dirty="0">
              <a:solidFill>
                <a:srgbClr val="595959"/>
              </a:solidFill>
              <a:latin typeface="Calibri" panose="020F0502020204030204" pitchFamily="34" charset="0"/>
              <a:ea typeface="Calibri" panose="020F0502020204030204" pitchFamily="34" charset="0"/>
              <a:cs typeface="Calibri" panose="020F0502020204030204" pitchFamily="34" charset="0"/>
            </a:endParaRPr>
          </a:p>
          <a:p>
            <a:pPr algn="just">
              <a:buFont typeface="Wingdings" panose="05000000000000000000" pitchFamily="2" charset="2"/>
              <a:buChar char="Ø"/>
            </a:pPr>
            <a:r>
              <a:rPr lang="en-US" sz="2000" dirty="0">
                <a:solidFill>
                  <a:srgbClr val="595959"/>
                </a:solidFill>
                <a:latin typeface="Calibri" panose="020F0502020204030204" pitchFamily="34" charset="0"/>
                <a:ea typeface="Calibri" panose="020F0502020204030204" pitchFamily="34" charset="0"/>
                <a:cs typeface="Calibri" panose="020F0502020204030204" pitchFamily="34" charset="0"/>
              </a:rPr>
              <a:t> To design of model comprised of grid-connected floating solar PV, and WT that can calculate hourly generation from given resource data.</a:t>
            </a:r>
          </a:p>
          <a:p>
            <a:pPr algn="just">
              <a:buFont typeface="Wingdings" panose="05000000000000000000" pitchFamily="2" charset="2"/>
              <a:buChar char="Ø"/>
            </a:pPr>
            <a:r>
              <a:rPr lang="en-US" sz="2000" dirty="0">
                <a:solidFill>
                  <a:srgbClr val="595959"/>
                </a:solidFill>
                <a:latin typeface="Calibri" panose="020F0502020204030204" pitchFamily="34" charset="0"/>
                <a:ea typeface="Calibri" panose="020F0502020204030204" pitchFamily="34" charset="0"/>
                <a:cs typeface="Calibri" panose="020F0502020204030204" pitchFamily="34" charset="0"/>
              </a:rPr>
              <a:t> To use GWO algorithm to minimize the upfront cost of that system and levelized cost of energy.</a:t>
            </a:r>
          </a:p>
          <a:p>
            <a:pPr algn="just">
              <a:buFont typeface="Wingdings" panose="05000000000000000000" pitchFamily="2" charset="2"/>
              <a:buChar char="Ø"/>
            </a:pPr>
            <a:r>
              <a:rPr lang="en-US" sz="2000" dirty="0">
                <a:solidFill>
                  <a:srgbClr val="595959"/>
                </a:solidFill>
                <a:latin typeface="Calibri" panose="020F0502020204030204" pitchFamily="34" charset="0"/>
                <a:ea typeface="Calibri" panose="020F0502020204030204" pitchFamily="34" charset="0"/>
                <a:cs typeface="Calibri" panose="020F0502020204030204" pitchFamily="34" charset="0"/>
              </a:rPr>
              <a:t> To do an economical analysis of the system and a comparison with similar studies. </a:t>
            </a:r>
          </a:p>
        </p:txBody>
      </p:sp>
      <p:cxnSp>
        <p:nvCxnSpPr>
          <p:cNvPr id="5" name="Straight Connector 4"/>
          <p:cNvCxnSpPr/>
          <p:nvPr/>
        </p:nvCxnSpPr>
        <p:spPr>
          <a:xfrm>
            <a:off x="457200" y="1447800"/>
            <a:ext cx="8229600" cy="0"/>
          </a:xfrm>
          <a:prstGeom prst="line">
            <a:avLst/>
          </a:prstGeom>
          <a:ln w="28575"/>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78685224"/>
      </p:ext>
    </p:extLst>
  </p:cSld>
  <p:clrMapOvr>
    <a:masterClrMapping/>
  </p:clrMapOvr>
  <p:transition spd="slow">
    <p:push dir="u"/>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noFill/>
          <a:ln>
            <a:noFill/>
          </a:ln>
        </p:spPr>
        <p:txBody>
          <a:bodyPr>
            <a:normAutofit/>
          </a:bodyPr>
          <a:lstStyle/>
          <a:p>
            <a:r>
              <a:rPr lang="en-US" sz="3600" dirty="0">
                <a:solidFill>
                  <a:schemeClr val="accent1"/>
                </a:solidFill>
                <a:latin typeface="Calibri" panose="020F0502020204030204" pitchFamily="34" charset="0"/>
                <a:cs typeface="Calibri" panose="020F0502020204030204" pitchFamily="34" charset="0"/>
              </a:rPr>
              <a:t>METHODOLOGY </a:t>
            </a:r>
            <a:r>
              <a:rPr lang="en-US" dirty="0">
                <a:solidFill>
                  <a:schemeClr val="accent1"/>
                </a:solidFill>
                <a:latin typeface="Calibri" panose="020F0502020204030204" pitchFamily="34" charset="0"/>
                <a:cs typeface="Calibri" panose="020F0502020204030204" pitchFamily="34" charset="0"/>
              </a:rPr>
              <a:t>(CONT.)</a:t>
            </a:r>
          </a:p>
        </p:txBody>
      </p:sp>
      <p:sp>
        <p:nvSpPr>
          <p:cNvPr id="3" name="Content Placeholder 2"/>
          <p:cNvSpPr>
            <a:spLocks noGrp="1"/>
          </p:cNvSpPr>
          <p:nvPr>
            <p:ph idx="1"/>
          </p:nvPr>
        </p:nvSpPr>
        <p:spPr>
          <a:xfrm>
            <a:off x="6095999" y="1981200"/>
            <a:ext cx="2971801" cy="4267200"/>
          </a:xfrm>
        </p:spPr>
        <p:txBody>
          <a:bodyPr>
            <a:normAutofit/>
          </a:bodyPr>
          <a:lstStyle/>
          <a:p>
            <a:pPr marL="0" indent="0">
              <a:buNone/>
            </a:pPr>
            <a:r>
              <a:rPr lang="en-US" sz="1800" u="sng" dirty="0">
                <a:solidFill>
                  <a:schemeClr val="tx1">
                    <a:lumMod val="65000"/>
                    <a:lumOff val="35000"/>
                  </a:schemeClr>
                </a:solidFill>
                <a:latin typeface="Calibri" panose="020F0502020204030204" pitchFamily="34" charset="0"/>
                <a:cs typeface="Calibri" panose="020F0502020204030204" pitchFamily="34" charset="0"/>
              </a:rPr>
              <a:t>Input</a:t>
            </a:r>
          </a:p>
          <a:p>
            <a:pPr>
              <a:buFont typeface="Wingdings" panose="05000000000000000000" pitchFamily="2" charset="2"/>
              <a:buChar char="§"/>
            </a:pPr>
            <a:r>
              <a:rPr lang="en-US" sz="1800" dirty="0">
                <a:solidFill>
                  <a:schemeClr val="tx1">
                    <a:lumMod val="65000"/>
                    <a:lumOff val="35000"/>
                  </a:schemeClr>
                </a:solidFill>
                <a:latin typeface="Calibri" panose="020F0502020204030204" pitchFamily="34" charset="0"/>
                <a:cs typeface="Calibri" panose="020F0502020204030204" pitchFamily="34" charset="0"/>
              </a:rPr>
              <a:t>Hourly metrological data</a:t>
            </a:r>
          </a:p>
          <a:p>
            <a:pPr>
              <a:buFont typeface="Wingdings" panose="05000000000000000000" pitchFamily="2" charset="2"/>
              <a:buChar char="§"/>
            </a:pPr>
            <a:r>
              <a:rPr lang="en-US" sz="1800" dirty="0">
                <a:solidFill>
                  <a:schemeClr val="tx1">
                    <a:lumMod val="65000"/>
                    <a:lumOff val="35000"/>
                  </a:schemeClr>
                </a:solidFill>
                <a:latin typeface="Calibri" panose="020F0502020204030204" pitchFamily="34" charset="0"/>
                <a:cs typeface="Calibri" panose="020F0502020204030204" pitchFamily="34" charset="0"/>
              </a:rPr>
              <a:t>Load demand data collected</a:t>
            </a:r>
          </a:p>
          <a:p>
            <a:pPr marL="0" indent="0">
              <a:buNone/>
            </a:pPr>
            <a:r>
              <a:rPr lang="en-US" sz="1800" u="sng" dirty="0">
                <a:solidFill>
                  <a:schemeClr val="tx1">
                    <a:lumMod val="65000"/>
                    <a:lumOff val="35000"/>
                  </a:schemeClr>
                </a:solidFill>
                <a:latin typeface="Calibri" panose="020F0502020204030204" pitchFamily="34" charset="0"/>
                <a:cs typeface="Calibri" panose="020F0502020204030204" pitchFamily="34" charset="0"/>
              </a:rPr>
              <a:t>Model</a:t>
            </a:r>
          </a:p>
          <a:p>
            <a:pPr>
              <a:buFont typeface="Wingdings" panose="05000000000000000000" pitchFamily="2" charset="2"/>
              <a:buChar char="§"/>
            </a:pPr>
            <a:r>
              <a:rPr lang="en-US" sz="1800" dirty="0">
                <a:solidFill>
                  <a:schemeClr val="tx1">
                    <a:lumMod val="65000"/>
                    <a:lumOff val="35000"/>
                  </a:schemeClr>
                </a:solidFill>
                <a:latin typeface="Calibri" panose="020F0502020204030204" pitchFamily="34" charset="0"/>
                <a:cs typeface="Calibri" panose="020F0502020204030204" pitchFamily="34" charset="0"/>
              </a:rPr>
              <a:t>Floating PV and WT mathematical model</a:t>
            </a:r>
          </a:p>
          <a:p>
            <a:pPr>
              <a:buFont typeface="Wingdings" panose="05000000000000000000" pitchFamily="2" charset="2"/>
              <a:buChar char="§"/>
            </a:pPr>
            <a:r>
              <a:rPr lang="en-US" sz="1800" dirty="0">
                <a:solidFill>
                  <a:schemeClr val="tx1">
                    <a:lumMod val="65000"/>
                    <a:lumOff val="35000"/>
                  </a:schemeClr>
                </a:solidFill>
                <a:latin typeface="Calibri" panose="020F0502020204030204" pitchFamily="34" charset="0"/>
                <a:cs typeface="Calibri" panose="020F0502020204030204" pitchFamily="34" charset="0"/>
              </a:rPr>
              <a:t>GWO algorithm model</a:t>
            </a:r>
          </a:p>
          <a:p>
            <a:pPr marL="0" indent="0">
              <a:buNone/>
            </a:pPr>
            <a:r>
              <a:rPr lang="en-US" sz="1800" u="sng" dirty="0">
                <a:solidFill>
                  <a:schemeClr val="tx1">
                    <a:lumMod val="65000"/>
                    <a:lumOff val="35000"/>
                  </a:schemeClr>
                </a:solidFill>
                <a:latin typeface="Calibri" panose="020F0502020204030204" pitchFamily="34" charset="0"/>
                <a:cs typeface="Calibri" panose="020F0502020204030204" pitchFamily="34" charset="0"/>
              </a:rPr>
              <a:t>Output</a:t>
            </a:r>
          </a:p>
          <a:p>
            <a:pPr>
              <a:buFont typeface="Wingdings" panose="05000000000000000000" pitchFamily="2" charset="2"/>
              <a:buChar char="§"/>
            </a:pPr>
            <a:r>
              <a:rPr lang="en-US" sz="1800" dirty="0">
                <a:solidFill>
                  <a:schemeClr val="tx1">
                    <a:lumMod val="65000"/>
                    <a:lumOff val="35000"/>
                  </a:schemeClr>
                </a:solidFill>
                <a:latin typeface="Calibri" panose="020F0502020204030204" pitchFamily="34" charset="0"/>
                <a:cs typeface="Calibri" panose="020F0502020204030204" pitchFamily="34" charset="0"/>
              </a:rPr>
              <a:t>Economically feasible system</a:t>
            </a:r>
          </a:p>
          <a:p>
            <a:pPr>
              <a:buFont typeface="Wingdings" panose="05000000000000000000" pitchFamily="2" charset="2"/>
              <a:buChar char="§"/>
            </a:pPr>
            <a:r>
              <a:rPr lang="en-US" sz="1800" dirty="0">
                <a:solidFill>
                  <a:schemeClr val="tx1">
                    <a:lumMod val="65000"/>
                    <a:lumOff val="35000"/>
                  </a:schemeClr>
                </a:solidFill>
                <a:latin typeface="Calibri" panose="020F0502020204030204" pitchFamily="34" charset="0"/>
                <a:cs typeface="Calibri" panose="020F0502020204030204" pitchFamily="34" charset="0"/>
              </a:rPr>
              <a:t>Optimal operating cost</a:t>
            </a:r>
          </a:p>
        </p:txBody>
      </p:sp>
      <p:cxnSp>
        <p:nvCxnSpPr>
          <p:cNvPr id="5" name="Straight Connector 4"/>
          <p:cNvCxnSpPr/>
          <p:nvPr/>
        </p:nvCxnSpPr>
        <p:spPr>
          <a:xfrm>
            <a:off x="457200" y="1447800"/>
            <a:ext cx="8229600"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9" name="Content Placeholder 2"/>
          <p:cNvSpPr txBox="1">
            <a:spLocks/>
          </p:cNvSpPr>
          <p:nvPr/>
        </p:nvSpPr>
        <p:spPr>
          <a:xfrm>
            <a:off x="457200" y="1600200"/>
            <a:ext cx="8229600" cy="4876800"/>
          </a:xfrm>
          <a:prstGeom prst="rect">
            <a:avLst/>
          </a:prstGeom>
        </p:spPr>
        <p:txBody>
          <a:bodyPr vert="horz" lIns="91440" tIns="45720" rIns="91440" bIns="45720" rtlCol="0">
            <a:normAutofit/>
          </a:bodyPr>
          <a:lstStyle>
            <a:lvl1pPr marL="182880" indent="-182880" algn="l" defTabSz="914400" rtl="0" eaLnBrk="1" latinLnBrk="0" hangingPunct="1">
              <a:spcBef>
                <a:spcPct val="20000"/>
              </a:spcBef>
              <a:buClr>
                <a:schemeClr val="accent1"/>
              </a:buClr>
              <a:buSzPct val="85000"/>
              <a:buFont typeface="Arial" pitchFamily="34" charset="0"/>
              <a:buChar char="•"/>
              <a:defRPr sz="2400" kern="1200">
                <a:solidFill>
                  <a:schemeClr val="tx1"/>
                </a:solidFill>
                <a:latin typeface="+mn-lt"/>
                <a:ea typeface="+mn-ea"/>
                <a:cs typeface="+mn-cs"/>
              </a:defRPr>
            </a:lvl1pPr>
            <a:lvl2pPr marL="457200" indent="-182880" algn="l" defTabSz="914400" rtl="0" eaLnBrk="1" latinLnBrk="0" hangingPunct="1">
              <a:spcBef>
                <a:spcPct val="20000"/>
              </a:spcBef>
              <a:buClr>
                <a:schemeClr val="accent1"/>
              </a:buClr>
              <a:buSzPct val="85000"/>
              <a:buFont typeface="Arial" pitchFamily="34" charset="0"/>
              <a:buChar char="•"/>
              <a:defRPr sz="2000" kern="1200">
                <a:solidFill>
                  <a:schemeClr val="tx1"/>
                </a:solidFill>
                <a:latin typeface="+mn-lt"/>
                <a:ea typeface="+mn-ea"/>
                <a:cs typeface="+mn-cs"/>
              </a:defRPr>
            </a:lvl2pPr>
            <a:lvl3pPr marL="731520" indent="-182880" algn="l" defTabSz="914400" rtl="0" eaLnBrk="1" latinLnBrk="0" hangingPunct="1">
              <a:spcBef>
                <a:spcPct val="20000"/>
              </a:spcBef>
              <a:buClr>
                <a:schemeClr val="accent1"/>
              </a:buClr>
              <a:buSzPct val="90000"/>
              <a:buFont typeface="Arial" pitchFamily="34" charset="0"/>
              <a:buChar char="•"/>
              <a:defRPr sz="1800" kern="1200">
                <a:solidFill>
                  <a:schemeClr val="tx1"/>
                </a:solidFill>
                <a:latin typeface="+mn-lt"/>
                <a:ea typeface="+mn-ea"/>
                <a:cs typeface="+mn-cs"/>
              </a:defRPr>
            </a:lvl3pPr>
            <a:lvl4pPr marL="1005840" indent="-182880" algn="l" defTabSz="914400" rtl="0" eaLnBrk="1" latinLnBrk="0" hangingPunct="1">
              <a:spcBef>
                <a:spcPct val="20000"/>
              </a:spcBef>
              <a:buClr>
                <a:schemeClr val="accent1"/>
              </a:buClr>
              <a:buFont typeface="Arial" pitchFamily="34" charset="0"/>
              <a:buChar char="•"/>
              <a:defRPr sz="1600" kern="1200">
                <a:solidFill>
                  <a:schemeClr val="tx1"/>
                </a:solidFill>
                <a:latin typeface="+mn-lt"/>
                <a:ea typeface="+mn-ea"/>
                <a:cs typeface="+mn-cs"/>
              </a:defRPr>
            </a:lvl4pPr>
            <a:lvl5pPr marL="1188720" indent="-137160" algn="l" defTabSz="914400" rtl="0" eaLnBrk="1" latinLnBrk="0" hangingPunct="1">
              <a:spcBef>
                <a:spcPct val="20000"/>
              </a:spcBef>
              <a:buClr>
                <a:schemeClr val="accent1"/>
              </a:buClr>
              <a:buSzPct val="100000"/>
              <a:buFont typeface="Arial" pitchFamily="34" charset="0"/>
              <a:buChar char="•"/>
              <a:defRPr sz="1400" kern="1200" baseline="0">
                <a:solidFill>
                  <a:schemeClr val="tx1"/>
                </a:solidFill>
                <a:latin typeface="+mn-lt"/>
                <a:ea typeface="+mn-ea"/>
                <a:cs typeface="+mn-cs"/>
              </a:defRPr>
            </a:lvl5pPr>
            <a:lvl6pPr marL="137160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6pPr>
            <a:lvl7pPr marL="155448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7pPr>
            <a:lvl8pPr marL="173736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8pPr>
            <a:lvl9pPr marL="192024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9pPr>
          </a:lstStyle>
          <a:p>
            <a:pPr marL="0" indent="0" algn="just">
              <a:buFont typeface="Arial" pitchFamily="34" charset="0"/>
              <a:buNone/>
            </a:pPr>
            <a:endParaRPr lang="en-US" sz="2000" dirty="0">
              <a:solidFill>
                <a:schemeClr val="tx1">
                  <a:lumMod val="65000"/>
                  <a:lumOff val="35000"/>
                </a:schemeClr>
              </a:solidFill>
              <a:latin typeface="Calibri" panose="020F0502020204030204" pitchFamily="34" charset="0"/>
              <a:cs typeface="Calibri" panose="020F0502020204030204" pitchFamily="34" charset="0"/>
            </a:endParaRPr>
          </a:p>
          <a:p>
            <a:pPr marL="0" indent="0" algn="just">
              <a:buFont typeface="Arial" pitchFamily="34" charset="0"/>
              <a:buNone/>
            </a:pPr>
            <a:endParaRPr lang="en-US" sz="2000" dirty="0">
              <a:solidFill>
                <a:schemeClr val="tx1">
                  <a:lumMod val="65000"/>
                  <a:lumOff val="35000"/>
                </a:schemeClr>
              </a:solidFill>
              <a:latin typeface="Calibri" panose="020F0502020204030204" pitchFamily="34" charset="0"/>
              <a:cs typeface="Calibri" panose="020F0502020204030204" pitchFamily="34" charset="0"/>
            </a:endParaRPr>
          </a:p>
        </p:txBody>
      </p:sp>
      <p:grpSp>
        <p:nvGrpSpPr>
          <p:cNvPr id="10" name="Group 9"/>
          <p:cNvGrpSpPr/>
          <p:nvPr/>
        </p:nvGrpSpPr>
        <p:grpSpPr>
          <a:xfrm>
            <a:off x="381000" y="1905000"/>
            <a:ext cx="5494586" cy="4159070"/>
            <a:chOff x="1267828" y="1676400"/>
            <a:chExt cx="6648450" cy="4574977"/>
          </a:xfrm>
        </p:grpSpPr>
        <p:pic>
          <p:nvPicPr>
            <p:cNvPr id="11" name="Picture 2"/>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a:stretch/>
          </p:blipFill>
          <p:spPr bwMode="auto">
            <a:xfrm>
              <a:off x="1267828" y="1676400"/>
              <a:ext cx="6648450" cy="426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2" name="TextBox 11"/>
            <p:cNvSpPr txBox="1"/>
            <p:nvPr/>
          </p:nvSpPr>
          <p:spPr>
            <a:xfrm>
              <a:off x="3641953" y="5943600"/>
              <a:ext cx="1900200" cy="307777"/>
            </a:xfrm>
            <a:prstGeom prst="rect">
              <a:avLst/>
            </a:prstGeom>
            <a:noFill/>
          </p:spPr>
          <p:txBody>
            <a:bodyPr wrap="none" rtlCol="0">
              <a:spAutoFit/>
            </a:bodyPr>
            <a:lstStyle/>
            <a:p>
              <a:r>
                <a:rPr lang="en-US" sz="1400" b="1" dirty="0">
                  <a:latin typeface="Calibri" panose="020F0502020204030204" pitchFamily="34" charset="0"/>
                  <a:cs typeface="Calibri" panose="020F0502020204030204" pitchFamily="34" charset="0"/>
                </a:rPr>
                <a:t>Fig 1 </a:t>
              </a:r>
              <a:r>
                <a:rPr lang="en-US" sz="1400" dirty="0">
                  <a:latin typeface="Calibri" panose="020F0502020204030204" pitchFamily="34" charset="0"/>
                  <a:cs typeface="Calibri" panose="020F0502020204030204" pitchFamily="34" charset="0"/>
                </a:rPr>
                <a:t>– Proposed Model</a:t>
              </a:r>
            </a:p>
          </p:txBody>
        </p:sp>
      </p:grpSp>
      <p:cxnSp>
        <p:nvCxnSpPr>
          <p:cNvPr id="13" name="Straight Connector 12"/>
          <p:cNvCxnSpPr/>
          <p:nvPr/>
        </p:nvCxnSpPr>
        <p:spPr>
          <a:xfrm>
            <a:off x="5943600" y="1828800"/>
            <a:ext cx="0" cy="4087091"/>
          </a:xfrm>
          <a:prstGeom prst="line">
            <a:avLst/>
          </a:prstGeom>
          <a:ln w="28575"/>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85796200"/>
      </p:ext>
    </p:extLst>
  </p:cSld>
  <p:clrMapOvr>
    <a:masterClrMapping/>
  </p:clrMapOvr>
  <p:transition spd="slow">
    <p:push dir="u"/>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noFill/>
          <a:ln>
            <a:noFill/>
          </a:ln>
        </p:spPr>
        <p:txBody>
          <a:bodyPr>
            <a:normAutofit/>
          </a:bodyPr>
          <a:lstStyle/>
          <a:p>
            <a:r>
              <a:rPr lang="en-US" sz="3600" dirty="0">
                <a:solidFill>
                  <a:schemeClr val="accent1"/>
                </a:solidFill>
                <a:latin typeface="Calibri" panose="020F0502020204030204" pitchFamily="34" charset="0"/>
                <a:cs typeface="Calibri" panose="020F0502020204030204" pitchFamily="34" charset="0"/>
              </a:rPr>
              <a:t>METHODOLOGY</a:t>
            </a:r>
            <a:endParaRPr lang="en-US" dirty="0">
              <a:solidFill>
                <a:schemeClr val="accent1"/>
              </a:solidFill>
              <a:latin typeface="Calibri" panose="020F0502020204030204" pitchFamily="34" charset="0"/>
              <a:cs typeface="Calibri" panose="020F0502020204030204" pitchFamily="34" charset="0"/>
            </a:endParaRPr>
          </a:p>
        </p:txBody>
      </p:sp>
      <p:cxnSp>
        <p:nvCxnSpPr>
          <p:cNvPr id="5" name="Straight Connector 4"/>
          <p:cNvCxnSpPr/>
          <p:nvPr/>
        </p:nvCxnSpPr>
        <p:spPr>
          <a:xfrm>
            <a:off x="457200" y="1447800"/>
            <a:ext cx="8229600"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9" name="Content Placeholder 2"/>
          <p:cNvSpPr txBox="1">
            <a:spLocks/>
          </p:cNvSpPr>
          <p:nvPr/>
        </p:nvSpPr>
        <p:spPr>
          <a:xfrm>
            <a:off x="457200" y="1600200"/>
            <a:ext cx="8229600" cy="4876800"/>
          </a:xfrm>
          <a:prstGeom prst="rect">
            <a:avLst/>
          </a:prstGeom>
        </p:spPr>
        <p:txBody>
          <a:bodyPr vert="horz" lIns="91440" tIns="45720" rIns="91440" bIns="45720" rtlCol="0">
            <a:normAutofit/>
          </a:bodyPr>
          <a:lstStyle>
            <a:lvl1pPr marL="182880" indent="-182880" algn="l" defTabSz="914400" rtl="0" eaLnBrk="1" latinLnBrk="0" hangingPunct="1">
              <a:spcBef>
                <a:spcPct val="20000"/>
              </a:spcBef>
              <a:buClr>
                <a:schemeClr val="accent1"/>
              </a:buClr>
              <a:buSzPct val="85000"/>
              <a:buFont typeface="Arial" pitchFamily="34" charset="0"/>
              <a:buChar char="•"/>
              <a:defRPr sz="2400" kern="1200">
                <a:solidFill>
                  <a:schemeClr val="tx1"/>
                </a:solidFill>
                <a:latin typeface="+mn-lt"/>
                <a:ea typeface="+mn-ea"/>
                <a:cs typeface="+mn-cs"/>
              </a:defRPr>
            </a:lvl1pPr>
            <a:lvl2pPr marL="457200" indent="-182880" algn="l" defTabSz="914400" rtl="0" eaLnBrk="1" latinLnBrk="0" hangingPunct="1">
              <a:spcBef>
                <a:spcPct val="20000"/>
              </a:spcBef>
              <a:buClr>
                <a:schemeClr val="accent1"/>
              </a:buClr>
              <a:buSzPct val="85000"/>
              <a:buFont typeface="Arial" pitchFamily="34" charset="0"/>
              <a:buChar char="•"/>
              <a:defRPr sz="2000" kern="1200">
                <a:solidFill>
                  <a:schemeClr val="tx1"/>
                </a:solidFill>
                <a:latin typeface="+mn-lt"/>
                <a:ea typeface="+mn-ea"/>
                <a:cs typeface="+mn-cs"/>
              </a:defRPr>
            </a:lvl2pPr>
            <a:lvl3pPr marL="731520" indent="-182880" algn="l" defTabSz="914400" rtl="0" eaLnBrk="1" latinLnBrk="0" hangingPunct="1">
              <a:spcBef>
                <a:spcPct val="20000"/>
              </a:spcBef>
              <a:buClr>
                <a:schemeClr val="accent1"/>
              </a:buClr>
              <a:buSzPct val="90000"/>
              <a:buFont typeface="Arial" pitchFamily="34" charset="0"/>
              <a:buChar char="•"/>
              <a:defRPr sz="1800" kern="1200">
                <a:solidFill>
                  <a:schemeClr val="tx1"/>
                </a:solidFill>
                <a:latin typeface="+mn-lt"/>
                <a:ea typeface="+mn-ea"/>
                <a:cs typeface="+mn-cs"/>
              </a:defRPr>
            </a:lvl3pPr>
            <a:lvl4pPr marL="1005840" indent="-182880" algn="l" defTabSz="914400" rtl="0" eaLnBrk="1" latinLnBrk="0" hangingPunct="1">
              <a:spcBef>
                <a:spcPct val="20000"/>
              </a:spcBef>
              <a:buClr>
                <a:schemeClr val="accent1"/>
              </a:buClr>
              <a:buFont typeface="Arial" pitchFamily="34" charset="0"/>
              <a:buChar char="•"/>
              <a:defRPr sz="1600" kern="1200">
                <a:solidFill>
                  <a:schemeClr val="tx1"/>
                </a:solidFill>
                <a:latin typeface="+mn-lt"/>
                <a:ea typeface="+mn-ea"/>
                <a:cs typeface="+mn-cs"/>
              </a:defRPr>
            </a:lvl4pPr>
            <a:lvl5pPr marL="1188720" indent="-137160" algn="l" defTabSz="914400" rtl="0" eaLnBrk="1" latinLnBrk="0" hangingPunct="1">
              <a:spcBef>
                <a:spcPct val="20000"/>
              </a:spcBef>
              <a:buClr>
                <a:schemeClr val="accent1"/>
              </a:buClr>
              <a:buSzPct val="100000"/>
              <a:buFont typeface="Arial" pitchFamily="34" charset="0"/>
              <a:buChar char="•"/>
              <a:defRPr sz="1400" kern="1200" baseline="0">
                <a:solidFill>
                  <a:schemeClr val="tx1"/>
                </a:solidFill>
                <a:latin typeface="+mn-lt"/>
                <a:ea typeface="+mn-ea"/>
                <a:cs typeface="+mn-cs"/>
              </a:defRPr>
            </a:lvl5pPr>
            <a:lvl6pPr marL="137160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6pPr>
            <a:lvl7pPr marL="155448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7pPr>
            <a:lvl8pPr marL="173736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8pPr>
            <a:lvl9pPr marL="192024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9pPr>
          </a:lstStyle>
          <a:p>
            <a:pPr marL="0" indent="0" algn="just">
              <a:buFont typeface="Arial" pitchFamily="34" charset="0"/>
              <a:buNone/>
            </a:pPr>
            <a:endParaRPr lang="en-US" sz="2000" dirty="0">
              <a:solidFill>
                <a:schemeClr val="tx1">
                  <a:lumMod val="65000"/>
                  <a:lumOff val="35000"/>
                </a:schemeClr>
              </a:solidFill>
              <a:latin typeface="Calibri" panose="020F0502020204030204" pitchFamily="34" charset="0"/>
              <a:cs typeface="Calibri" panose="020F0502020204030204" pitchFamily="34" charset="0"/>
            </a:endParaRPr>
          </a:p>
          <a:p>
            <a:pPr marL="0" indent="0" algn="just">
              <a:buFont typeface="Arial" pitchFamily="34" charset="0"/>
              <a:buNone/>
            </a:pPr>
            <a:endParaRPr lang="en-US" sz="2000" dirty="0">
              <a:solidFill>
                <a:schemeClr val="tx1">
                  <a:lumMod val="65000"/>
                  <a:lumOff val="35000"/>
                </a:schemeClr>
              </a:solidFill>
              <a:latin typeface="Calibri" panose="020F0502020204030204" pitchFamily="34" charset="0"/>
              <a:cs typeface="Calibri" panose="020F0502020204030204" pitchFamily="34" charset="0"/>
            </a:endParaRPr>
          </a:p>
        </p:txBody>
      </p:sp>
      <p:graphicFrame>
        <p:nvGraphicFramePr>
          <p:cNvPr id="14" name="Diagram 13"/>
          <p:cNvGraphicFramePr/>
          <p:nvPr>
            <p:extLst>
              <p:ext uri="{D42A27DB-BD31-4B8C-83A1-F6EECF244321}">
                <p14:modId xmlns:p14="http://schemas.microsoft.com/office/powerpoint/2010/main" val="2719692355"/>
              </p:ext>
            </p:extLst>
          </p:nvPr>
        </p:nvGraphicFramePr>
        <p:xfrm>
          <a:off x="457200" y="838200"/>
          <a:ext cx="8305800" cy="236714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pSp>
        <p:nvGrpSpPr>
          <p:cNvPr id="6" name="Group 5"/>
          <p:cNvGrpSpPr/>
          <p:nvPr/>
        </p:nvGrpSpPr>
        <p:grpSpPr>
          <a:xfrm>
            <a:off x="685800" y="2362200"/>
            <a:ext cx="6324600" cy="3200400"/>
            <a:chOff x="696084" y="3337553"/>
            <a:chExt cx="6324600" cy="3291847"/>
          </a:xfrm>
        </p:grpSpPr>
        <p:graphicFrame>
          <p:nvGraphicFramePr>
            <p:cNvPr id="15" name="Diagram 14"/>
            <p:cNvGraphicFramePr/>
            <p:nvPr>
              <p:extLst>
                <p:ext uri="{D42A27DB-BD31-4B8C-83A1-F6EECF244321}">
                  <p14:modId xmlns:p14="http://schemas.microsoft.com/office/powerpoint/2010/main" val="1404512686"/>
                </p:ext>
              </p:extLst>
            </p:nvPr>
          </p:nvGraphicFramePr>
          <p:xfrm>
            <a:off x="696084" y="3364831"/>
            <a:ext cx="863600" cy="1347538"/>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graphicFrame>
          <p:nvGraphicFramePr>
            <p:cNvPr id="20" name="Diagram 19"/>
            <p:cNvGraphicFramePr/>
            <p:nvPr>
              <p:extLst>
                <p:ext uri="{D42A27DB-BD31-4B8C-83A1-F6EECF244321}">
                  <p14:modId xmlns:p14="http://schemas.microsoft.com/office/powerpoint/2010/main" val="1342759533"/>
                </p:ext>
              </p:extLst>
            </p:nvPr>
          </p:nvGraphicFramePr>
          <p:xfrm>
            <a:off x="2057400" y="3376862"/>
            <a:ext cx="863600" cy="1347538"/>
          </p:xfrm>
          <a:graphic>
            <a:graphicData uri="http://schemas.openxmlformats.org/drawingml/2006/diagram">
              <dgm:relIds xmlns:dgm="http://schemas.openxmlformats.org/drawingml/2006/diagram" xmlns:r="http://schemas.openxmlformats.org/officeDocument/2006/relationships" r:dm="rId12" r:lo="rId13" r:qs="rId14" r:cs="rId15"/>
            </a:graphicData>
          </a:graphic>
        </p:graphicFrame>
        <p:graphicFrame>
          <p:nvGraphicFramePr>
            <p:cNvPr id="21" name="Diagram 20"/>
            <p:cNvGraphicFramePr/>
            <p:nvPr>
              <p:extLst>
                <p:ext uri="{D42A27DB-BD31-4B8C-83A1-F6EECF244321}">
                  <p14:modId xmlns:p14="http://schemas.microsoft.com/office/powerpoint/2010/main" val="3596476527"/>
                </p:ext>
              </p:extLst>
            </p:nvPr>
          </p:nvGraphicFramePr>
          <p:xfrm>
            <a:off x="3331821" y="3376862"/>
            <a:ext cx="930290" cy="3252538"/>
          </p:xfrm>
          <a:graphic>
            <a:graphicData uri="http://schemas.openxmlformats.org/drawingml/2006/diagram">
              <dgm:relIds xmlns:dgm="http://schemas.openxmlformats.org/drawingml/2006/diagram" xmlns:r="http://schemas.openxmlformats.org/officeDocument/2006/relationships" r:dm="rId17" r:lo="rId18" r:qs="rId19" r:cs="rId20"/>
            </a:graphicData>
          </a:graphic>
        </p:graphicFrame>
        <p:graphicFrame>
          <p:nvGraphicFramePr>
            <p:cNvPr id="22" name="Diagram 21"/>
            <p:cNvGraphicFramePr/>
            <p:nvPr>
              <p:extLst>
                <p:ext uri="{D42A27DB-BD31-4B8C-83A1-F6EECF244321}">
                  <p14:modId xmlns:p14="http://schemas.microsoft.com/office/powerpoint/2010/main" val="4185430312"/>
                </p:ext>
              </p:extLst>
            </p:nvPr>
          </p:nvGraphicFramePr>
          <p:xfrm>
            <a:off x="4758334" y="3364830"/>
            <a:ext cx="1037287" cy="2654970"/>
          </p:xfrm>
          <a:graphic>
            <a:graphicData uri="http://schemas.openxmlformats.org/drawingml/2006/diagram">
              <dgm:relIds xmlns:dgm="http://schemas.openxmlformats.org/drawingml/2006/diagram" xmlns:r="http://schemas.openxmlformats.org/officeDocument/2006/relationships" r:dm="rId22" r:lo="rId23" r:qs="rId24" r:cs="rId25"/>
            </a:graphicData>
          </a:graphic>
        </p:graphicFrame>
        <p:graphicFrame>
          <p:nvGraphicFramePr>
            <p:cNvPr id="23" name="Diagram 22"/>
            <p:cNvGraphicFramePr/>
            <p:nvPr>
              <p:extLst>
                <p:ext uri="{D42A27DB-BD31-4B8C-83A1-F6EECF244321}">
                  <p14:modId xmlns:p14="http://schemas.microsoft.com/office/powerpoint/2010/main" val="3873823230"/>
                </p:ext>
              </p:extLst>
            </p:nvPr>
          </p:nvGraphicFramePr>
          <p:xfrm>
            <a:off x="6118159" y="3337553"/>
            <a:ext cx="902525" cy="1959433"/>
          </p:xfrm>
          <a:graphic>
            <a:graphicData uri="http://schemas.openxmlformats.org/drawingml/2006/diagram">
              <dgm:relIds xmlns:dgm="http://schemas.openxmlformats.org/drawingml/2006/diagram" xmlns:r="http://schemas.openxmlformats.org/officeDocument/2006/relationships" r:dm="rId27" r:lo="rId28" r:qs="rId29" r:cs="rId30"/>
            </a:graphicData>
          </a:graphic>
        </p:graphicFrame>
      </p:grpSp>
    </p:spTree>
    <p:extLst>
      <p:ext uri="{BB962C8B-B14F-4D97-AF65-F5344CB8AC3E}">
        <p14:creationId xmlns:p14="http://schemas.microsoft.com/office/powerpoint/2010/main" val="2047862540"/>
      </p:ext>
    </p:extLst>
  </p:cSld>
  <p:clrMapOvr>
    <a:masterClrMapping/>
  </p:clrMapOvr>
  <p:transition spd="slow">
    <p:push dir="u"/>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noFill/>
          <a:ln>
            <a:noFill/>
          </a:ln>
        </p:spPr>
        <p:txBody>
          <a:bodyPr>
            <a:normAutofit/>
          </a:bodyPr>
          <a:lstStyle/>
          <a:p>
            <a:r>
              <a:rPr lang="en-US" sz="3600" dirty="0">
                <a:solidFill>
                  <a:schemeClr val="accent1"/>
                </a:solidFill>
                <a:latin typeface="Calibri" panose="020F0502020204030204" pitchFamily="34" charset="0"/>
                <a:cs typeface="Calibri" panose="020F0502020204030204" pitchFamily="34" charset="0"/>
              </a:rPr>
              <a:t>METHODOLOGY (CONT.)</a:t>
            </a:r>
            <a:endParaRPr lang="en-US" dirty="0">
              <a:solidFill>
                <a:schemeClr val="accent1"/>
              </a:solidFill>
              <a:latin typeface="Calibri" panose="020F0502020204030204" pitchFamily="34" charset="0"/>
              <a:cs typeface="Calibri" panose="020F0502020204030204" pitchFamily="34" charset="0"/>
            </a:endParaRPr>
          </a:p>
        </p:txBody>
      </p:sp>
      <p:cxnSp>
        <p:nvCxnSpPr>
          <p:cNvPr id="5" name="Straight Connector 4"/>
          <p:cNvCxnSpPr/>
          <p:nvPr/>
        </p:nvCxnSpPr>
        <p:spPr>
          <a:xfrm>
            <a:off x="457200" y="1447800"/>
            <a:ext cx="8229600"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9" name="Content Placeholder 2"/>
          <p:cNvSpPr txBox="1">
            <a:spLocks/>
          </p:cNvSpPr>
          <p:nvPr/>
        </p:nvSpPr>
        <p:spPr>
          <a:xfrm>
            <a:off x="457200" y="1600200"/>
            <a:ext cx="8229600" cy="4876800"/>
          </a:xfrm>
          <a:prstGeom prst="rect">
            <a:avLst/>
          </a:prstGeom>
        </p:spPr>
        <p:txBody>
          <a:bodyPr vert="horz" lIns="91440" tIns="45720" rIns="91440" bIns="45720" rtlCol="0">
            <a:normAutofit/>
          </a:bodyPr>
          <a:lstStyle>
            <a:lvl1pPr marL="182880" indent="-182880" algn="l" defTabSz="914400" rtl="0" eaLnBrk="1" latinLnBrk="0" hangingPunct="1">
              <a:spcBef>
                <a:spcPct val="20000"/>
              </a:spcBef>
              <a:buClr>
                <a:schemeClr val="accent1"/>
              </a:buClr>
              <a:buSzPct val="85000"/>
              <a:buFont typeface="Arial" pitchFamily="34" charset="0"/>
              <a:buChar char="•"/>
              <a:defRPr sz="2400" kern="1200">
                <a:solidFill>
                  <a:schemeClr val="tx1"/>
                </a:solidFill>
                <a:latin typeface="+mn-lt"/>
                <a:ea typeface="+mn-ea"/>
                <a:cs typeface="+mn-cs"/>
              </a:defRPr>
            </a:lvl1pPr>
            <a:lvl2pPr marL="457200" indent="-182880" algn="l" defTabSz="914400" rtl="0" eaLnBrk="1" latinLnBrk="0" hangingPunct="1">
              <a:spcBef>
                <a:spcPct val="20000"/>
              </a:spcBef>
              <a:buClr>
                <a:schemeClr val="accent1"/>
              </a:buClr>
              <a:buSzPct val="85000"/>
              <a:buFont typeface="Arial" pitchFamily="34" charset="0"/>
              <a:buChar char="•"/>
              <a:defRPr sz="2000" kern="1200">
                <a:solidFill>
                  <a:schemeClr val="tx1"/>
                </a:solidFill>
                <a:latin typeface="+mn-lt"/>
                <a:ea typeface="+mn-ea"/>
                <a:cs typeface="+mn-cs"/>
              </a:defRPr>
            </a:lvl2pPr>
            <a:lvl3pPr marL="731520" indent="-182880" algn="l" defTabSz="914400" rtl="0" eaLnBrk="1" latinLnBrk="0" hangingPunct="1">
              <a:spcBef>
                <a:spcPct val="20000"/>
              </a:spcBef>
              <a:buClr>
                <a:schemeClr val="accent1"/>
              </a:buClr>
              <a:buSzPct val="90000"/>
              <a:buFont typeface="Arial" pitchFamily="34" charset="0"/>
              <a:buChar char="•"/>
              <a:defRPr sz="1800" kern="1200">
                <a:solidFill>
                  <a:schemeClr val="tx1"/>
                </a:solidFill>
                <a:latin typeface="+mn-lt"/>
                <a:ea typeface="+mn-ea"/>
                <a:cs typeface="+mn-cs"/>
              </a:defRPr>
            </a:lvl3pPr>
            <a:lvl4pPr marL="1005840" indent="-182880" algn="l" defTabSz="914400" rtl="0" eaLnBrk="1" latinLnBrk="0" hangingPunct="1">
              <a:spcBef>
                <a:spcPct val="20000"/>
              </a:spcBef>
              <a:buClr>
                <a:schemeClr val="accent1"/>
              </a:buClr>
              <a:buFont typeface="Arial" pitchFamily="34" charset="0"/>
              <a:buChar char="•"/>
              <a:defRPr sz="1600" kern="1200">
                <a:solidFill>
                  <a:schemeClr val="tx1"/>
                </a:solidFill>
                <a:latin typeface="+mn-lt"/>
                <a:ea typeface="+mn-ea"/>
                <a:cs typeface="+mn-cs"/>
              </a:defRPr>
            </a:lvl4pPr>
            <a:lvl5pPr marL="1188720" indent="-137160" algn="l" defTabSz="914400" rtl="0" eaLnBrk="1" latinLnBrk="0" hangingPunct="1">
              <a:spcBef>
                <a:spcPct val="20000"/>
              </a:spcBef>
              <a:buClr>
                <a:schemeClr val="accent1"/>
              </a:buClr>
              <a:buSzPct val="100000"/>
              <a:buFont typeface="Arial" pitchFamily="34" charset="0"/>
              <a:buChar char="•"/>
              <a:defRPr sz="1400" kern="1200" baseline="0">
                <a:solidFill>
                  <a:schemeClr val="tx1"/>
                </a:solidFill>
                <a:latin typeface="+mn-lt"/>
                <a:ea typeface="+mn-ea"/>
                <a:cs typeface="+mn-cs"/>
              </a:defRPr>
            </a:lvl5pPr>
            <a:lvl6pPr marL="137160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6pPr>
            <a:lvl7pPr marL="155448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7pPr>
            <a:lvl8pPr marL="173736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8pPr>
            <a:lvl9pPr marL="192024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9pPr>
          </a:lstStyle>
          <a:p>
            <a:pPr marL="0" indent="0" algn="just">
              <a:buFont typeface="Arial" pitchFamily="34" charset="0"/>
              <a:buNone/>
            </a:pPr>
            <a:endParaRPr lang="en-US" sz="2000" dirty="0">
              <a:solidFill>
                <a:schemeClr val="tx1">
                  <a:lumMod val="65000"/>
                  <a:lumOff val="35000"/>
                </a:schemeClr>
              </a:solidFill>
              <a:latin typeface="Calibri" panose="020F0502020204030204" pitchFamily="34" charset="0"/>
              <a:cs typeface="Calibri" panose="020F0502020204030204" pitchFamily="34" charset="0"/>
            </a:endParaRPr>
          </a:p>
          <a:p>
            <a:pPr marL="0" indent="0" algn="just">
              <a:buFont typeface="Arial" pitchFamily="34" charset="0"/>
              <a:buNone/>
            </a:pPr>
            <a:endParaRPr lang="en-US" sz="2000" dirty="0">
              <a:solidFill>
                <a:schemeClr val="tx1">
                  <a:lumMod val="65000"/>
                  <a:lumOff val="35000"/>
                </a:schemeClr>
              </a:solidFill>
              <a:latin typeface="Calibri" panose="020F0502020204030204" pitchFamily="34" charset="0"/>
              <a:cs typeface="Calibri" panose="020F0502020204030204" pitchFamily="34" charset="0"/>
            </a:endParaRPr>
          </a:p>
        </p:txBody>
      </p:sp>
      <p:grpSp>
        <p:nvGrpSpPr>
          <p:cNvPr id="3" name="Group 13"/>
          <p:cNvGrpSpPr/>
          <p:nvPr/>
        </p:nvGrpSpPr>
        <p:grpSpPr>
          <a:xfrm>
            <a:off x="4876800" y="1901685"/>
            <a:ext cx="4145302" cy="4114800"/>
            <a:chOff x="1137392" y="793932"/>
            <a:chExt cx="3846364" cy="3976272"/>
          </a:xfrm>
        </p:grpSpPr>
        <p:sp>
          <p:nvSpPr>
            <p:cNvPr id="15" name="TextBox 14"/>
            <p:cNvSpPr txBox="1"/>
            <p:nvPr/>
          </p:nvSpPr>
          <p:spPr>
            <a:xfrm>
              <a:off x="1684492" y="4462427"/>
              <a:ext cx="2743200" cy="307777"/>
            </a:xfrm>
            <a:prstGeom prst="rect">
              <a:avLst/>
            </a:prstGeom>
            <a:noFill/>
          </p:spPr>
          <p:txBody>
            <a:bodyPr wrap="square" rtlCol="0">
              <a:spAutoFit/>
            </a:bodyPr>
            <a:lstStyle/>
            <a:p>
              <a:r>
                <a:rPr lang="en-US" sz="1400" b="1" dirty="0">
                  <a:latin typeface="Calibri" panose="020F0502020204030204" pitchFamily="34" charset="0"/>
                  <a:cs typeface="Calibri" panose="020F0502020204030204" pitchFamily="34" charset="0"/>
                </a:rPr>
                <a:t>Fig 2 </a:t>
              </a:r>
              <a:r>
                <a:rPr lang="en-US" sz="1400" dirty="0">
                  <a:latin typeface="Calibri" panose="020F0502020204030204" pitchFamily="34" charset="0"/>
                  <a:cs typeface="Calibri" panose="020F0502020204030204" pitchFamily="34" charset="0"/>
                </a:rPr>
                <a:t>– Energy estimation flowchart</a:t>
              </a:r>
            </a:p>
          </p:txBody>
        </p:sp>
        <p:pic>
          <p:nvPicPr>
            <p:cNvPr id="16" name="Content Placeholder 1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7392" y="793932"/>
              <a:ext cx="3846364" cy="3664013"/>
            </a:xfrm>
            <a:prstGeom prst="rect">
              <a:avLst/>
            </a:prstGeom>
          </p:spPr>
        </p:pic>
      </p:grpSp>
      <p:sp>
        <p:nvSpPr>
          <p:cNvPr id="17" name="Content Placeholder 20"/>
          <p:cNvSpPr>
            <a:spLocks noGrp="1" noRot="1" noChangeAspect="1" noMove="1" noResize="1" noEditPoints="1" noAdjustHandles="1" noChangeArrowheads="1" noChangeShapeType="1" noTextEdit="1"/>
          </p:cNvSpPr>
          <p:nvPr>
            <p:ph idx="1"/>
          </p:nvPr>
        </p:nvSpPr>
        <p:spPr>
          <a:xfrm>
            <a:off x="451338" y="1825486"/>
            <a:ext cx="6025662" cy="1066153"/>
          </a:xfrm>
          <a:blipFill>
            <a:blip r:embed="rId3" cstate="print"/>
            <a:stretch>
              <a:fillRect l="-607" t="-1714"/>
            </a:stretch>
          </a:blipFill>
        </p:spPr>
        <p:txBody>
          <a:bodyPr/>
          <a:lstStyle/>
          <a:p>
            <a:pPr>
              <a:buNone/>
            </a:pPr>
            <a:endParaRPr lang="en-US" dirty="0">
              <a:noFill/>
            </a:endParaRPr>
          </a:p>
        </p:txBody>
      </p:sp>
      <p:sp>
        <p:nvSpPr>
          <p:cNvPr id="6" name="Rectangle 5"/>
          <p:cNvSpPr/>
          <p:nvPr/>
        </p:nvSpPr>
        <p:spPr>
          <a:xfrm>
            <a:off x="451338" y="3033954"/>
            <a:ext cx="4273062" cy="2462213"/>
          </a:xfrm>
          <a:prstGeom prst="rect">
            <a:avLst/>
          </a:prstGeom>
        </p:spPr>
        <p:txBody>
          <a:bodyPr wrap="square">
            <a:spAutoFit/>
          </a:bodyPr>
          <a:lstStyle/>
          <a:p>
            <a:pPr algn="just">
              <a:spcBef>
                <a:spcPts val="1200"/>
              </a:spcBef>
            </a:pPr>
            <a:r>
              <a:rPr lang="en-US" sz="1400" i="1" dirty="0">
                <a:solidFill>
                  <a:schemeClr val="tx1">
                    <a:lumMod val="65000"/>
                    <a:lumOff val="35000"/>
                  </a:schemeClr>
                </a:solidFill>
                <a:latin typeface="Calibri" panose="020F0502020204030204" pitchFamily="34" charset="0"/>
                <a:cs typeface="Calibri" panose="020F0502020204030204" pitchFamily="34" charset="0"/>
              </a:rPr>
              <a:t>The  hour is denoted by ‘t’.</a:t>
            </a:r>
            <a:endParaRPr lang="en-US" sz="1400" dirty="0">
              <a:solidFill>
                <a:schemeClr val="tx1">
                  <a:lumMod val="65000"/>
                  <a:lumOff val="35000"/>
                </a:schemeClr>
              </a:solidFill>
              <a:latin typeface="Calibri" panose="020F0502020204030204" pitchFamily="34" charset="0"/>
              <a:cs typeface="Calibri" panose="020F0502020204030204" pitchFamily="34" charset="0"/>
            </a:endParaRPr>
          </a:p>
          <a:p>
            <a:pPr algn="just">
              <a:spcBef>
                <a:spcPts val="1200"/>
              </a:spcBef>
            </a:pPr>
            <a:r>
              <a:rPr lang="en-US" dirty="0">
                <a:solidFill>
                  <a:schemeClr val="tx1">
                    <a:lumMod val="65000"/>
                    <a:lumOff val="35000"/>
                  </a:schemeClr>
                </a:solidFill>
                <a:latin typeface="Calibri" panose="020F0502020204030204" pitchFamily="34" charset="0"/>
                <a:cs typeface="Calibri" panose="020F0502020204030204" pitchFamily="34" charset="0"/>
              </a:rPr>
              <a:t>The mathematical model of floating solar PV and WT calculate the hourly energy generation using the hourly value. If the energy is short, defecit energy is bougt from grid to satisfy load demand, and when energy generation higher, the excess energy is sold to grid. </a:t>
            </a:r>
          </a:p>
        </p:txBody>
      </p:sp>
      <p:sp>
        <p:nvSpPr>
          <p:cNvPr id="4" name="TextBox 3">
            <a:extLst>
              <a:ext uri="{FF2B5EF4-FFF2-40B4-BE49-F238E27FC236}">
                <a16:creationId xmlns:a16="http://schemas.microsoft.com/office/drawing/2014/main" id="{2C99D8BF-ACDE-42A7-3C7C-9A80CC181C69}"/>
              </a:ext>
            </a:extLst>
          </p:cNvPr>
          <p:cNvSpPr txBox="1"/>
          <p:nvPr/>
        </p:nvSpPr>
        <p:spPr>
          <a:xfrm>
            <a:off x="6781800" y="4114800"/>
            <a:ext cx="152400" cy="276999"/>
          </a:xfrm>
          <a:prstGeom prst="rect">
            <a:avLst/>
          </a:prstGeom>
          <a:solidFill>
            <a:srgbClr val="D7E4BD"/>
          </a:solidFill>
        </p:spPr>
        <p:txBody>
          <a:bodyPr wrap="square" rtlCol="0">
            <a:spAutoFit/>
          </a:bodyPr>
          <a:lstStyle/>
          <a:p>
            <a:r>
              <a:rPr lang="en-US" sz="1200" dirty="0">
                <a:latin typeface="Arial Narrow" panose="020B0606020202030204" pitchFamily="34" charset="0"/>
              </a:rPr>
              <a:t>&lt;</a:t>
            </a:r>
          </a:p>
        </p:txBody>
      </p:sp>
    </p:spTree>
    <p:extLst>
      <p:ext uri="{BB962C8B-B14F-4D97-AF65-F5344CB8AC3E}">
        <p14:creationId xmlns:p14="http://schemas.microsoft.com/office/powerpoint/2010/main" val="3389518133"/>
      </p:ext>
    </p:extLst>
  </p:cSld>
  <p:clrMapOvr>
    <a:masterClrMapping/>
  </p:clrMapOvr>
  <p:transition spd="slow">
    <p:push dir="u"/>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63508"/>
            <a:ext cx="8229600" cy="990600"/>
          </a:xfrm>
          <a:noFill/>
          <a:ln>
            <a:noFill/>
          </a:ln>
        </p:spPr>
        <p:txBody>
          <a:bodyPr>
            <a:normAutofit/>
          </a:bodyPr>
          <a:lstStyle/>
          <a:p>
            <a:r>
              <a:rPr lang="en-US" sz="3600" dirty="0">
                <a:solidFill>
                  <a:schemeClr val="accent1"/>
                </a:solidFill>
                <a:latin typeface="Calibri" panose="020F0502020204030204" pitchFamily="34" charset="0"/>
                <a:cs typeface="Calibri" panose="020F0502020204030204" pitchFamily="34" charset="0"/>
              </a:rPr>
              <a:t>METHODOLOGY (CONT.)</a:t>
            </a:r>
            <a:endParaRPr lang="en-US" dirty="0">
              <a:solidFill>
                <a:schemeClr val="accent1"/>
              </a:solidFill>
              <a:latin typeface="Calibri" panose="020F0502020204030204" pitchFamily="34" charset="0"/>
              <a:cs typeface="Calibri" panose="020F0502020204030204" pitchFamily="34" charset="0"/>
            </a:endParaRPr>
          </a:p>
        </p:txBody>
      </p:sp>
      <p:cxnSp>
        <p:nvCxnSpPr>
          <p:cNvPr id="5" name="Straight Connector 4"/>
          <p:cNvCxnSpPr/>
          <p:nvPr/>
        </p:nvCxnSpPr>
        <p:spPr>
          <a:xfrm>
            <a:off x="518711" y="990600"/>
            <a:ext cx="8229600"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9" name="Content Placeholder 2"/>
          <p:cNvSpPr txBox="1">
            <a:spLocks/>
          </p:cNvSpPr>
          <p:nvPr/>
        </p:nvSpPr>
        <p:spPr>
          <a:xfrm>
            <a:off x="457200" y="1600200"/>
            <a:ext cx="8229600" cy="4876800"/>
          </a:xfrm>
          <a:prstGeom prst="rect">
            <a:avLst/>
          </a:prstGeom>
        </p:spPr>
        <p:txBody>
          <a:bodyPr vert="horz" lIns="91440" tIns="45720" rIns="91440" bIns="45720" rtlCol="0">
            <a:normAutofit/>
          </a:bodyPr>
          <a:lstStyle>
            <a:lvl1pPr marL="182880" indent="-182880" algn="l" defTabSz="914400" rtl="0" eaLnBrk="1" latinLnBrk="0" hangingPunct="1">
              <a:spcBef>
                <a:spcPct val="20000"/>
              </a:spcBef>
              <a:buClr>
                <a:schemeClr val="accent1"/>
              </a:buClr>
              <a:buSzPct val="85000"/>
              <a:buFont typeface="Arial" pitchFamily="34" charset="0"/>
              <a:buChar char="•"/>
              <a:defRPr sz="2400" kern="1200">
                <a:solidFill>
                  <a:schemeClr val="tx1"/>
                </a:solidFill>
                <a:latin typeface="+mn-lt"/>
                <a:ea typeface="+mn-ea"/>
                <a:cs typeface="+mn-cs"/>
              </a:defRPr>
            </a:lvl1pPr>
            <a:lvl2pPr marL="457200" indent="-182880" algn="l" defTabSz="914400" rtl="0" eaLnBrk="1" latinLnBrk="0" hangingPunct="1">
              <a:spcBef>
                <a:spcPct val="20000"/>
              </a:spcBef>
              <a:buClr>
                <a:schemeClr val="accent1"/>
              </a:buClr>
              <a:buSzPct val="85000"/>
              <a:buFont typeface="Arial" pitchFamily="34" charset="0"/>
              <a:buChar char="•"/>
              <a:defRPr sz="2000" kern="1200">
                <a:solidFill>
                  <a:schemeClr val="tx1"/>
                </a:solidFill>
                <a:latin typeface="+mn-lt"/>
                <a:ea typeface="+mn-ea"/>
                <a:cs typeface="+mn-cs"/>
              </a:defRPr>
            </a:lvl2pPr>
            <a:lvl3pPr marL="731520" indent="-182880" algn="l" defTabSz="914400" rtl="0" eaLnBrk="1" latinLnBrk="0" hangingPunct="1">
              <a:spcBef>
                <a:spcPct val="20000"/>
              </a:spcBef>
              <a:buClr>
                <a:schemeClr val="accent1"/>
              </a:buClr>
              <a:buSzPct val="90000"/>
              <a:buFont typeface="Arial" pitchFamily="34" charset="0"/>
              <a:buChar char="•"/>
              <a:defRPr sz="1800" kern="1200">
                <a:solidFill>
                  <a:schemeClr val="tx1"/>
                </a:solidFill>
                <a:latin typeface="+mn-lt"/>
                <a:ea typeface="+mn-ea"/>
                <a:cs typeface="+mn-cs"/>
              </a:defRPr>
            </a:lvl3pPr>
            <a:lvl4pPr marL="1005840" indent="-182880" algn="l" defTabSz="914400" rtl="0" eaLnBrk="1" latinLnBrk="0" hangingPunct="1">
              <a:spcBef>
                <a:spcPct val="20000"/>
              </a:spcBef>
              <a:buClr>
                <a:schemeClr val="accent1"/>
              </a:buClr>
              <a:buFont typeface="Arial" pitchFamily="34" charset="0"/>
              <a:buChar char="•"/>
              <a:defRPr sz="1600" kern="1200">
                <a:solidFill>
                  <a:schemeClr val="tx1"/>
                </a:solidFill>
                <a:latin typeface="+mn-lt"/>
                <a:ea typeface="+mn-ea"/>
                <a:cs typeface="+mn-cs"/>
              </a:defRPr>
            </a:lvl4pPr>
            <a:lvl5pPr marL="1188720" indent="-137160" algn="l" defTabSz="914400" rtl="0" eaLnBrk="1" latinLnBrk="0" hangingPunct="1">
              <a:spcBef>
                <a:spcPct val="20000"/>
              </a:spcBef>
              <a:buClr>
                <a:schemeClr val="accent1"/>
              </a:buClr>
              <a:buSzPct val="100000"/>
              <a:buFont typeface="Arial" pitchFamily="34" charset="0"/>
              <a:buChar char="•"/>
              <a:defRPr sz="1400" kern="1200" baseline="0">
                <a:solidFill>
                  <a:schemeClr val="tx1"/>
                </a:solidFill>
                <a:latin typeface="+mn-lt"/>
                <a:ea typeface="+mn-ea"/>
                <a:cs typeface="+mn-cs"/>
              </a:defRPr>
            </a:lvl5pPr>
            <a:lvl6pPr marL="137160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6pPr>
            <a:lvl7pPr marL="155448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7pPr>
            <a:lvl8pPr marL="173736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8pPr>
            <a:lvl9pPr marL="192024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9pPr>
          </a:lstStyle>
          <a:p>
            <a:pPr marL="0" indent="0" algn="just">
              <a:buFont typeface="Arial" pitchFamily="34" charset="0"/>
              <a:buNone/>
            </a:pPr>
            <a:endParaRPr lang="en-US" sz="2000" dirty="0">
              <a:solidFill>
                <a:schemeClr val="tx1">
                  <a:lumMod val="65000"/>
                  <a:lumOff val="35000"/>
                </a:schemeClr>
              </a:solidFill>
              <a:latin typeface="Calibri" panose="020F0502020204030204" pitchFamily="34" charset="0"/>
              <a:cs typeface="Calibri" panose="020F0502020204030204" pitchFamily="34" charset="0"/>
            </a:endParaRPr>
          </a:p>
          <a:p>
            <a:pPr marL="0" indent="0" algn="just">
              <a:buFont typeface="Arial" pitchFamily="34" charset="0"/>
              <a:buNone/>
            </a:pPr>
            <a:endParaRPr lang="en-US" sz="2000" dirty="0">
              <a:solidFill>
                <a:schemeClr val="tx1">
                  <a:lumMod val="65000"/>
                  <a:lumOff val="35000"/>
                </a:schemeClr>
              </a:solidFill>
              <a:latin typeface="Calibri" panose="020F0502020204030204" pitchFamily="34" charset="0"/>
              <a:cs typeface="Calibri" panose="020F0502020204030204" pitchFamily="34" charset="0"/>
            </a:endParaRPr>
          </a:p>
        </p:txBody>
      </p:sp>
      <p:grpSp>
        <p:nvGrpSpPr>
          <p:cNvPr id="3" name="Group 19"/>
          <p:cNvGrpSpPr/>
          <p:nvPr/>
        </p:nvGrpSpPr>
        <p:grpSpPr>
          <a:xfrm>
            <a:off x="4724400" y="1175078"/>
            <a:ext cx="4506839" cy="5294089"/>
            <a:chOff x="4532032" y="1064907"/>
            <a:chExt cx="4506839" cy="5294089"/>
          </a:xfrm>
        </p:grpSpPr>
        <p:sp>
          <p:nvSpPr>
            <p:cNvPr id="18" name="TextBox 17"/>
            <p:cNvSpPr txBox="1"/>
            <p:nvPr/>
          </p:nvSpPr>
          <p:spPr>
            <a:xfrm>
              <a:off x="5490051" y="6051219"/>
              <a:ext cx="2590800" cy="307777"/>
            </a:xfrm>
            <a:prstGeom prst="rect">
              <a:avLst/>
            </a:prstGeom>
            <a:noFill/>
          </p:spPr>
          <p:txBody>
            <a:bodyPr wrap="square" rtlCol="0">
              <a:spAutoFit/>
            </a:bodyPr>
            <a:lstStyle/>
            <a:p>
              <a:r>
                <a:rPr lang="en-US" sz="1400" b="1" dirty="0">
                  <a:latin typeface="Calibri" panose="020F0502020204030204" pitchFamily="34" charset="0"/>
                  <a:cs typeface="Calibri" panose="020F0502020204030204" pitchFamily="34" charset="0"/>
                </a:rPr>
                <a:t>Fig 6 </a:t>
              </a:r>
              <a:r>
                <a:rPr lang="en-US" sz="1400" dirty="0">
                  <a:latin typeface="Calibri" panose="020F0502020204030204" pitchFamily="34" charset="0"/>
                  <a:cs typeface="Calibri" panose="020F0502020204030204" pitchFamily="34" charset="0"/>
                </a:rPr>
                <a:t>– GWO algorithm flowchart</a:t>
              </a:r>
            </a:p>
          </p:txBody>
        </p:sp>
        <p:pic>
          <p:nvPicPr>
            <p:cNvPr id="19" name="Picture 1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532032" y="1064907"/>
              <a:ext cx="4506839" cy="5152516"/>
            </a:xfrm>
            <a:prstGeom prst="rect">
              <a:avLst/>
            </a:prstGeom>
          </p:spPr>
        </p:pic>
      </p:grpSp>
      <p:sp>
        <p:nvSpPr>
          <p:cNvPr id="11" name="Content Placeholder 2"/>
          <p:cNvSpPr>
            <a:spLocks noGrp="1" noRot="1" noChangeAspect="1" noMove="1" noResize="1" noEditPoints="1" noAdjustHandles="1" noChangeArrowheads="1" noChangeShapeType="1" noTextEdit="1"/>
          </p:cNvSpPr>
          <p:nvPr>
            <p:ph idx="1"/>
          </p:nvPr>
        </p:nvSpPr>
        <p:spPr>
          <a:xfrm>
            <a:off x="449580" y="1101671"/>
            <a:ext cx="4356847" cy="1376794"/>
          </a:xfrm>
          <a:blipFill>
            <a:blip r:embed="rId4" cstate="print"/>
            <a:stretch>
              <a:fillRect l="-560" t="-2655"/>
            </a:stretch>
          </a:blipFill>
        </p:spPr>
        <p:txBody>
          <a:bodyPr/>
          <a:lstStyle/>
          <a:p>
            <a:pPr>
              <a:buNone/>
            </a:pPr>
            <a:endParaRPr lang="en-US" dirty="0">
              <a:noFill/>
            </a:endParaRPr>
          </a:p>
        </p:txBody>
      </p:sp>
      <mc:AlternateContent xmlns:mc="http://schemas.openxmlformats.org/markup-compatibility/2006" xmlns:a14="http://schemas.microsoft.com/office/drawing/2010/main">
        <mc:Choice Requires="a14">
          <p:sp>
            <p:nvSpPr>
              <p:cNvPr id="4" name="Rectangle 3"/>
              <p:cNvSpPr/>
              <p:nvPr/>
            </p:nvSpPr>
            <p:spPr>
              <a:xfrm>
                <a:off x="514267" y="2478465"/>
                <a:ext cx="4210133" cy="2510046"/>
              </a:xfrm>
              <a:prstGeom prst="rect">
                <a:avLst/>
              </a:prstGeom>
            </p:spPr>
            <p:txBody>
              <a:bodyPr wrap="square">
                <a:spAutoFit/>
              </a:bodyPr>
              <a:lstStyle/>
              <a:p>
                <a:pPr algn="just"/>
                <a:r>
                  <a:rPr lang="en-US" dirty="0">
                    <a:solidFill>
                      <a:schemeClr val="tx1">
                        <a:lumMod val="65000"/>
                        <a:lumOff val="35000"/>
                      </a:schemeClr>
                    </a:solidFill>
                    <a:latin typeface="Calibri" panose="020F0502020204030204" pitchFamily="34" charset="0"/>
                    <a:cs typeface="Calibri" panose="020F0502020204030204" pitchFamily="34" charset="0"/>
                  </a:rPr>
                  <a:t>Here, </a:t>
                </a:r>
                <a:r>
                  <a:rPr lang="en-US" b="1" i="1" dirty="0">
                    <a:solidFill>
                      <a:schemeClr val="tx1">
                        <a:lumMod val="65000"/>
                        <a:lumOff val="35000"/>
                      </a:schemeClr>
                    </a:solidFill>
                    <a:latin typeface="Calibri" panose="020F0502020204030204" pitchFamily="34" charset="0"/>
                    <a:cs typeface="Calibri" panose="020F0502020204030204" pitchFamily="34" charset="0"/>
                  </a:rPr>
                  <a:t>NPC</a:t>
                </a:r>
                <a:r>
                  <a:rPr lang="en-US" dirty="0">
                    <a:solidFill>
                      <a:schemeClr val="tx1">
                        <a:lumMod val="65000"/>
                        <a:lumOff val="35000"/>
                      </a:schemeClr>
                    </a:solidFill>
                    <a:latin typeface="Calibri" panose="020F0502020204030204" pitchFamily="34" charset="0"/>
                    <a:cs typeface="Calibri" panose="020F0502020204030204" pitchFamily="34" charset="0"/>
                  </a:rPr>
                  <a:t> is the net present cost, </a:t>
                </a:r>
                <a:r>
                  <a:rPr lang="en-US" b="1" i="1" dirty="0">
                    <a:solidFill>
                      <a:schemeClr val="tx1">
                        <a:lumMod val="65000"/>
                        <a:lumOff val="35000"/>
                      </a:schemeClr>
                    </a:solidFill>
                    <a:latin typeface="Calibri" panose="020F0502020204030204" pitchFamily="34" charset="0"/>
                    <a:cs typeface="Calibri" panose="020F0502020204030204" pitchFamily="34" charset="0"/>
                  </a:rPr>
                  <a:t>CRF </a:t>
                </a:r>
                <a:r>
                  <a:rPr lang="en-US" i="1" dirty="0">
                    <a:solidFill>
                      <a:schemeClr val="tx1">
                        <a:lumMod val="65000"/>
                        <a:lumOff val="35000"/>
                      </a:schemeClr>
                    </a:solidFill>
                    <a:latin typeface="Calibri" panose="020F0502020204030204" pitchFamily="34" charset="0"/>
                    <a:cs typeface="Calibri" panose="020F0502020204030204" pitchFamily="34" charset="0"/>
                  </a:rPr>
                  <a:t>is the capital recovery factor</a:t>
                </a:r>
                <a:r>
                  <a:rPr lang="en-US" dirty="0">
                    <a:solidFill>
                      <a:schemeClr val="tx1">
                        <a:lumMod val="65000"/>
                        <a:lumOff val="35000"/>
                      </a:schemeClr>
                    </a:solidFill>
                    <a:latin typeface="Calibri" panose="020F0502020204030204" pitchFamily="34" charset="0"/>
                    <a:cs typeface="Calibri" panose="020F0502020204030204" pitchFamily="34" charset="0"/>
                  </a:rPr>
                  <a:t> of the system, and </a:t>
                </a:r>
                <a14:m>
                  <m:oMath xmlns:m="http://schemas.openxmlformats.org/officeDocument/2006/math">
                    <m:nary>
                      <m:naryPr>
                        <m:chr m:val="∑"/>
                        <m:ctrlPr>
                          <a:rPr lang="pt-BR" b="1" i="1">
                            <a:solidFill>
                              <a:schemeClr val="tx1">
                                <a:lumMod val="65000"/>
                                <a:lumOff val="35000"/>
                              </a:schemeClr>
                            </a:solidFill>
                            <a:latin typeface="Cambria Math" panose="02040503050406030204" pitchFamily="18" charset="0"/>
                            <a:cs typeface="Calibri" panose="020F0502020204030204" pitchFamily="34" charset="0"/>
                          </a:rPr>
                        </m:ctrlPr>
                      </m:naryPr>
                      <m:sub>
                        <m:r>
                          <a:rPr lang="en-US" b="1" i="1">
                            <a:solidFill>
                              <a:schemeClr val="tx1">
                                <a:lumMod val="65000"/>
                                <a:lumOff val="35000"/>
                              </a:schemeClr>
                            </a:solidFill>
                            <a:latin typeface="Cambria Math"/>
                            <a:cs typeface="Calibri" panose="020F0502020204030204" pitchFamily="34" charset="0"/>
                          </a:rPr>
                          <m:t>𝒕</m:t>
                        </m:r>
                        <m:r>
                          <a:rPr lang="pt-BR" b="1" i="1">
                            <a:solidFill>
                              <a:schemeClr val="tx1">
                                <a:lumMod val="65000"/>
                                <a:lumOff val="35000"/>
                              </a:schemeClr>
                            </a:solidFill>
                            <a:latin typeface="Cambria Math"/>
                            <a:cs typeface="Calibri" panose="020F0502020204030204" pitchFamily="34" charset="0"/>
                          </a:rPr>
                          <m:t>=</m:t>
                        </m:r>
                        <m:r>
                          <a:rPr lang="en-US" b="1" i="1">
                            <a:solidFill>
                              <a:schemeClr val="tx1">
                                <a:lumMod val="65000"/>
                                <a:lumOff val="35000"/>
                              </a:schemeClr>
                            </a:solidFill>
                            <a:latin typeface="Cambria Math"/>
                            <a:cs typeface="Calibri" panose="020F0502020204030204" pitchFamily="34" charset="0"/>
                          </a:rPr>
                          <m:t>𝟏</m:t>
                        </m:r>
                      </m:sub>
                      <m:sup>
                        <m:r>
                          <a:rPr lang="en-US" b="1" i="1">
                            <a:solidFill>
                              <a:schemeClr val="tx1">
                                <a:lumMod val="65000"/>
                                <a:lumOff val="35000"/>
                              </a:schemeClr>
                            </a:solidFill>
                            <a:latin typeface="Cambria Math"/>
                            <a:cs typeface="Calibri" panose="020F0502020204030204" pitchFamily="34" charset="0"/>
                          </a:rPr>
                          <m:t>𝟖𝟕𝟔𝟎</m:t>
                        </m:r>
                      </m:sup>
                      <m:e>
                        <m:r>
                          <a:rPr lang="en-US" b="1" i="1">
                            <a:solidFill>
                              <a:schemeClr val="tx1">
                                <a:lumMod val="65000"/>
                                <a:lumOff val="35000"/>
                              </a:schemeClr>
                            </a:solidFill>
                            <a:latin typeface="Cambria Math" panose="02040503050406030204" pitchFamily="18" charset="0"/>
                            <a:cs typeface="Calibri" panose="020F0502020204030204" pitchFamily="34" charset="0"/>
                          </a:rPr>
                          <m:t>𝒈𝒓𝒊</m:t>
                        </m:r>
                        <m:sSub>
                          <m:sSubPr>
                            <m:ctrlPr>
                              <a:rPr lang="en-US" b="1" i="1">
                                <a:solidFill>
                                  <a:schemeClr val="tx1">
                                    <a:lumMod val="65000"/>
                                    <a:lumOff val="35000"/>
                                  </a:schemeClr>
                                </a:solidFill>
                                <a:latin typeface="Cambria Math" panose="02040503050406030204" pitchFamily="18" charset="0"/>
                                <a:cs typeface="Calibri" panose="020F0502020204030204" pitchFamily="34" charset="0"/>
                              </a:rPr>
                            </m:ctrlPr>
                          </m:sSubPr>
                          <m:e>
                            <m:r>
                              <a:rPr lang="en-US" b="1" i="1">
                                <a:solidFill>
                                  <a:schemeClr val="tx1">
                                    <a:lumMod val="65000"/>
                                    <a:lumOff val="35000"/>
                                  </a:schemeClr>
                                </a:solidFill>
                                <a:latin typeface="Cambria Math" panose="02040503050406030204" pitchFamily="18" charset="0"/>
                                <a:cs typeface="Calibri" panose="020F0502020204030204" pitchFamily="34" charset="0"/>
                              </a:rPr>
                              <m:t>𝒅</m:t>
                            </m:r>
                          </m:e>
                          <m:sub>
                            <m:r>
                              <a:rPr lang="en-US" b="1" i="1">
                                <a:solidFill>
                                  <a:schemeClr val="tx1">
                                    <a:lumMod val="65000"/>
                                    <a:lumOff val="35000"/>
                                  </a:schemeClr>
                                </a:solidFill>
                                <a:latin typeface="Cambria Math" panose="02040503050406030204" pitchFamily="18" charset="0"/>
                                <a:cs typeface="Calibri" panose="020F0502020204030204" pitchFamily="34" charset="0"/>
                              </a:rPr>
                              <m:t>(</m:t>
                            </m:r>
                            <m:r>
                              <a:rPr lang="en-US" b="1" i="1">
                                <a:solidFill>
                                  <a:schemeClr val="tx1">
                                    <a:lumMod val="65000"/>
                                    <a:lumOff val="35000"/>
                                  </a:schemeClr>
                                </a:solidFill>
                                <a:latin typeface="Cambria Math" panose="02040503050406030204" pitchFamily="18" charset="0"/>
                                <a:cs typeface="Calibri" panose="020F0502020204030204" pitchFamily="34" charset="0"/>
                              </a:rPr>
                              <m:t>𝒃𝒖𝒚</m:t>
                            </m:r>
                            <m:r>
                              <a:rPr lang="en-US" b="1" i="1">
                                <a:solidFill>
                                  <a:schemeClr val="tx1">
                                    <a:lumMod val="65000"/>
                                    <a:lumOff val="35000"/>
                                  </a:schemeClr>
                                </a:solidFill>
                                <a:latin typeface="Cambria Math" panose="02040503050406030204" pitchFamily="18" charset="0"/>
                                <a:cs typeface="Calibri" panose="020F0502020204030204" pitchFamily="34" charset="0"/>
                              </a:rPr>
                              <m:t>−</m:t>
                            </m:r>
                            <m:r>
                              <a:rPr lang="en-US" b="1" i="1">
                                <a:solidFill>
                                  <a:schemeClr val="tx1">
                                    <a:lumMod val="65000"/>
                                    <a:lumOff val="35000"/>
                                  </a:schemeClr>
                                </a:solidFill>
                                <a:latin typeface="Cambria Math" panose="02040503050406030204" pitchFamily="18" charset="0"/>
                                <a:cs typeface="Calibri" panose="020F0502020204030204" pitchFamily="34" charset="0"/>
                              </a:rPr>
                              <m:t>𝒔𝒆𝒍𝒍</m:t>
                            </m:r>
                            <m:r>
                              <a:rPr lang="en-US" b="1" i="1">
                                <a:solidFill>
                                  <a:schemeClr val="tx1">
                                    <a:lumMod val="65000"/>
                                    <a:lumOff val="35000"/>
                                  </a:schemeClr>
                                </a:solidFill>
                                <a:latin typeface="Cambria Math" panose="02040503050406030204" pitchFamily="18" charset="0"/>
                                <a:cs typeface="Calibri" panose="020F0502020204030204" pitchFamily="34" charset="0"/>
                              </a:rPr>
                              <m:t>)</m:t>
                            </m:r>
                          </m:sub>
                        </m:sSub>
                        <m:r>
                          <a:rPr lang="en-US" b="1" i="1">
                            <a:solidFill>
                              <a:schemeClr val="tx1">
                                <a:lumMod val="65000"/>
                                <a:lumOff val="35000"/>
                              </a:schemeClr>
                            </a:solidFill>
                            <a:latin typeface="Cambria Math" panose="02040503050406030204" pitchFamily="18" charset="0"/>
                            <a:cs typeface="Calibri" panose="020F0502020204030204" pitchFamily="34" charset="0"/>
                          </a:rPr>
                          <m:t> </m:t>
                        </m:r>
                      </m:e>
                    </m:nary>
                  </m:oMath>
                </a14:m>
                <a:r>
                  <a:rPr lang="en-US" dirty="0">
                    <a:solidFill>
                      <a:schemeClr val="tx1">
                        <a:lumMod val="65000"/>
                        <a:lumOff val="35000"/>
                      </a:schemeClr>
                    </a:solidFill>
                    <a:latin typeface="Calibri" panose="020F0502020204030204" pitchFamily="34" charset="0"/>
                    <a:cs typeface="Calibri" panose="020F0502020204030204" pitchFamily="34" charset="0"/>
                  </a:rPr>
                  <a:t>is the annual net revenue from selling energy to the grid.</a:t>
                </a:r>
              </a:p>
              <a:p>
                <a:pPr algn="just"/>
                <a:endParaRPr lang="en-US" sz="1000" dirty="0">
                  <a:solidFill>
                    <a:schemeClr val="tx1">
                      <a:lumMod val="65000"/>
                      <a:lumOff val="35000"/>
                    </a:schemeClr>
                  </a:solidFill>
                  <a:latin typeface="Calibri" panose="020F0502020204030204" pitchFamily="34" charset="0"/>
                  <a:cs typeface="Calibri" panose="020F0502020204030204" pitchFamily="34" charset="0"/>
                </a:endParaRPr>
              </a:p>
              <a:p>
                <a:pPr algn="just"/>
                <a:r>
                  <a:rPr lang="en-US" dirty="0">
                    <a:solidFill>
                      <a:schemeClr val="tx1">
                        <a:lumMod val="65000"/>
                        <a:lumOff val="35000"/>
                      </a:schemeClr>
                    </a:solidFill>
                    <a:latin typeface="Calibri" panose="020F0502020204030204" pitchFamily="34" charset="0"/>
                    <a:cs typeface="Calibri" panose="020F0502020204030204" pitchFamily="34" charset="0"/>
                  </a:rPr>
                  <a:t>GWO algorithm produce the value of </a:t>
                </a:r>
                <a:r>
                  <a:rPr lang="en-US" b="1" dirty="0">
                    <a:solidFill>
                      <a:schemeClr val="tx1">
                        <a:lumMod val="65000"/>
                        <a:lumOff val="35000"/>
                      </a:schemeClr>
                    </a:solidFill>
                    <a:latin typeface="Calibri" panose="020F0502020204030204" pitchFamily="34" charset="0"/>
                    <a:cs typeface="Calibri" panose="020F0502020204030204" pitchFamily="34" charset="0"/>
                  </a:rPr>
                  <a:t>nPV</a:t>
                </a:r>
                <a:r>
                  <a:rPr lang="en-US" dirty="0">
                    <a:solidFill>
                      <a:schemeClr val="tx1">
                        <a:lumMod val="65000"/>
                        <a:lumOff val="35000"/>
                      </a:schemeClr>
                    </a:solidFill>
                    <a:latin typeface="Calibri" panose="020F0502020204030204" pitchFamily="34" charset="0"/>
                    <a:cs typeface="Calibri" panose="020F0502020204030204" pitchFamily="34" charset="0"/>
                  </a:rPr>
                  <a:t>, </a:t>
                </a:r>
                <a:r>
                  <a:rPr lang="en-US" b="1" dirty="0">
                    <a:solidFill>
                      <a:schemeClr val="tx1">
                        <a:lumMod val="65000"/>
                        <a:lumOff val="35000"/>
                      </a:schemeClr>
                    </a:solidFill>
                    <a:latin typeface="Calibri" panose="020F0502020204030204" pitchFamily="34" charset="0"/>
                    <a:cs typeface="Calibri" panose="020F0502020204030204" pitchFamily="34" charset="0"/>
                  </a:rPr>
                  <a:t>nWT</a:t>
                </a:r>
                <a:r>
                  <a:rPr lang="en-US" dirty="0">
                    <a:solidFill>
                      <a:schemeClr val="tx1">
                        <a:lumMod val="65000"/>
                        <a:lumOff val="35000"/>
                      </a:schemeClr>
                    </a:solidFill>
                    <a:latin typeface="Calibri" panose="020F0502020204030204" pitchFamily="34" charset="0"/>
                    <a:cs typeface="Calibri" panose="020F0502020204030204" pitchFamily="34" charset="0"/>
                  </a:rPr>
                  <a:t> after each iteration. Thus determining the NPC and optimal capacity required for the system.</a:t>
                </a:r>
              </a:p>
            </p:txBody>
          </p:sp>
        </mc:Choice>
        <mc:Fallback xmlns="">
          <p:sp>
            <p:nvSpPr>
              <p:cNvPr id="4" name="Rectangle 3"/>
              <p:cNvSpPr>
                <a:spLocks noRot="1" noChangeAspect="1" noMove="1" noResize="1" noEditPoints="1" noAdjustHandles="1" noChangeArrowheads="1" noChangeShapeType="1" noTextEdit="1"/>
              </p:cNvSpPr>
              <p:nvPr/>
            </p:nvSpPr>
            <p:spPr>
              <a:xfrm>
                <a:off x="514267" y="2478465"/>
                <a:ext cx="4210133" cy="2510046"/>
              </a:xfrm>
              <a:prstGeom prst="rect">
                <a:avLst/>
              </a:prstGeom>
              <a:blipFill>
                <a:blip r:embed="rId5" cstate="print"/>
                <a:stretch>
                  <a:fillRect l="-1158" t="-1460" r="-1158" b="-3163"/>
                </a:stretch>
              </a:blipFill>
            </p:spPr>
            <p:txBody>
              <a:bodyPr/>
              <a:lstStyle/>
              <a:p>
                <a:r>
                  <a:rPr lang="en-US">
                    <a:noFill/>
                  </a:rPr>
                  <a:t> </a:t>
                </a:r>
              </a:p>
            </p:txBody>
          </p:sp>
        </mc:Fallback>
      </mc:AlternateContent>
      <p:graphicFrame>
        <p:nvGraphicFramePr>
          <p:cNvPr id="12" name="Table 11"/>
          <p:cNvGraphicFramePr>
            <a:graphicFrameLocks noGrp="1"/>
          </p:cNvGraphicFramePr>
          <p:nvPr>
            <p:extLst>
              <p:ext uri="{D42A27DB-BD31-4B8C-83A1-F6EECF244321}">
                <p14:modId xmlns:p14="http://schemas.microsoft.com/office/powerpoint/2010/main" val="2786235002"/>
              </p:ext>
            </p:extLst>
          </p:nvPr>
        </p:nvGraphicFramePr>
        <p:xfrm>
          <a:off x="594911" y="5031715"/>
          <a:ext cx="4038600" cy="1371600"/>
        </p:xfrm>
        <a:graphic>
          <a:graphicData uri="http://schemas.openxmlformats.org/drawingml/2006/table">
            <a:tbl>
              <a:tblPr firstRow="1" bandRow="1">
                <a:tableStyleId>{69CF1AB2-1976-4502-BF36-3FF5EA218861}</a:tableStyleId>
              </a:tblPr>
              <a:tblGrid>
                <a:gridCol w="2100072">
                  <a:extLst>
                    <a:ext uri="{9D8B030D-6E8A-4147-A177-3AD203B41FA5}">
                      <a16:colId xmlns:a16="http://schemas.microsoft.com/office/drawing/2014/main" val="1765604018"/>
                    </a:ext>
                  </a:extLst>
                </a:gridCol>
                <a:gridCol w="1938528">
                  <a:extLst>
                    <a:ext uri="{9D8B030D-6E8A-4147-A177-3AD203B41FA5}">
                      <a16:colId xmlns:a16="http://schemas.microsoft.com/office/drawing/2014/main" val="1418847233"/>
                    </a:ext>
                  </a:extLst>
                </a:gridCol>
              </a:tblGrid>
              <a:tr h="225049">
                <a:tc>
                  <a:txBody>
                    <a:bodyPr/>
                    <a:lstStyle/>
                    <a:p>
                      <a:r>
                        <a:rPr lang="en-US" sz="1200" dirty="0"/>
                        <a:t>Parameters</a:t>
                      </a:r>
                      <a:endParaRPr lang="en-US" sz="1200" dirty="0">
                        <a:latin typeface="Calibri" panose="020F0502020204030204" pitchFamily="34" charset="0"/>
                        <a:cs typeface="Calibri" panose="020F0502020204030204" pitchFamily="34" charset="0"/>
                      </a:endParaRPr>
                    </a:p>
                  </a:txBody>
                  <a:tcPr/>
                </a:tc>
                <a:tc>
                  <a:txBody>
                    <a:bodyPr/>
                    <a:lstStyle/>
                    <a:p>
                      <a:r>
                        <a:rPr lang="en-US" sz="1200" dirty="0"/>
                        <a:t>Value</a:t>
                      </a:r>
                      <a:endParaRPr lang="en-US" sz="1200" dirty="0">
                        <a:latin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3733738319"/>
                  </a:ext>
                </a:extLst>
              </a:tr>
              <a:tr h="22504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Population</a:t>
                      </a:r>
                      <a:r>
                        <a:rPr lang="en-US" sz="1200" baseline="0" dirty="0"/>
                        <a:t> size</a:t>
                      </a:r>
                      <a:endParaRPr lang="en-US" sz="1200" dirty="0">
                        <a:latin typeface="Calibri" panose="020F0502020204030204" pitchFamily="34" charset="0"/>
                        <a:cs typeface="Calibri" panose="020F0502020204030204" pitchFamily="34" charset="0"/>
                      </a:endParaRPr>
                    </a:p>
                  </a:txBody>
                  <a:tcPr/>
                </a:tc>
                <a:tc>
                  <a:txBody>
                    <a:bodyPr/>
                    <a:lstStyle/>
                    <a:p>
                      <a:r>
                        <a:rPr lang="en-US" sz="1200" dirty="0">
                          <a:latin typeface="+mn-lt"/>
                          <a:cs typeface="+mn-cs"/>
                        </a:rPr>
                        <a:t>10</a:t>
                      </a:r>
                      <a:endParaRPr lang="en-US" sz="1200" dirty="0">
                        <a:latin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2144668091"/>
                  </a:ext>
                </a:extLst>
              </a:tr>
              <a:tr h="22504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Upper bound</a:t>
                      </a:r>
                      <a:r>
                        <a:rPr lang="en-US" sz="1200" baseline="0" dirty="0"/>
                        <a:t> </a:t>
                      </a:r>
                      <a:endParaRPr lang="en-US" sz="1200" dirty="0">
                        <a:latin typeface="Calibri" panose="020F0502020204030204" pitchFamily="34" charset="0"/>
                        <a:cs typeface="Calibri" panose="020F0502020204030204" pitchFamily="34" charset="0"/>
                      </a:endParaRPr>
                    </a:p>
                  </a:txBody>
                  <a:tcPr/>
                </a:tc>
                <a:tc>
                  <a:txBody>
                    <a:bodyPr/>
                    <a:lstStyle/>
                    <a:p>
                      <a:r>
                        <a:rPr lang="en-US" sz="1200" dirty="0"/>
                        <a:t>10000</a:t>
                      </a:r>
                      <a:endParaRPr lang="en-US" sz="1200" dirty="0">
                        <a:latin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2676321237"/>
                  </a:ext>
                </a:extLst>
              </a:tr>
              <a:tr h="225049">
                <a:tc>
                  <a:txBody>
                    <a:bodyPr/>
                    <a:lstStyle/>
                    <a:p>
                      <a:r>
                        <a:rPr lang="en-US" sz="1200" dirty="0"/>
                        <a:t>Lower bound </a:t>
                      </a:r>
                      <a:endParaRPr lang="en-US" sz="1200" dirty="0">
                        <a:latin typeface="Calibri" panose="020F0502020204030204" pitchFamily="34" charset="0"/>
                        <a:cs typeface="Calibri" panose="020F0502020204030204" pitchFamily="34" charset="0"/>
                      </a:endParaRPr>
                    </a:p>
                  </a:txBody>
                  <a:tcPr/>
                </a:tc>
                <a:tc>
                  <a:txBody>
                    <a:bodyPr/>
                    <a:lstStyle/>
                    <a:p>
                      <a:r>
                        <a:rPr lang="en-US" sz="1200" dirty="0"/>
                        <a:t>0</a:t>
                      </a:r>
                      <a:endParaRPr lang="en-US" sz="1200" dirty="0">
                        <a:latin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1700528567"/>
                  </a:ext>
                </a:extLst>
              </a:tr>
              <a:tr h="225049">
                <a:tc>
                  <a:txBody>
                    <a:bodyPr/>
                    <a:lstStyle/>
                    <a:p>
                      <a:r>
                        <a:rPr lang="en-US" sz="1200" dirty="0"/>
                        <a:t>Iteration</a:t>
                      </a:r>
                      <a:endParaRPr lang="en-US" sz="1200" dirty="0">
                        <a:latin typeface="Calibri" panose="020F0502020204030204" pitchFamily="34" charset="0"/>
                        <a:cs typeface="Calibri" panose="020F0502020204030204" pitchFamily="34" charset="0"/>
                      </a:endParaRPr>
                    </a:p>
                  </a:txBody>
                  <a:tcPr/>
                </a:tc>
                <a:tc>
                  <a:txBody>
                    <a:bodyPr/>
                    <a:lstStyle/>
                    <a:p>
                      <a:r>
                        <a:rPr lang="en-US" sz="1200" dirty="0"/>
                        <a:t>100</a:t>
                      </a:r>
                      <a:endParaRPr lang="en-US" sz="1200" dirty="0">
                        <a:latin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3650314011"/>
                  </a:ext>
                </a:extLst>
              </a:tr>
            </a:tbl>
          </a:graphicData>
        </a:graphic>
      </p:graphicFrame>
    </p:spTree>
    <p:extLst>
      <p:ext uri="{BB962C8B-B14F-4D97-AF65-F5344CB8AC3E}">
        <p14:creationId xmlns:p14="http://schemas.microsoft.com/office/powerpoint/2010/main" val="1880021671"/>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nodePh="1">
                                  <p:stCondLst>
                                    <p:cond delay="0"/>
                                  </p:stCondLst>
                                  <p:endCondLst>
                                    <p:cond evt="begin" delay="0">
                                      <p:tn val="11"/>
                                    </p:cond>
                                  </p:endCondLst>
                                  <p:childTnLst>
                                    <p:set>
                                      <p:cBhvr>
                                        <p:cTn id="12" dur="1" fill="hold">
                                          <p:stCondLst>
                                            <p:cond delay="0"/>
                                          </p:stCondLst>
                                        </p:cTn>
                                        <p:tgtEl>
                                          <p:spTgt spid="11">
                                            <p:txEl>
                                              <p:pRg st="0" end="0"/>
                                            </p:txEl>
                                          </p:spTgt>
                                        </p:tgtEl>
                                        <p:attrNameLst>
                                          <p:attrName>style.visibility</p:attrName>
                                        </p:attrNameLst>
                                      </p:cBhvr>
                                      <p:to>
                                        <p:strVal val="visible"/>
                                      </p:to>
                                    </p:set>
                                    <p:anim calcmode="lin" valueType="num">
                                      <p:cBhvr additive="base">
                                        <p:cTn id="13" dur="500" fill="hold"/>
                                        <p:tgtEl>
                                          <p:spTgt spid="11">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1">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anim calcmode="lin" valueType="num">
                                      <p:cBhvr additive="base">
                                        <p:cTn id="19" dur="500" fill="hold"/>
                                        <p:tgtEl>
                                          <p:spTgt spid="4"/>
                                        </p:tgtEl>
                                        <p:attrNameLst>
                                          <p:attrName>ppt_x</p:attrName>
                                        </p:attrNameLst>
                                      </p:cBhvr>
                                      <p:tavLst>
                                        <p:tav tm="0">
                                          <p:val>
                                            <p:strVal val="#ppt_x"/>
                                          </p:val>
                                        </p:tav>
                                        <p:tav tm="100000">
                                          <p:val>
                                            <p:strVal val="#ppt_x"/>
                                          </p:val>
                                        </p:tav>
                                      </p:tavLst>
                                    </p:anim>
                                    <p:anim calcmode="lin" valueType="num">
                                      <p:cBhvr additive="base">
                                        <p:cTn id="20"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12"/>
                                        </p:tgtEl>
                                        <p:attrNameLst>
                                          <p:attrName>style.visibility</p:attrName>
                                        </p:attrNameLst>
                                      </p:cBhvr>
                                      <p:to>
                                        <p:strVal val="visible"/>
                                      </p:to>
                                    </p:set>
                                    <p:anim calcmode="lin" valueType="num">
                                      <p:cBhvr additive="base">
                                        <p:cTn id="25" dur="500" fill="hold"/>
                                        <p:tgtEl>
                                          <p:spTgt spid="12"/>
                                        </p:tgtEl>
                                        <p:attrNameLst>
                                          <p:attrName>ppt_x</p:attrName>
                                        </p:attrNameLst>
                                      </p:cBhvr>
                                      <p:tavLst>
                                        <p:tav tm="0">
                                          <p:val>
                                            <p:strVal val="#ppt_x"/>
                                          </p:val>
                                        </p:tav>
                                        <p:tav tm="100000">
                                          <p:val>
                                            <p:strVal val="#ppt_x"/>
                                          </p:val>
                                        </p:tav>
                                      </p:tavLst>
                                    </p:anim>
                                    <p:anim calcmode="lin" valueType="num">
                                      <p:cBhvr additive="base">
                                        <p:cTn id="26"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noFill/>
          <a:ln>
            <a:noFill/>
          </a:ln>
        </p:spPr>
        <p:txBody>
          <a:bodyPr>
            <a:normAutofit/>
          </a:bodyPr>
          <a:lstStyle/>
          <a:p>
            <a:r>
              <a:rPr lang="en-US" sz="3600" dirty="0">
                <a:solidFill>
                  <a:schemeClr val="accent1"/>
                </a:solidFill>
                <a:latin typeface="Calibri" panose="020F0502020204030204" pitchFamily="34" charset="0"/>
                <a:cs typeface="Calibri" panose="020F0502020204030204" pitchFamily="34" charset="0"/>
              </a:rPr>
              <a:t>ANALYSIS CONDITIONS</a:t>
            </a:r>
            <a:endParaRPr lang="en-US" dirty="0">
              <a:solidFill>
                <a:schemeClr val="accent1"/>
              </a:solidFill>
              <a:latin typeface="Calibri" panose="020F0502020204030204" pitchFamily="34" charset="0"/>
              <a:cs typeface="Calibri" panose="020F0502020204030204" pitchFamily="34" charset="0"/>
            </a:endParaRPr>
          </a:p>
        </p:txBody>
      </p:sp>
      <p:cxnSp>
        <p:nvCxnSpPr>
          <p:cNvPr id="5" name="Straight Connector 4"/>
          <p:cNvCxnSpPr/>
          <p:nvPr/>
        </p:nvCxnSpPr>
        <p:spPr>
          <a:xfrm>
            <a:off x="457200" y="1447800"/>
            <a:ext cx="8229600"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3" name="Content Placeholder 2"/>
          <p:cNvSpPr>
            <a:spLocks noGrp="1"/>
          </p:cNvSpPr>
          <p:nvPr>
            <p:ph idx="1"/>
          </p:nvPr>
        </p:nvSpPr>
        <p:spPr>
          <a:xfrm>
            <a:off x="381001" y="1761744"/>
            <a:ext cx="3810000" cy="4876800"/>
          </a:xfrm>
        </p:spPr>
        <p:txBody>
          <a:bodyPr>
            <a:normAutofit/>
          </a:bodyPr>
          <a:lstStyle/>
          <a:p>
            <a:pPr algn="just">
              <a:buFont typeface="Wingdings" panose="05000000000000000000" pitchFamily="2" charset="2"/>
              <a:buChar char="q"/>
            </a:pPr>
            <a:r>
              <a:rPr lang="en-US" sz="2000" dirty="0">
                <a:solidFill>
                  <a:schemeClr val="tx1">
                    <a:lumMod val="50000"/>
                    <a:lumOff val="50000"/>
                  </a:schemeClr>
                </a:solidFill>
                <a:latin typeface="Calibri" panose="020F0502020204030204" pitchFamily="34" charset="0"/>
                <a:cs typeface="Calibri" panose="020F0502020204030204" pitchFamily="34" charset="0"/>
              </a:rPr>
              <a:t> Location specific solar Insolation and wind speed data was collected from </a:t>
            </a:r>
            <a:r>
              <a:rPr lang="en-US" sz="2000" b="1" dirty="0">
                <a:solidFill>
                  <a:schemeClr val="tx1">
                    <a:lumMod val="50000"/>
                    <a:lumOff val="50000"/>
                  </a:schemeClr>
                </a:solidFill>
                <a:latin typeface="Calibri" panose="020F0502020204030204" pitchFamily="34" charset="0"/>
                <a:cs typeface="Calibri" panose="020F0502020204030204" pitchFamily="34" charset="0"/>
              </a:rPr>
              <a:t>NREL</a:t>
            </a:r>
            <a:r>
              <a:rPr lang="en-US" sz="2000" dirty="0">
                <a:solidFill>
                  <a:schemeClr val="tx1">
                    <a:lumMod val="50000"/>
                    <a:lumOff val="50000"/>
                  </a:schemeClr>
                </a:solidFill>
                <a:latin typeface="Calibri" panose="020F0502020204030204" pitchFamily="34" charset="0"/>
                <a:cs typeface="Calibri" panose="020F0502020204030204" pitchFamily="34" charset="0"/>
              </a:rPr>
              <a:t> in order to test the model.</a:t>
            </a:r>
          </a:p>
          <a:p>
            <a:pPr marL="0" indent="0" algn="just">
              <a:buNone/>
            </a:pPr>
            <a:endParaRPr lang="en-US" sz="2000" dirty="0">
              <a:solidFill>
                <a:schemeClr val="tx1">
                  <a:lumMod val="50000"/>
                  <a:lumOff val="50000"/>
                </a:schemeClr>
              </a:solidFill>
              <a:latin typeface="Calibri" panose="020F0502020204030204" pitchFamily="34" charset="0"/>
              <a:cs typeface="Calibri" panose="020F0502020204030204" pitchFamily="34" charset="0"/>
            </a:endParaRPr>
          </a:p>
          <a:p>
            <a:pPr algn="just">
              <a:buFont typeface="Wingdings" panose="05000000000000000000" pitchFamily="2" charset="2"/>
              <a:buChar char="q"/>
            </a:pPr>
            <a:r>
              <a:rPr lang="en-US" sz="2000" dirty="0">
                <a:solidFill>
                  <a:schemeClr val="tx1">
                    <a:lumMod val="50000"/>
                    <a:lumOff val="50000"/>
                  </a:schemeClr>
                </a:solidFill>
                <a:latin typeface="Calibri" panose="020F0502020204030204" pitchFamily="34" charset="0"/>
                <a:cs typeface="Calibri" panose="020F0502020204030204" pitchFamily="34" charset="0"/>
              </a:rPr>
              <a:t> Daily average DNI is noticed around 2.3 (kW/m2), which is very potential for solar generation, and the average hourly wind speed is perceived around 4.26 (m/s)</a:t>
            </a:r>
          </a:p>
        </p:txBody>
      </p:sp>
      <p:grpSp>
        <p:nvGrpSpPr>
          <p:cNvPr id="10" name="Group 9">
            <a:extLst>
              <a:ext uri="{FF2B5EF4-FFF2-40B4-BE49-F238E27FC236}">
                <a16:creationId xmlns:a16="http://schemas.microsoft.com/office/drawing/2014/main" id="{B051C7EC-F0F9-717E-5F83-CF2A16260CD4}"/>
              </a:ext>
            </a:extLst>
          </p:cNvPr>
          <p:cNvGrpSpPr/>
          <p:nvPr/>
        </p:nvGrpSpPr>
        <p:grpSpPr>
          <a:xfrm>
            <a:off x="4267200" y="1752600"/>
            <a:ext cx="4419600" cy="4876800"/>
            <a:chOff x="4372484" y="1600200"/>
            <a:chExt cx="4419600" cy="4876800"/>
          </a:xfrm>
        </p:grpSpPr>
        <p:pic>
          <p:nvPicPr>
            <p:cNvPr id="9" name="Picture 8">
              <a:extLst>
                <a:ext uri="{FF2B5EF4-FFF2-40B4-BE49-F238E27FC236}">
                  <a16:creationId xmlns:a16="http://schemas.microsoft.com/office/drawing/2014/main" id="{D972E37D-1957-BA09-8B09-E15B0DE9710D}"/>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7394" t="5351" r="6830"/>
            <a:stretch/>
          </p:blipFill>
          <p:spPr>
            <a:xfrm>
              <a:off x="4372484" y="1600200"/>
              <a:ext cx="4419600" cy="4876800"/>
            </a:xfrm>
            <a:prstGeom prst="rect">
              <a:avLst/>
            </a:prstGeom>
          </p:spPr>
        </p:pic>
        <p:sp>
          <p:nvSpPr>
            <p:cNvPr id="19" name="TextBox 18"/>
            <p:cNvSpPr txBox="1"/>
            <p:nvPr/>
          </p:nvSpPr>
          <p:spPr>
            <a:xfrm>
              <a:off x="5410200" y="6169223"/>
              <a:ext cx="2941511" cy="307777"/>
            </a:xfrm>
            <a:prstGeom prst="rect">
              <a:avLst/>
            </a:prstGeom>
            <a:noFill/>
          </p:spPr>
          <p:txBody>
            <a:bodyPr wrap="none" rtlCol="0">
              <a:spAutoFit/>
            </a:bodyPr>
            <a:lstStyle/>
            <a:p>
              <a:r>
                <a:rPr lang="en-US" sz="1400" b="1" dirty="0">
                  <a:latin typeface="Calibri" panose="020F0502020204030204" pitchFamily="34" charset="0"/>
                  <a:cs typeface="Calibri" panose="020F0502020204030204" pitchFamily="34" charset="0"/>
                </a:rPr>
                <a:t>Fig.</a:t>
              </a:r>
              <a:r>
                <a:rPr lang="en-US" sz="1400" dirty="0">
                  <a:latin typeface="Calibri" panose="020F0502020204030204" pitchFamily="34" charset="0"/>
                  <a:cs typeface="Calibri" panose="020F0502020204030204" pitchFamily="34" charset="0"/>
                </a:rPr>
                <a:t>  Input Meteorological Data Point</a:t>
              </a:r>
            </a:p>
          </p:txBody>
        </p:sp>
      </p:grpSp>
    </p:spTree>
    <p:extLst>
      <p:ext uri="{BB962C8B-B14F-4D97-AF65-F5344CB8AC3E}">
        <p14:creationId xmlns:p14="http://schemas.microsoft.com/office/powerpoint/2010/main" val="3337212959"/>
      </p:ext>
    </p:extLst>
  </p:cSld>
  <p:clrMapOvr>
    <a:masterClrMapping/>
  </p:clrMapOvr>
  <p:transition spd="slow">
    <p:push dir="u"/>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noFill/>
          <a:ln>
            <a:noFill/>
          </a:ln>
        </p:spPr>
        <p:txBody>
          <a:bodyPr>
            <a:normAutofit/>
          </a:bodyPr>
          <a:lstStyle/>
          <a:p>
            <a:r>
              <a:rPr lang="en-US" sz="3600" dirty="0">
                <a:solidFill>
                  <a:schemeClr val="accent1"/>
                </a:solidFill>
                <a:latin typeface="Calibri" panose="020F0502020204030204" pitchFamily="34" charset="0"/>
                <a:cs typeface="Calibri" panose="020F0502020204030204" pitchFamily="34" charset="0"/>
              </a:rPr>
              <a:t>ANALYSIS CONDITIONS (CONT.)</a:t>
            </a:r>
            <a:endParaRPr lang="en-US" dirty="0">
              <a:solidFill>
                <a:schemeClr val="accent1"/>
              </a:solidFill>
              <a:latin typeface="Calibri" panose="020F0502020204030204" pitchFamily="34" charset="0"/>
              <a:cs typeface="Calibri" panose="020F0502020204030204" pitchFamily="34" charset="0"/>
            </a:endParaRPr>
          </a:p>
        </p:txBody>
      </p:sp>
      <p:cxnSp>
        <p:nvCxnSpPr>
          <p:cNvPr id="5" name="Straight Connector 4"/>
          <p:cNvCxnSpPr/>
          <p:nvPr/>
        </p:nvCxnSpPr>
        <p:spPr>
          <a:xfrm>
            <a:off x="457200" y="1447800"/>
            <a:ext cx="8229600"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4" name="Content Placeholder 3"/>
          <p:cNvSpPr>
            <a:spLocks noGrp="1"/>
          </p:cNvSpPr>
          <p:nvPr>
            <p:ph idx="1"/>
          </p:nvPr>
        </p:nvSpPr>
        <p:spPr/>
        <p:txBody>
          <a:bodyPr>
            <a:normAutofit/>
          </a:bodyPr>
          <a:lstStyle/>
          <a:p>
            <a:pPr marL="0" indent="0" algn="just">
              <a:buNone/>
            </a:pPr>
            <a:r>
              <a:rPr lang="en-US" sz="2000" dirty="0">
                <a:solidFill>
                  <a:schemeClr val="tx1">
                    <a:lumMod val="65000"/>
                    <a:lumOff val="35000"/>
                  </a:schemeClr>
                </a:solidFill>
                <a:latin typeface="Calibri" panose="020F0502020204030204" pitchFamily="34" charset="0"/>
                <a:cs typeface="Calibri" panose="020F0502020204030204" pitchFamily="34" charset="0"/>
              </a:rPr>
              <a:t>Hourly load data of 1 day was collected from KEPZ office. Around 2% uniformly distributed randomness was added to simulate annual hourly data.</a:t>
            </a:r>
          </a:p>
        </p:txBody>
      </p:sp>
      <p:sp>
        <p:nvSpPr>
          <p:cNvPr id="14" name="TextBox 13"/>
          <p:cNvSpPr txBox="1"/>
          <p:nvPr/>
        </p:nvSpPr>
        <p:spPr>
          <a:xfrm>
            <a:off x="3200400" y="5397754"/>
            <a:ext cx="3200400" cy="367342"/>
          </a:xfrm>
          <a:prstGeom prst="rect">
            <a:avLst/>
          </a:prstGeom>
          <a:noFill/>
        </p:spPr>
        <p:txBody>
          <a:bodyPr wrap="square" rtlCol="0">
            <a:spAutoFit/>
          </a:bodyPr>
          <a:lstStyle/>
          <a:p>
            <a:r>
              <a:rPr lang="en-US" b="1" dirty="0">
                <a:latin typeface="Calibri" panose="020F0502020204030204" pitchFamily="34" charset="0"/>
                <a:cs typeface="Calibri" panose="020F0502020204030204" pitchFamily="34" charset="0"/>
              </a:rPr>
              <a:t>Fig 9</a:t>
            </a:r>
            <a:r>
              <a:rPr lang="en-US" dirty="0">
                <a:latin typeface="Calibri" panose="020F0502020204030204" pitchFamily="34" charset="0"/>
                <a:cs typeface="Calibri" panose="020F0502020204030204" pitchFamily="34" charset="0"/>
              </a:rPr>
              <a:t> – KEPZ Load (MWh)</a:t>
            </a:r>
            <a:endParaRPr lang="en-US" dirty="0"/>
          </a:p>
        </p:txBody>
      </p:sp>
      <p:pic>
        <p:nvPicPr>
          <p:cNvPr id="3" name="Picture 2"/>
          <p:cNvPicPr>
            <a:picLocks noChangeAspect="1"/>
          </p:cNvPicPr>
          <p:nvPr/>
        </p:nvPicPr>
        <p:blipFill rotWithShape="1">
          <a:blip r:embed="rId3" cstate="print">
            <a:extLst>
              <a:ext uri="{28A0092B-C50C-407E-A947-70E740481C1C}">
                <a14:useLocalDpi xmlns:a14="http://schemas.microsoft.com/office/drawing/2010/main" val="0"/>
              </a:ext>
            </a:extLst>
          </a:blip>
          <a:srcRect l="4872" t="6139" r="7436" b="2950"/>
          <a:stretch/>
        </p:blipFill>
        <p:spPr>
          <a:xfrm>
            <a:off x="4495800" y="2667000"/>
            <a:ext cx="4114800" cy="2667000"/>
          </a:xfrm>
          <a:prstGeom prst="rect">
            <a:avLst/>
          </a:prstGeom>
        </p:spPr>
      </p:pic>
      <p:pic>
        <p:nvPicPr>
          <p:cNvPr id="9" name="Picture 4" descr="D:\Sync\Google Drive\Research\THESIS_KPZ_Sourav\latex (Backup)\KEPZ GWO (Thesis)\figures\load_consumption.jpg"/>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l="6809" t="4012" r="7693" b="1970"/>
          <a:stretch/>
        </p:blipFill>
        <p:spPr bwMode="auto">
          <a:xfrm>
            <a:off x="239244" y="2584704"/>
            <a:ext cx="4027956" cy="28358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82777161"/>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 calcmode="lin" valueType="num">
                                      <p:cBhvr additive="base">
                                        <p:cTn id="7"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2"/>
                                        </p:tgtEl>
                                        <p:attrNameLst>
                                          <p:attrName>style.visibility</p:attrName>
                                        </p:attrNameLst>
                                      </p:cBhvr>
                                      <p:to>
                                        <p:strVal val="visible"/>
                                      </p:to>
                                    </p:set>
                                    <p:anim calcmode="lin" valueType="num">
                                      <p:cBhvr additive="base">
                                        <p:cTn id="11" dur="500" fill="hold"/>
                                        <p:tgtEl>
                                          <p:spTgt spid="2"/>
                                        </p:tgtEl>
                                        <p:attrNameLst>
                                          <p:attrName>ppt_x</p:attrName>
                                        </p:attrNameLst>
                                      </p:cBhvr>
                                      <p:tavLst>
                                        <p:tav tm="0">
                                          <p:val>
                                            <p:strVal val="#ppt_x"/>
                                          </p:val>
                                        </p:tav>
                                        <p:tav tm="100000">
                                          <p:val>
                                            <p:strVal val="#ppt_x"/>
                                          </p:val>
                                        </p:tav>
                                      </p:tavLst>
                                    </p:anim>
                                    <p:anim calcmode="lin" valueType="num">
                                      <p:cBhvr additive="base">
                                        <p:cTn id="12" dur="500" fill="hold"/>
                                        <p:tgtEl>
                                          <p:spTgt spid="2"/>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5"/>
                                        </p:tgtEl>
                                        <p:attrNameLst>
                                          <p:attrName>style.visibility</p:attrName>
                                        </p:attrNameLst>
                                      </p:cBhvr>
                                      <p:to>
                                        <p:strVal val="visible"/>
                                      </p:to>
                                    </p:set>
                                    <p:anim calcmode="lin" valueType="num">
                                      <p:cBhvr additive="base">
                                        <p:cTn id="15" dur="500" fill="hold"/>
                                        <p:tgtEl>
                                          <p:spTgt spid="5"/>
                                        </p:tgtEl>
                                        <p:attrNameLst>
                                          <p:attrName>ppt_x</p:attrName>
                                        </p:attrNameLst>
                                      </p:cBhvr>
                                      <p:tavLst>
                                        <p:tav tm="0">
                                          <p:val>
                                            <p:strVal val="#ppt_x"/>
                                          </p:val>
                                        </p:tav>
                                        <p:tav tm="100000">
                                          <p:val>
                                            <p:strVal val="#ppt_x"/>
                                          </p:val>
                                        </p:tav>
                                      </p:tavLst>
                                    </p:anim>
                                    <p:anim calcmode="lin" valueType="num">
                                      <p:cBhvr additive="base">
                                        <p:cTn id="16" dur="500" fill="hold"/>
                                        <p:tgtEl>
                                          <p:spTgt spid="5"/>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14"/>
                                        </p:tgtEl>
                                        <p:attrNameLst>
                                          <p:attrName>style.visibility</p:attrName>
                                        </p:attrNameLst>
                                      </p:cBhvr>
                                      <p:to>
                                        <p:strVal val="visible"/>
                                      </p:to>
                                    </p:set>
                                    <p:anim calcmode="lin" valueType="num">
                                      <p:cBhvr additive="base">
                                        <p:cTn id="19" dur="500" fill="hold"/>
                                        <p:tgtEl>
                                          <p:spTgt spid="14"/>
                                        </p:tgtEl>
                                        <p:attrNameLst>
                                          <p:attrName>ppt_x</p:attrName>
                                        </p:attrNameLst>
                                      </p:cBhvr>
                                      <p:tavLst>
                                        <p:tav tm="0">
                                          <p:val>
                                            <p:strVal val="#ppt_x"/>
                                          </p:val>
                                        </p:tav>
                                        <p:tav tm="100000">
                                          <p:val>
                                            <p:strVal val="#ppt_x"/>
                                          </p:val>
                                        </p:tav>
                                      </p:tavLst>
                                    </p:anim>
                                    <p:anim calcmode="lin" valueType="num">
                                      <p:cBhvr additive="base">
                                        <p:cTn id="20" dur="500" fill="hold"/>
                                        <p:tgtEl>
                                          <p:spTgt spid="14"/>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
                                        </p:tgtEl>
                                        <p:attrNameLst>
                                          <p:attrName>style.visibility</p:attrName>
                                        </p:attrNameLst>
                                      </p:cBhvr>
                                      <p:to>
                                        <p:strVal val="visible"/>
                                      </p:to>
                                    </p:set>
                                    <p:anim calcmode="lin" valueType="num">
                                      <p:cBhvr additive="base">
                                        <p:cTn id="23" dur="500" fill="hold"/>
                                        <p:tgtEl>
                                          <p:spTgt spid="3"/>
                                        </p:tgtEl>
                                        <p:attrNameLst>
                                          <p:attrName>ppt_x</p:attrName>
                                        </p:attrNameLst>
                                      </p:cBhvr>
                                      <p:tavLst>
                                        <p:tav tm="0">
                                          <p:val>
                                            <p:strVal val="#ppt_x"/>
                                          </p:val>
                                        </p:tav>
                                        <p:tav tm="100000">
                                          <p:val>
                                            <p:strVal val="#ppt_x"/>
                                          </p:val>
                                        </p:tav>
                                      </p:tavLst>
                                    </p:anim>
                                    <p:anim calcmode="lin" valueType="num">
                                      <p:cBhvr additive="base">
                                        <p:cTn id="24" dur="500" fill="hold"/>
                                        <p:tgtEl>
                                          <p:spTgt spid="3"/>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9"/>
                                        </p:tgtEl>
                                        <p:attrNameLst>
                                          <p:attrName>style.visibility</p:attrName>
                                        </p:attrNameLst>
                                      </p:cBhvr>
                                      <p:to>
                                        <p:strVal val="visible"/>
                                      </p:to>
                                    </p:set>
                                    <p:anim calcmode="lin" valueType="num">
                                      <p:cBhvr additive="base">
                                        <p:cTn id="27" dur="500" fill="hold"/>
                                        <p:tgtEl>
                                          <p:spTgt spid="9"/>
                                        </p:tgtEl>
                                        <p:attrNameLst>
                                          <p:attrName>ppt_x</p:attrName>
                                        </p:attrNameLst>
                                      </p:cBhvr>
                                      <p:tavLst>
                                        <p:tav tm="0">
                                          <p:val>
                                            <p:strVal val="#ppt_x"/>
                                          </p:val>
                                        </p:tav>
                                        <p:tav tm="100000">
                                          <p:val>
                                            <p:strVal val="#ppt_x"/>
                                          </p:val>
                                        </p:tav>
                                      </p:tavLst>
                                    </p:anim>
                                    <p:anim calcmode="lin" valueType="num">
                                      <p:cBhvr additive="base">
                                        <p:cTn id="2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build="p"/>
      <p:bldP spid="14"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noFill/>
          <a:ln>
            <a:noFill/>
          </a:ln>
        </p:spPr>
        <p:txBody>
          <a:bodyPr>
            <a:normAutofit/>
          </a:bodyPr>
          <a:lstStyle/>
          <a:p>
            <a:r>
              <a:rPr lang="en-US" sz="3600" dirty="0">
                <a:solidFill>
                  <a:schemeClr val="accent1"/>
                </a:solidFill>
                <a:latin typeface="Calibri" panose="020F0502020204030204" pitchFamily="34" charset="0"/>
                <a:cs typeface="Calibri" panose="020F0502020204030204" pitchFamily="34" charset="0"/>
              </a:rPr>
              <a:t>RESULTS AND SIMULATIONS</a:t>
            </a:r>
            <a:endParaRPr lang="en-US" dirty="0">
              <a:solidFill>
                <a:schemeClr val="accent1"/>
              </a:solidFill>
              <a:latin typeface="Calibri" panose="020F0502020204030204" pitchFamily="34" charset="0"/>
              <a:cs typeface="Calibri" panose="020F0502020204030204" pitchFamily="34" charset="0"/>
            </a:endParaRPr>
          </a:p>
        </p:txBody>
      </p:sp>
      <p:cxnSp>
        <p:nvCxnSpPr>
          <p:cNvPr id="5" name="Straight Connector 4"/>
          <p:cNvCxnSpPr/>
          <p:nvPr/>
        </p:nvCxnSpPr>
        <p:spPr>
          <a:xfrm>
            <a:off x="457200" y="1447800"/>
            <a:ext cx="8229600"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4" name="Content Placeholder 3"/>
          <p:cNvSpPr>
            <a:spLocks noGrp="1"/>
          </p:cNvSpPr>
          <p:nvPr>
            <p:ph idx="1"/>
          </p:nvPr>
        </p:nvSpPr>
        <p:spPr/>
        <p:txBody>
          <a:bodyPr>
            <a:normAutofit/>
          </a:bodyPr>
          <a:lstStyle/>
          <a:p>
            <a:pPr marL="0" indent="0">
              <a:buNone/>
            </a:pPr>
            <a:r>
              <a:rPr lang="en-US" sz="2000" b="1" dirty="0">
                <a:solidFill>
                  <a:schemeClr val="tx1">
                    <a:lumMod val="65000"/>
                    <a:lumOff val="35000"/>
                  </a:schemeClr>
                </a:solidFill>
                <a:latin typeface="Cambria Math"/>
                <a:cs typeface="Calibri" panose="020F0502020204030204" pitchFamily="34" charset="0"/>
              </a:rPr>
              <a:t>Convergence Curve:</a:t>
            </a:r>
            <a:endParaRPr lang="en-US" sz="2000" dirty="0">
              <a:solidFill>
                <a:schemeClr val="tx1">
                  <a:lumMod val="50000"/>
                  <a:lumOff val="50000"/>
                </a:schemeClr>
              </a:solidFill>
              <a:latin typeface="Calibri" panose="020F0502020204030204" pitchFamily="34" charset="0"/>
              <a:cs typeface="Calibri" panose="020F0502020204030204" pitchFamily="34" charset="0"/>
            </a:endParaRPr>
          </a:p>
          <a:p>
            <a:pPr marL="0" indent="0">
              <a:buNone/>
            </a:pPr>
            <a:r>
              <a:rPr lang="en-US" sz="2000" dirty="0">
                <a:solidFill>
                  <a:schemeClr val="tx1">
                    <a:lumMod val="65000"/>
                    <a:lumOff val="35000"/>
                  </a:schemeClr>
                </a:solidFill>
                <a:latin typeface="Calibri" panose="020F0502020204030204" pitchFamily="34" charset="0"/>
                <a:cs typeface="Calibri" panose="020F0502020204030204" pitchFamily="34" charset="0"/>
              </a:rPr>
              <a:t>Optimization algorithm was run for 100 iteration with population size of 10.</a:t>
            </a:r>
          </a:p>
          <a:p>
            <a:pPr marL="0" indent="0">
              <a:buNone/>
            </a:pPr>
            <a:endParaRPr lang="en-US" sz="2200" dirty="0">
              <a:solidFill>
                <a:schemeClr val="tx1">
                  <a:lumMod val="50000"/>
                  <a:lumOff val="50000"/>
                </a:schemeClr>
              </a:solidFill>
              <a:latin typeface="Calibri" panose="020F0502020204030204" pitchFamily="34" charset="0"/>
              <a:cs typeface="Calibri" panose="020F0502020204030204" pitchFamily="34" charset="0"/>
            </a:endParaRPr>
          </a:p>
        </p:txBody>
      </p:sp>
      <p:pic>
        <p:nvPicPr>
          <p:cNvPr id="3" name="Picture 2"/>
          <p:cNvPicPr>
            <a:picLocks noChangeAspect="1"/>
          </p:cNvPicPr>
          <p:nvPr/>
        </p:nvPicPr>
        <p:blipFill rotWithShape="1">
          <a:blip r:embed="rId3" cstate="print">
            <a:extLst>
              <a:ext uri="{28A0092B-C50C-407E-A947-70E740481C1C}">
                <a14:useLocalDpi xmlns:a14="http://schemas.microsoft.com/office/drawing/2010/main" val="0"/>
              </a:ext>
            </a:extLst>
          </a:blip>
          <a:srcRect l="5906" t="2361" r="6993"/>
          <a:stretch/>
        </p:blipFill>
        <p:spPr>
          <a:xfrm>
            <a:off x="457200" y="2819400"/>
            <a:ext cx="4495800" cy="3150801"/>
          </a:xfrm>
          <a:prstGeom prst="rect">
            <a:avLst/>
          </a:prstGeom>
        </p:spPr>
      </p:pic>
      <p:cxnSp>
        <p:nvCxnSpPr>
          <p:cNvPr id="8" name="Straight Connector 7"/>
          <p:cNvCxnSpPr/>
          <p:nvPr/>
        </p:nvCxnSpPr>
        <p:spPr>
          <a:xfrm>
            <a:off x="5105400" y="2647645"/>
            <a:ext cx="0" cy="3448355"/>
          </a:xfrm>
          <a:prstGeom prst="line">
            <a:avLst/>
          </a:prstGeom>
          <a:ln w="12700"/>
        </p:spPr>
        <p:style>
          <a:lnRef idx="1">
            <a:schemeClr val="dk1"/>
          </a:lnRef>
          <a:fillRef idx="0">
            <a:schemeClr val="dk1"/>
          </a:fillRef>
          <a:effectRef idx="0">
            <a:schemeClr val="dk1"/>
          </a:effectRef>
          <a:fontRef idx="minor">
            <a:schemeClr val="tx1"/>
          </a:fontRef>
        </p:style>
      </p:cxnSp>
      <p:sp>
        <p:nvSpPr>
          <p:cNvPr id="9" name="Rectangle 8"/>
          <p:cNvSpPr/>
          <p:nvPr/>
        </p:nvSpPr>
        <p:spPr>
          <a:xfrm>
            <a:off x="5095875" y="2686640"/>
            <a:ext cx="3733800" cy="3416320"/>
          </a:xfrm>
          <a:prstGeom prst="rect">
            <a:avLst/>
          </a:prstGeom>
        </p:spPr>
        <p:txBody>
          <a:bodyPr wrap="square">
            <a:spAutoFit/>
          </a:bodyPr>
          <a:lstStyle/>
          <a:p>
            <a:pPr marL="285750" indent="-285750" algn="just">
              <a:buFont typeface="Wingdings" panose="05000000000000000000" pitchFamily="2" charset="2"/>
              <a:buChar char="ü"/>
            </a:pPr>
            <a:r>
              <a:rPr lang="en-US" dirty="0">
                <a:solidFill>
                  <a:schemeClr val="tx1">
                    <a:lumMod val="65000"/>
                    <a:lumOff val="35000"/>
                  </a:schemeClr>
                </a:solidFill>
                <a:latin typeface="Calibri" panose="020F0502020204030204" pitchFamily="34" charset="0"/>
                <a:cs typeface="Calibri" panose="020F0502020204030204" pitchFamily="34" charset="0"/>
              </a:rPr>
              <a:t>Convergence curve shows the objective function is achieving lowest possible value over every iteration.</a:t>
            </a:r>
          </a:p>
          <a:p>
            <a:pPr marL="285750" indent="-285750" algn="just">
              <a:buFont typeface="Wingdings" panose="05000000000000000000" pitchFamily="2" charset="2"/>
              <a:buChar char="ü"/>
            </a:pPr>
            <a:r>
              <a:rPr lang="en-US" dirty="0">
                <a:solidFill>
                  <a:schemeClr val="tx1">
                    <a:lumMod val="65000"/>
                    <a:lumOff val="35000"/>
                  </a:schemeClr>
                </a:solidFill>
                <a:latin typeface="Calibri" panose="020F0502020204030204" pitchFamily="34" charset="0"/>
                <a:cs typeface="Calibri" panose="020F0502020204030204" pitchFamily="34" charset="0"/>
              </a:rPr>
              <a:t>GWO is gradually achieving the lowest TNPC value possible with every iteration.</a:t>
            </a:r>
          </a:p>
          <a:p>
            <a:pPr marL="285750" indent="-285750" algn="just">
              <a:buFont typeface="Wingdings" panose="05000000000000000000" pitchFamily="2" charset="2"/>
              <a:buChar char="ü"/>
            </a:pPr>
            <a:r>
              <a:rPr lang="en-US" dirty="0">
                <a:solidFill>
                  <a:schemeClr val="tx1">
                    <a:lumMod val="65000"/>
                    <a:lumOff val="35000"/>
                  </a:schemeClr>
                </a:solidFill>
                <a:latin typeface="Calibri" panose="020F0502020204030204" pitchFamily="34" charset="0"/>
                <a:cs typeface="Calibri" panose="020F0502020204030204" pitchFamily="34" charset="0"/>
              </a:rPr>
              <a:t>After 40-iteration, TNPC remains constant. Because GWO is designed to optimize the system so that 20% of net annual load demand comes renewable.</a:t>
            </a:r>
          </a:p>
        </p:txBody>
      </p:sp>
    </p:spTree>
    <p:extLst>
      <p:ext uri="{BB962C8B-B14F-4D97-AF65-F5344CB8AC3E}">
        <p14:creationId xmlns:p14="http://schemas.microsoft.com/office/powerpoint/2010/main" val="1104768648"/>
      </p:ext>
    </p:extLst>
  </p:cSld>
  <p:clrMapOvr>
    <a:masterClrMapping/>
  </p:clrMapOvr>
  <p:transition spd="slow">
    <p:push dir="u"/>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noFill/>
          <a:ln>
            <a:noFill/>
          </a:ln>
        </p:spPr>
        <p:txBody>
          <a:bodyPr>
            <a:normAutofit/>
          </a:bodyPr>
          <a:lstStyle/>
          <a:p>
            <a:r>
              <a:rPr lang="en-US" sz="3600" dirty="0">
                <a:solidFill>
                  <a:schemeClr val="accent1"/>
                </a:solidFill>
                <a:latin typeface="Calibri" panose="020F0502020204030204" pitchFamily="34" charset="0"/>
                <a:cs typeface="Calibri" panose="020F0502020204030204" pitchFamily="34" charset="0"/>
              </a:rPr>
              <a:t>RESULTS AND SIMULATIONS (CONT.)</a:t>
            </a:r>
            <a:endParaRPr lang="en-US" dirty="0">
              <a:solidFill>
                <a:schemeClr val="accent1"/>
              </a:solidFill>
              <a:latin typeface="Calibri" panose="020F0502020204030204" pitchFamily="34" charset="0"/>
              <a:cs typeface="Calibri" panose="020F0502020204030204" pitchFamily="34" charset="0"/>
            </a:endParaRPr>
          </a:p>
        </p:txBody>
      </p:sp>
      <p:cxnSp>
        <p:nvCxnSpPr>
          <p:cNvPr id="5" name="Straight Connector 4"/>
          <p:cNvCxnSpPr/>
          <p:nvPr/>
        </p:nvCxnSpPr>
        <p:spPr>
          <a:xfrm>
            <a:off x="457200" y="1447800"/>
            <a:ext cx="8229600"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4" name="Content Placeholder 3"/>
          <p:cNvSpPr>
            <a:spLocks noGrp="1"/>
          </p:cNvSpPr>
          <p:nvPr>
            <p:ph idx="1"/>
          </p:nvPr>
        </p:nvSpPr>
        <p:spPr/>
        <p:txBody>
          <a:bodyPr>
            <a:normAutofit/>
          </a:bodyPr>
          <a:lstStyle/>
          <a:p>
            <a:pPr marL="0" indent="0">
              <a:buNone/>
            </a:pPr>
            <a:r>
              <a:rPr lang="en-US" sz="2000" b="1" dirty="0">
                <a:solidFill>
                  <a:schemeClr val="tx1">
                    <a:lumMod val="65000"/>
                    <a:lumOff val="35000"/>
                  </a:schemeClr>
                </a:solidFill>
                <a:latin typeface="Calibri" panose="020F0502020204030204" pitchFamily="34" charset="0"/>
                <a:cs typeface="Calibri" panose="020F0502020204030204" pitchFamily="34" charset="0"/>
              </a:rPr>
              <a:t>Annual Generation and Consumption: Fig 9 </a:t>
            </a:r>
            <a:r>
              <a:rPr lang="en-US" sz="2000" dirty="0">
                <a:solidFill>
                  <a:schemeClr val="tx1">
                    <a:lumMod val="65000"/>
                    <a:lumOff val="35000"/>
                  </a:schemeClr>
                </a:solidFill>
                <a:latin typeface="Calibri" panose="020F0502020204030204" pitchFamily="34" charset="0"/>
                <a:cs typeface="Calibri" panose="020F0502020204030204" pitchFamily="34" charset="0"/>
              </a:rPr>
              <a:t>shows the daily energy consumption and generation by renewable sources and gird for 365 days.</a:t>
            </a:r>
            <a:endParaRPr lang="en-US" sz="2000" dirty="0">
              <a:latin typeface="Calibri" panose="020F0502020204030204" pitchFamily="34" charset="0"/>
              <a:cs typeface="Calibri" panose="020F0502020204030204" pitchFamily="34" charset="0"/>
            </a:endParaRPr>
          </a:p>
          <a:p>
            <a:pPr marL="0" indent="0">
              <a:buNone/>
            </a:pPr>
            <a:endParaRPr lang="en-US" sz="2000" dirty="0">
              <a:latin typeface="Calibri" panose="020F0502020204030204" pitchFamily="34" charset="0"/>
              <a:cs typeface="Calibri" panose="020F0502020204030204" pitchFamily="34" charset="0"/>
            </a:endParaRPr>
          </a:p>
          <a:p>
            <a:pPr marL="0" indent="0">
              <a:buNone/>
            </a:pPr>
            <a:endParaRPr lang="en-US" sz="2000" dirty="0">
              <a:solidFill>
                <a:schemeClr val="tx1">
                  <a:lumMod val="65000"/>
                  <a:lumOff val="35000"/>
                </a:schemeClr>
              </a:solidFill>
              <a:latin typeface="Calibri" panose="020F0502020204030204" pitchFamily="34" charset="0"/>
              <a:cs typeface="Calibri" panose="020F0502020204030204" pitchFamily="34" charset="0"/>
            </a:endParaRPr>
          </a:p>
          <a:p>
            <a:pPr marL="0" indent="0">
              <a:buNone/>
            </a:pPr>
            <a:endParaRPr lang="en-US" sz="2000" dirty="0">
              <a:solidFill>
                <a:schemeClr val="tx1">
                  <a:lumMod val="50000"/>
                  <a:lumOff val="50000"/>
                </a:schemeClr>
              </a:solidFill>
              <a:latin typeface="Calibri" panose="020F0502020204030204" pitchFamily="34" charset="0"/>
              <a:cs typeface="Calibri" panose="020F0502020204030204" pitchFamily="34" charset="0"/>
            </a:endParaRPr>
          </a:p>
        </p:txBody>
      </p:sp>
      <p:sp>
        <p:nvSpPr>
          <p:cNvPr id="10" name="TextBox 9"/>
          <p:cNvSpPr txBox="1"/>
          <p:nvPr/>
        </p:nvSpPr>
        <p:spPr>
          <a:xfrm>
            <a:off x="1243965" y="5185093"/>
            <a:ext cx="2514600" cy="307777"/>
          </a:xfrm>
          <a:prstGeom prst="rect">
            <a:avLst/>
          </a:prstGeom>
          <a:noFill/>
        </p:spPr>
        <p:txBody>
          <a:bodyPr wrap="square" rtlCol="0">
            <a:spAutoFit/>
          </a:bodyPr>
          <a:lstStyle/>
          <a:p>
            <a:r>
              <a:rPr lang="en-US" sz="1400" b="1" dirty="0">
                <a:latin typeface="Calibri" panose="020F0502020204030204" pitchFamily="34" charset="0"/>
                <a:cs typeface="Calibri" panose="020F0502020204030204" pitchFamily="34" charset="0"/>
              </a:rPr>
              <a:t>Fig 9</a:t>
            </a:r>
            <a:r>
              <a:rPr lang="en-US" sz="1400" dirty="0">
                <a:latin typeface="Calibri" panose="020F0502020204030204" pitchFamily="34" charset="0"/>
                <a:cs typeface="Calibri" panose="020F0502020204030204" pitchFamily="34" charset="0"/>
              </a:rPr>
              <a:t> – Daily energy scenario</a:t>
            </a:r>
          </a:p>
        </p:txBody>
      </p:sp>
      <p:pic>
        <p:nvPicPr>
          <p:cNvPr id="6" name="Picture 5"/>
          <p:cNvPicPr>
            <a:picLocks noChangeAspect="1"/>
          </p:cNvPicPr>
          <p:nvPr/>
        </p:nvPicPr>
        <p:blipFill rotWithShape="1">
          <a:blip r:embed="rId3" cstate="print">
            <a:extLst>
              <a:ext uri="{28A0092B-C50C-407E-A947-70E740481C1C}">
                <a14:useLocalDpi xmlns:a14="http://schemas.microsoft.com/office/drawing/2010/main" val="0"/>
              </a:ext>
            </a:extLst>
          </a:blip>
          <a:srcRect l="6817" t="4942" r="8739" b="9342"/>
          <a:stretch/>
        </p:blipFill>
        <p:spPr>
          <a:xfrm>
            <a:off x="4572000" y="2438400"/>
            <a:ext cx="4358641" cy="2766060"/>
          </a:xfrm>
          <a:prstGeom prst="rect">
            <a:avLst/>
          </a:prstGeom>
        </p:spPr>
      </p:pic>
      <p:pic>
        <p:nvPicPr>
          <p:cNvPr id="7" name="Picture 6"/>
          <p:cNvPicPr>
            <a:picLocks noChangeAspect="1"/>
          </p:cNvPicPr>
          <p:nvPr/>
        </p:nvPicPr>
        <p:blipFill rotWithShape="1">
          <a:blip r:embed="rId4" cstate="print">
            <a:extLst>
              <a:ext uri="{28A0092B-C50C-407E-A947-70E740481C1C}">
                <a14:useLocalDpi xmlns:a14="http://schemas.microsoft.com/office/drawing/2010/main" val="0"/>
              </a:ext>
            </a:extLst>
          </a:blip>
          <a:srcRect l="6139" t="4943" r="7793" b="9342"/>
          <a:stretch/>
        </p:blipFill>
        <p:spPr>
          <a:xfrm>
            <a:off x="102870" y="2438400"/>
            <a:ext cx="4442460" cy="2766060"/>
          </a:xfrm>
          <a:prstGeom prst="rect">
            <a:avLst/>
          </a:prstGeom>
        </p:spPr>
      </p:pic>
      <p:sp>
        <p:nvSpPr>
          <p:cNvPr id="12" name="TextBox 11"/>
          <p:cNvSpPr txBox="1"/>
          <p:nvPr/>
        </p:nvSpPr>
        <p:spPr>
          <a:xfrm>
            <a:off x="5486400" y="5204460"/>
            <a:ext cx="3049759" cy="307777"/>
          </a:xfrm>
          <a:prstGeom prst="rect">
            <a:avLst/>
          </a:prstGeom>
          <a:noFill/>
        </p:spPr>
        <p:txBody>
          <a:bodyPr wrap="square" rtlCol="0">
            <a:spAutoFit/>
          </a:bodyPr>
          <a:lstStyle/>
          <a:p>
            <a:r>
              <a:rPr lang="en-US" sz="1400" b="1" dirty="0">
                <a:latin typeface="Calibri" panose="020F0502020204030204" pitchFamily="34" charset="0"/>
                <a:cs typeface="Calibri" panose="020F0502020204030204" pitchFamily="34" charset="0"/>
              </a:rPr>
              <a:t>Fig 10</a:t>
            </a:r>
            <a:r>
              <a:rPr lang="en-US" sz="1400" dirty="0">
                <a:latin typeface="Calibri" panose="020F0502020204030204" pitchFamily="34" charset="0"/>
                <a:cs typeface="Calibri" panose="020F0502020204030204" pitchFamily="34" charset="0"/>
              </a:rPr>
              <a:t> – Monthly total energy  scenario</a:t>
            </a:r>
          </a:p>
        </p:txBody>
      </p:sp>
    </p:spTree>
    <p:extLst>
      <p:ext uri="{BB962C8B-B14F-4D97-AF65-F5344CB8AC3E}">
        <p14:creationId xmlns:p14="http://schemas.microsoft.com/office/powerpoint/2010/main" val="2613263046"/>
      </p:ext>
    </p:extLst>
  </p:cSld>
  <p:clrMapOvr>
    <a:masterClrMapping/>
  </p:clrMapOvr>
  <p:transition spd="slow">
    <p:push dir="u"/>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noFill/>
          <a:ln>
            <a:noFill/>
          </a:ln>
        </p:spPr>
        <p:txBody>
          <a:bodyPr>
            <a:normAutofit/>
          </a:bodyPr>
          <a:lstStyle/>
          <a:p>
            <a:r>
              <a:rPr lang="en-US" sz="3600" dirty="0">
                <a:solidFill>
                  <a:schemeClr val="accent1"/>
                </a:solidFill>
                <a:latin typeface="Calibri" panose="020F0502020204030204" pitchFamily="34" charset="0"/>
                <a:cs typeface="Calibri" panose="020F0502020204030204" pitchFamily="34" charset="0"/>
              </a:rPr>
              <a:t>RESULTS AND SIMULATIONS </a:t>
            </a:r>
            <a:r>
              <a:rPr lang="en-US" dirty="0">
                <a:solidFill>
                  <a:schemeClr val="accent1"/>
                </a:solidFill>
                <a:latin typeface="Calibri" panose="020F0502020204030204" pitchFamily="34" charset="0"/>
                <a:cs typeface="Calibri" panose="020F0502020204030204" pitchFamily="34" charset="0"/>
              </a:rPr>
              <a:t>(CONT.)</a:t>
            </a:r>
          </a:p>
        </p:txBody>
      </p:sp>
      <p:sp>
        <p:nvSpPr>
          <p:cNvPr id="3" name="Content Placeholder 2"/>
          <p:cNvSpPr>
            <a:spLocks noGrp="1"/>
          </p:cNvSpPr>
          <p:nvPr>
            <p:ph idx="1"/>
          </p:nvPr>
        </p:nvSpPr>
        <p:spPr/>
        <p:txBody>
          <a:bodyPr>
            <a:normAutofit/>
          </a:bodyPr>
          <a:lstStyle/>
          <a:p>
            <a:pPr algn="just">
              <a:buFont typeface="Wingdings" panose="05000000000000000000" pitchFamily="2" charset="2"/>
              <a:buChar char="ü"/>
            </a:pPr>
            <a:r>
              <a:rPr lang="en-US" sz="1800" dirty="0">
                <a:solidFill>
                  <a:schemeClr val="tx1">
                    <a:lumMod val="65000"/>
                    <a:lumOff val="35000"/>
                  </a:schemeClr>
                </a:solidFill>
                <a:latin typeface="Calibri" panose="020F0502020204030204" pitchFamily="34" charset="0"/>
                <a:cs typeface="Calibri" panose="020F0502020204030204" pitchFamily="34" charset="0"/>
              </a:rPr>
              <a:t> GWO algorithm calculated the optimal size for the system. </a:t>
            </a:r>
          </a:p>
          <a:p>
            <a:pPr algn="just">
              <a:buFont typeface="Wingdings" panose="05000000000000000000" pitchFamily="2" charset="2"/>
              <a:buChar char="ü"/>
            </a:pPr>
            <a:r>
              <a:rPr lang="en-US" sz="1800" dirty="0">
                <a:solidFill>
                  <a:schemeClr val="tx1">
                    <a:lumMod val="65000"/>
                    <a:lumOff val="35000"/>
                  </a:schemeClr>
                </a:solidFill>
                <a:latin typeface="Calibri" panose="020F0502020204030204" pitchFamily="34" charset="0"/>
                <a:cs typeface="Calibri" panose="020F0502020204030204" pitchFamily="34" charset="0"/>
              </a:rPr>
              <a:t> LCoE was found lowest as 0.106 ($/KWh) after GWO optimization</a:t>
            </a:r>
          </a:p>
          <a:p>
            <a:pPr algn="just">
              <a:buFont typeface="Wingdings" panose="05000000000000000000" pitchFamily="2" charset="2"/>
              <a:buChar char="ü"/>
            </a:pPr>
            <a:r>
              <a:rPr lang="en-US" sz="1800" dirty="0">
                <a:solidFill>
                  <a:schemeClr val="tx1">
                    <a:lumMod val="65000"/>
                    <a:lumOff val="35000"/>
                  </a:schemeClr>
                </a:solidFill>
                <a:latin typeface="Calibri" panose="020F0502020204030204" pitchFamily="34" charset="0"/>
                <a:cs typeface="Calibri" panose="020F0502020204030204" pitchFamily="34" charset="0"/>
              </a:rPr>
              <a:t> Higher LCoE of 0.160 ($/KWh) was observed for non-GWO optimized approach.</a:t>
            </a:r>
          </a:p>
        </p:txBody>
      </p:sp>
      <p:cxnSp>
        <p:nvCxnSpPr>
          <p:cNvPr id="5" name="Straight Connector 4"/>
          <p:cNvCxnSpPr/>
          <p:nvPr/>
        </p:nvCxnSpPr>
        <p:spPr>
          <a:xfrm>
            <a:off x="457200" y="1447800"/>
            <a:ext cx="8229600" cy="0"/>
          </a:xfrm>
          <a:prstGeom prst="line">
            <a:avLst/>
          </a:prstGeom>
          <a:ln w="28575"/>
        </p:spPr>
        <p:style>
          <a:lnRef idx="1">
            <a:schemeClr val="accent1"/>
          </a:lnRef>
          <a:fillRef idx="0">
            <a:schemeClr val="accent1"/>
          </a:fillRef>
          <a:effectRef idx="0">
            <a:schemeClr val="accent1"/>
          </a:effectRef>
          <a:fontRef idx="minor">
            <a:schemeClr val="tx1"/>
          </a:fontRef>
        </p:style>
      </p:cxnSp>
      <p:grpSp>
        <p:nvGrpSpPr>
          <p:cNvPr id="12" name="Group 11">
            <a:extLst>
              <a:ext uri="{FF2B5EF4-FFF2-40B4-BE49-F238E27FC236}">
                <a16:creationId xmlns:a16="http://schemas.microsoft.com/office/drawing/2014/main" id="{69F1CDAA-3107-48B8-0E9C-3EFDB49DAAC5}"/>
              </a:ext>
            </a:extLst>
          </p:cNvPr>
          <p:cNvGrpSpPr/>
          <p:nvPr/>
        </p:nvGrpSpPr>
        <p:grpSpPr>
          <a:xfrm>
            <a:off x="720224" y="2846001"/>
            <a:ext cx="7457311" cy="3392632"/>
            <a:chOff x="720224" y="2846001"/>
            <a:chExt cx="7457311" cy="3392632"/>
          </a:xfrm>
        </p:grpSpPr>
        <p:grpSp>
          <p:nvGrpSpPr>
            <p:cNvPr id="6" name="Group 12"/>
            <p:cNvGrpSpPr/>
            <p:nvPr/>
          </p:nvGrpSpPr>
          <p:grpSpPr>
            <a:xfrm>
              <a:off x="720224" y="2846001"/>
              <a:ext cx="7160807" cy="3392632"/>
              <a:chOff x="930589" y="2895600"/>
              <a:chExt cx="7160807" cy="3392632"/>
            </a:xfrm>
          </p:grpSpPr>
          <p:grpSp>
            <p:nvGrpSpPr>
              <p:cNvPr id="8" name="Group 7"/>
              <p:cNvGrpSpPr/>
              <p:nvPr/>
            </p:nvGrpSpPr>
            <p:grpSpPr>
              <a:xfrm>
                <a:off x="1066800" y="5961695"/>
                <a:ext cx="7024596" cy="326537"/>
                <a:chOff x="759406" y="5629439"/>
                <a:chExt cx="7176996" cy="326537"/>
              </a:xfrm>
            </p:grpSpPr>
            <p:sp>
              <p:nvSpPr>
                <p:cNvPr id="7" name="TextBox 6"/>
                <p:cNvSpPr txBox="1"/>
                <p:nvPr/>
              </p:nvSpPr>
              <p:spPr>
                <a:xfrm>
                  <a:off x="759406" y="5648199"/>
                  <a:ext cx="2563138" cy="307777"/>
                </a:xfrm>
                <a:prstGeom prst="rect">
                  <a:avLst/>
                </a:prstGeom>
                <a:noFill/>
              </p:spPr>
              <p:txBody>
                <a:bodyPr wrap="none" rtlCol="0">
                  <a:spAutoFit/>
                </a:bodyPr>
                <a:lstStyle/>
                <a:p>
                  <a:r>
                    <a:rPr lang="en-US" sz="1400" b="1" dirty="0">
                      <a:latin typeface="Calibri" panose="020F0502020204030204" pitchFamily="34" charset="0"/>
                      <a:cs typeface="Calibri" panose="020F0502020204030204" pitchFamily="34" charset="0"/>
                    </a:rPr>
                    <a:t>Fig 10</a:t>
                  </a:r>
                  <a:r>
                    <a:rPr lang="en-US" sz="1400" dirty="0">
                      <a:latin typeface="Calibri" panose="020F0502020204030204" pitchFamily="34" charset="0"/>
                      <a:cs typeface="Calibri" panose="020F0502020204030204" pitchFamily="34" charset="0"/>
                    </a:rPr>
                    <a:t> – Energy generation share</a:t>
                  </a:r>
                </a:p>
              </p:txBody>
            </p:sp>
            <p:sp>
              <p:nvSpPr>
                <p:cNvPr id="9" name="TextBox 8"/>
                <p:cNvSpPr txBox="1"/>
                <p:nvPr/>
              </p:nvSpPr>
              <p:spPr>
                <a:xfrm>
                  <a:off x="4258920" y="5629439"/>
                  <a:ext cx="3677482" cy="307777"/>
                </a:xfrm>
                <a:prstGeom prst="rect">
                  <a:avLst/>
                </a:prstGeom>
                <a:noFill/>
              </p:spPr>
              <p:txBody>
                <a:bodyPr wrap="none" rtlCol="0">
                  <a:spAutoFit/>
                </a:bodyPr>
                <a:lstStyle/>
                <a:p>
                  <a:r>
                    <a:rPr lang="en-US" sz="1400" b="1" dirty="0">
                      <a:latin typeface="Calibri" panose="020F0502020204030204" pitchFamily="34" charset="0"/>
                      <a:cs typeface="Calibri" panose="020F0502020204030204" pitchFamily="34" charset="0"/>
                    </a:rPr>
                    <a:t>Fig 11</a:t>
                  </a:r>
                  <a:r>
                    <a:rPr lang="en-US" sz="1400" dirty="0">
                      <a:latin typeface="Calibri" panose="020F0502020204030204" pitchFamily="34" charset="0"/>
                      <a:cs typeface="Calibri" panose="020F0502020204030204" pitchFamily="34" charset="0"/>
                    </a:rPr>
                    <a:t> – Daily total generation and consumption</a:t>
                  </a:r>
                </a:p>
              </p:txBody>
            </p:sp>
          </p:grpSp>
          <p:pic>
            <p:nvPicPr>
              <p:cNvPr id="11" name="Picture 10"/>
              <p:cNvPicPr>
                <a:picLocks noChangeAspect="1"/>
              </p:cNvPicPr>
              <p:nvPr/>
            </p:nvPicPr>
            <p:blipFill rotWithShape="1">
              <a:blip r:embed="rId3" cstate="print">
                <a:extLst>
                  <a:ext uri="{28A0092B-C50C-407E-A947-70E740481C1C}">
                    <a14:useLocalDpi xmlns:a14="http://schemas.microsoft.com/office/drawing/2010/main" val="0"/>
                  </a:ext>
                </a:extLst>
              </a:blip>
              <a:srcRect l="27500" r="26666"/>
              <a:stretch/>
            </p:blipFill>
            <p:spPr>
              <a:xfrm>
                <a:off x="930589" y="2895600"/>
                <a:ext cx="2602281" cy="3125008"/>
              </a:xfrm>
              <a:prstGeom prst="rect">
                <a:avLst/>
              </a:prstGeom>
            </p:spPr>
          </p:pic>
        </p:grpSp>
        <p:pic>
          <p:nvPicPr>
            <p:cNvPr id="10" name="Picture 9">
              <a:extLst>
                <a:ext uri="{FF2B5EF4-FFF2-40B4-BE49-F238E27FC236}">
                  <a16:creationId xmlns:a16="http://schemas.microsoft.com/office/drawing/2014/main" id="{DF407506-7AB9-51F5-D011-CB7E2C958FA3}"/>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6285" t="2792" r="6782" b="4494"/>
            <a:stretch/>
          </p:blipFill>
          <p:spPr bwMode="auto">
            <a:xfrm>
              <a:off x="3721740" y="3021286"/>
              <a:ext cx="4455795" cy="2970530"/>
            </a:xfrm>
            <a:prstGeom prst="rect">
              <a:avLst/>
            </a:prstGeom>
            <a:ln>
              <a:noFill/>
            </a:ln>
            <a:extLst>
              <a:ext uri="{53640926-AAD7-44D8-BBD7-CCE9431645EC}">
                <a14:shadowObscured xmlns:a14="http://schemas.microsoft.com/office/drawing/2010/main"/>
              </a:ext>
            </a:extLst>
          </p:spPr>
        </p:pic>
      </p:grpSp>
    </p:spTree>
    <p:extLst>
      <p:ext uri="{BB962C8B-B14F-4D97-AF65-F5344CB8AC3E}">
        <p14:creationId xmlns:p14="http://schemas.microsoft.com/office/powerpoint/2010/main" val="2565070499"/>
      </p:ext>
    </p:extLst>
  </p:cSld>
  <p:clrMapOvr>
    <a:masterClrMapping/>
  </p:clrMapOvr>
  <p:transition spd="slow">
    <p:push dir="u"/>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ontent Placeholder 2"/>
          <p:cNvSpPr txBox="1">
            <a:spLocks/>
          </p:cNvSpPr>
          <p:nvPr/>
        </p:nvSpPr>
        <p:spPr>
          <a:xfrm>
            <a:off x="457200" y="1600200"/>
            <a:ext cx="8229600" cy="4953000"/>
          </a:xfrm>
          <a:prstGeom prst="rect">
            <a:avLst/>
          </a:prstGeom>
        </p:spPr>
        <p:txBody>
          <a:bodyPr vert="horz" lIns="91440" tIns="45720" rIns="91440" bIns="45720" rtlCol="0">
            <a:normAutofit/>
          </a:bodyPr>
          <a:lstStyle>
            <a:lvl1pPr marL="182880" indent="-182880" algn="l" defTabSz="914400" rtl="0" eaLnBrk="1" latinLnBrk="0" hangingPunct="1">
              <a:spcBef>
                <a:spcPct val="20000"/>
              </a:spcBef>
              <a:buClr>
                <a:schemeClr val="accent1"/>
              </a:buClr>
              <a:buSzPct val="85000"/>
              <a:buFont typeface="Arial" pitchFamily="34" charset="0"/>
              <a:buChar char="•"/>
              <a:defRPr sz="2400" kern="1200">
                <a:solidFill>
                  <a:schemeClr val="tx1"/>
                </a:solidFill>
                <a:latin typeface="+mn-lt"/>
                <a:ea typeface="+mn-ea"/>
                <a:cs typeface="+mn-cs"/>
              </a:defRPr>
            </a:lvl1pPr>
            <a:lvl2pPr marL="457200" indent="-182880" algn="l" defTabSz="914400" rtl="0" eaLnBrk="1" latinLnBrk="0" hangingPunct="1">
              <a:spcBef>
                <a:spcPct val="20000"/>
              </a:spcBef>
              <a:buClr>
                <a:schemeClr val="accent1"/>
              </a:buClr>
              <a:buSzPct val="85000"/>
              <a:buFont typeface="Arial" pitchFamily="34" charset="0"/>
              <a:buChar char="•"/>
              <a:defRPr sz="2000" kern="1200">
                <a:solidFill>
                  <a:schemeClr val="tx1"/>
                </a:solidFill>
                <a:latin typeface="+mn-lt"/>
                <a:ea typeface="+mn-ea"/>
                <a:cs typeface="+mn-cs"/>
              </a:defRPr>
            </a:lvl2pPr>
            <a:lvl3pPr marL="731520" indent="-182880" algn="l" defTabSz="914400" rtl="0" eaLnBrk="1" latinLnBrk="0" hangingPunct="1">
              <a:spcBef>
                <a:spcPct val="20000"/>
              </a:spcBef>
              <a:buClr>
                <a:schemeClr val="accent1"/>
              </a:buClr>
              <a:buSzPct val="90000"/>
              <a:buFont typeface="Arial" pitchFamily="34" charset="0"/>
              <a:buChar char="•"/>
              <a:defRPr sz="1800" kern="1200">
                <a:solidFill>
                  <a:schemeClr val="tx1"/>
                </a:solidFill>
                <a:latin typeface="+mn-lt"/>
                <a:ea typeface="+mn-ea"/>
                <a:cs typeface="+mn-cs"/>
              </a:defRPr>
            </a:lvl3pPr>
            <a:lvl4pPr marL="1005840" indent="-182880" algn="l" defTabSz="914400" rtl="0" eaLnBrk="1" latinLnBrk="0" hangingPunct="1">
              <a:spcBef>
                <a:spcPct val="20000"/>
              </a:spcBef>
              <a:buClr>
                <a:schemeClr val="accent1"/>
              </a:buClr>
              <a:buFont typeface="Arial" pitchFamily="34" charset="0"/>
              <a:buChar char="•"/>
              <a:defRPr sz="1600" kern="1200">
                <a:solidFill>
                  <a:schemeClr val="tx1"/>
                </a:solidFill>
                <a:latin typeface="+mn-lt"/>
                <a:ea typeface="+mn-ea"/>
                <a:cs typeface="+mn-cs"/>
              </a:defRPr>
            </a:lvl4pPr>
            <a:lvl5pPr marL="1188720" indent="-137160" algn="l" defTabSz="914400" rtl="0" eaLnBrk="1" latinLnBrk="0" hangingPunct="1">
              <a:spcBef>
                <a:spcPct val="20000"/>
              </a:spcBef>
              <a:buClr>
                <a:schemeClr val="accent1"/>
              </a:buClr>
              <a:buSzPct val="100000"/>
              <a:buFont typeface="Arial" pitchFamily="34" charset="0"/>
              <a:buChar char="•"/>
              <a:defRPr sz="1400" kern="1200" baseline="0">
                <a:solidFill>
                  <a:schemeClr val="tx1"/>
                </a:solidFill>
                <a:latin typeface="+mn-lt"/>
                <a:ea typeface="+mn-ea"/>
                <a:cs typeface="+mn-cs"/>
              </a:defRPr>
            </a:lvl5pPr>
            <a:lvl6pPr marL="137160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6pPr>
            <a:lvl7pPr marL="155448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7pPr>
            <a:lvl8pPr marL="173736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8pPr>
            <a:lvl9pPr marL="192024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9pPr>
          </a:lstStyle>
          <a:p>
            <a:pPr marL="0" indent="0" algn="just">
              <a:buNone/>
            </a:pPr>
            <a:r>
              <a:rPr lang="en-US" sz="2000" dirty="0">
                <a:solidFill>
                  <a:schemeClr val="tx1">
                    <a:lumMod val="65000"/>
                    <a:lumOff val="35000"/>
                  </a:schemeClr>
                </a:solidFill>
                <a:latin typeface="Calibri" panose="020F0502020204030204" pitchFamily="34" charset="0"/>
                <a:cs typeface="Calibri" panose="020F0502020204030204" pitchFamily="34" charset="0"/>
              </a:rPr>
              <a:t>Total capacity of 887 kW of PV and 80kW of WT need to be installed in the system to operate economically feasible to provide 20% of total annual load demand at KEPZ industrial zone.</a:t>
            </a:r>
          </a:p>
          <a:p>
            <a:pPr marL="0" indent="0" algn="just">
              <a:buNone/>
            </a:pPr>
            <a:endParaRPr lang="en-US" sz="2000" dirty="0">
              <a:solidFill>
                <a:schemeClr val="tx1">
                  <a:lumMod val="65000"/>
                  <a:lumOff val="35000"/>
                </a:schemeClr>
              </a:solidFill>
              <a:latin typeface="Calibri" panose="020F0502020204030204" pitchFamily="34" charset="0"/>
              <a:cs typeface="Calibri" panose="020F0502020204030204" pitchFamily="34" charset="0"/>
            </a:endParaRPr>
          </a:p>
          <a:p>
            <a:pPr marL="0" indent="0" algn="just">
              <a:buNone/>
            </a:pPr>
            <a:endParaRPr lang="en-US" sz="2000" dirty="0">
              <a:solidFill>
                <a:schemeClr val="tx1">
                  <a:lumMod val="65000"/>
                  <a:lumOff val="35000"/>
                </a:schemeClr>
              </a:solidFill>
              <a:latin typeface="Calibri" panose="020F0502020204030204" pitchFamily="34" charset="0"/>
              <a:cs typeface="Calibri" panose="020F0502020204030204" pitchFamily="34" charset="0"/>
            </a:endParaRPr>
          </a:p>
          <a:p>
            <a:pPr marL="0" indent="0" algn="just">
              <a:buNone/>
            </a:pPr>
            <a:endParaRPr lang="en-US" sz="2000" dirty="0">
              <a:solidFill>
                <a:schemeClr val="tx1">
                  <a:lumMod val="65000"/>
                  <a:lumOff val="35000"/>
                </a:schemeClr>
              </a:solidFill>
              <a:latin typeface="Calibri" panose="020F0502020204030204" pitchFamily="34" charset="0"/>
              <a:cs typeface="Calibri" panose="020F0502020204030204" pitchFamily="34" charset="0"/>
            </a:endParaRPr>
          </a:p>
          <a:p>
            <a:pPr marL="0" indent="0" algn="just">
              <a:buNone/>
            </a:pPr>
            <a:endParaRPr lang="en-US" sz="2000" dirty="0">
              <a:solidFill>
                <a:schemeClr val="tx1">
                  <a:lumMod val="65000"/>
                  <a:lumOff val="35000"/>
                </a:schemeClr>
              </a:solidFill>
              <a:latin typeface="Calibri" panose="020F0502020204030204" pitchFamily="34" charset="0"/>
              <a:cs typeface="Calibri" panose="020F0502020204030204" pitchFamily="34" charset="0"/>
            </a:endParaRPr>
          </a:p>
          <a:p>
            <a:pPr marL="0" indent="0" algn="just">
              <a:buNone/>
            </a:pPr>
            <a:endParaRPr lang="en-US" sz="2000" dirty="0">
              <a:solidFill>
                <a:schemeClr val="tx1">
                  <a:lumMod val="65000"/>
                  <a:lumOff val="35000"/>
                </a:schemeClr>
              </a:solidFill>
              <a:latin typeface="Calibri" panose="020F0502020204030204" pitchFamily="34" charset="0"/>
              <a:cs typeface="Calibri" panose="020F0502020204030204" pitchFamily="34" charset="0"/>
            </a:endParaRPr>
          </a:p>
          <a:p>
            <a:pPr marL="0" indent="0" algn="just">
              <a:buNone/>
            </a:pPr>
            <a:endParaRPr lang="en-US" sz="1000" dirty="0">
              <a:solidFill>
                <a:schemeClr val="tx1">
                  <a:lumMod val="65000"/>
                  <a:lumOff val="35000"/>
                </a:schemeClr>
              </a:solidFill>
              <a:latin typeface="Calibri" panose="020F0502020204030204" pitchFamily="34" charset="0"/>
              <a:cs typeface="Calibri" panose="020F0502020204030204" pitchFamily="34" charset="0"/>
            </a:endParaRPr>
          </a:p>
          <a:p>
            <a:pPr marL="0" indent="0" algn="just">
              <a:buNone/>
            </a:pPr>
            <a:r>
              <a:rPr lang="en-US" sz="2000" dirty="0">
                <a:solidFill>
                  <a:schemeClr val="tx1">
                    <a:lumMod val="65000"/>
                    <a:lumOff val="35000"/>
                  </a:schemeClr>
                </a:solidFill>
                <a:latin typeface="Calibri" panose="020F0502020204030204" pitchFamily="34" charset="0"/>
                <a:cs typeface="Calibri" panose="020F0502020204030204" pitchFamily="34" charset="0"/>
              </a:rPr>
              <a:t>Rest of the 80% of energy was provided by. Very negligible amount of wind energy was produce as it was tested with low wind potential site.</a:t>
            </a:r>
          </a:p>
        </p:txBody>
      </p:sp>
      <p:sp>
        <p:nvSpPr>
          <p:cNvPr id="2" name="Title 1"/>
          <p:cNvSpPr>
            <a:spLocks noGrp="1"/>
          </p:cNvSpPr>
          <p:nvPr>
            <p:ph type="title"/>
          </p:nvPr>
        </p:nvSpPr>
        <p:spPr>
          <a:noFill/>
          <a:ln>
            <a:noFill/>
          </a:ln>
        </p:spPr>
        <p:txBody>
          <a:bodyPr>
            <a:normAutofit/>
          </a:bodyPr>
          <a:lstStyle/>
          <a:p>
            <a:r>
              <a:rPr lang="en-US" sz="3600" dirty="0">
                <a:solidFill>
                  <a:schemeClr val="accent1"/>
                </a:solidFill>
                <a:latin typeface="Calibri" panose="020F0502020204030204" pitchFamily="34" charset="0"/>
                <a:cs typeface="Calibri" panose="020F0502020204030204" pitchFamily="34" charset="0"/>
              </a:rPr>
              <a:t>RESULTS AND SIMULATIONS (CONT.)</a:t>
            </a:r>
            <a:endParaRPr lang="en-US" dirty="0">
              <a:solidFill>
                <a:schemeClr val="accent1"/>
              </a:solidFill>
              <a:latin typeface="Calibri" panose="020F0502020204030204" pitchFamily="34" charset="0"/>
              <a:cs typeface="Calibri" panose="020F0502020204030204" pitchFamily="34" charset="0"/>
            </a:endParaRP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795028180"/>
              </p:ext>
            </p:extLst>
          </p:nvPr>
        </p:nvGraphicFramePr>
        <p:xfrm>
          <a:off x="457200" y="2819400"/>
          <a:ext cx="8229600" cy="1691640"/>
        </p:xfrm>
        <a:graphic>
          <a:graphicData uri="http://schemas.openxmlformats.org/drawingml/2006/table">
            <a:tbl>
              <a:tblPr firstRow="1" bandRow="1">
                <a:tableStyleId>{BC89EF96-8CEA-46FF-86C4-4CE0E7609802}</a:tableStyleId>
              </a:tblPr>
              <a:tblGrid>
                <a:gridCol w="1143000">
                  <a:extLst>
                    <a:ext uri="{9D8B030D-6E8A-4147-A177-3AD203B41FA5}">
                      <a16:colId xmlns:a16="http://schemas.microsoft.com/office/drawing/2014/main" val="20000"/>
                    </a:ext>
                  </a:extLst>
                </a:gridCol>
                <a:gridCol w="2057400">
                  <a:extLst>
                    <a:ext uri="{9D8B030D-6E8A-4147-A177-3AD203B41FA5}">
                      <a16:colId xmlns:a16="http://schemas.microsoft.com/office/drawing/2014/main" val="20001"/>
                    </a:ext>
                  </a:extLst>
                </a:gridCol>
                <a:gridCol w="2209800">
                  <a:extLst>
                    <a:ext uri="{9D8B030D-6E8A-4147-A177-3AD203B41FA5}">
                      <a16:colId xmlns:a16="http://schemas.microsoft.com/office/drawing/2014/main" val="20002"/>
                    </a:ext>
                  </a:extLst>
                </a:gridCol>
                <a:gridCol w="228600">
                  <a:extLst>
                    <a:ext uri="{9D8B030D-6E8A-4147-A177-3AD203B41FA5}">
                      <a16:colId xmlns:a16="http://schemas.microsoft.com/office/drawing/2014/main" val="20003"/>
                    </a:ext>
                  </a:extLst>
                </a:gridCol>
                <a:gridCol w="1219200">
                  <a:extLst>
                    <a:ext uri="{9D8B030D-6E8A-4147-A177-3AD203B41FA5}">
                      <a16:colId xmlns:a16="http://schemas.microsoft.com/office/drawing/2014/main" val="20004"/>
                    </a:ext>
                  </a:extLst>
                </a:gridCol>
                <a:gridCol w="1371600">
                  <a:extLst>
                    <a:ext uri="{9D8B030D-6E8A-4147-A177-3AD203B41FA5}">
                      <a16:colId xmlns:a16="http://schemas.microsoft.com/office/drawing/2014/main" val="20005"/>
                    </a:ext>
                  </a:extLst>
                </a:gridCol>
              </a:tblGrid>
              <a:tr h="370840">
                <a:tc gridSpan="3">
                  <a:txBody>
                    <a:bodyPr/>
                    <a:lstStyle/>
                    <a:p>
                      <a:r>
                        <a:rPr lang="en-US" sz="1600" dirty="0"/>
                        <a:t>Renewable</a:t>
                      </a:r>
                    </a:p>
                  </a:txBody>
                  <a:tcPr>
                    <a:lnL w="12700" cap="flat" cmpd="sng" algn="ctr">
                      <a:no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en-US"/>
                    </a:p>
                  </a:txBody>
                  <a:tcPr/>
                </a:tc>
                <a:tc hMerge="1">
                  <a:txBody>
                    <a:bodyPr/>
                    <a:lstStyle/>
                    <a:p>
                      <a:endParaRPr lang="en-US" dirty="0"/>
                    </a:p>
                  </a:txBody>
                  <a:tcPr/>
                </a:tc>
                <a:tc>
                  <a:txBody>
                    <a:bodyPr/>
                    <a:lstStyle/>
                    <a:p>
                      <a:endParaRPr lang="en-US" sz="1600" dirty="0"/>
                    </a:p>
                  </a:txBody>
                  <a:tcPr>
                    <a:lnL w="12700" cap="flat" cmpd="sng" algn="ctr">
                      <a:no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gridSpan="2">
                  <a:txBody>
                    <a:bodyPr/>
                    <a:lstStyle/>
                    <a:p>
                      <a:r>
                        <a:rPr lang="en-US" sz="1600" dirty="0"/>
                        <a:t>Grid</a:t>
                      </a:r>
                    </a:p>
                  </a:txBody>
                  <a:tcPr>
                    <a:lnL w="12700" cmpd="sng">
                      <a:noFill/>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en-US" dirty="0"/>
                    </a:p>
                  </a:txBody>
                  <a:tcPr/>
                </a:tc>
                <a:extLst>
                  <a:ext uri="{0D108BD9-81ED-4DB2-BD59-A6C34878D82A}">
                    <a16:rowId xmlns:a16="http://schemas.microsoft.com/office/drawing/2014/main" val="10000"/>
                  </a:ext>
                </a:extLst>
              </a:tr>
              <a:tr h="370840">
                <a:tc>
                  <a:txBody>
                    <a:bodyPr/>
                    <a:lstStyle/>
                    <a:p>
                      <a:pPr algn="l"/>
                      <a:r>
                        <a:rPr lang="en-US" sz="1600" dirty="0"/>
                        <a:t>Name</a:t>
                      </a:r>
                    </a:p>
                  </a:txBody>
                  <a:tcPr>
                    <a:lnL w="12700" cap="flat" cmpd="sng" algn="ctr">
                      <a:no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a:r>
                        <a:rPr lang="en-US" sz="1600" dirty="0"/>
                        <a:t>Rated</a:t>
                      </a:r>
                    </a:p>
                    <a:p>
                      <a:pPr algn="l"/>
                      <a:r>
                        <a:rPr lang="en-US" sz="1600" dirty="0"/>
                        <a:t>Capacity (KW)</a:t>
                      </a:r>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a:r>
                        <a:rPr lang="en-US" sz="1600" dirty="0"/>
                        <a:t>Annual</a:t>
                      </a:r>
                    </a:p>
                    <a:p>
                      <a:pPr algn="l"/>
                      <a:r>
                        <a:rPr lang="en-US" sz="1600" dirty="0"/>
                        <a:t>Generation</a:t>
                      </a:r>
                      <a:r>
                        <a:rPr lang="en-US" sz="1600" baseline="0" dirty="0"/>
                        <a:t> </a:t>
                      </a:r>
                      <a:r>
                        <a:rPr lang="en-US" sz="1600" dirty="0"/>
                        <a:t>(MWh/yr.)</a:t>
                      </a:r>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a:endParaRPr lang="en-US" sz="1600" dirty="0"/>
                    </a:p>
                  </a:txBody>
                  <a:tcP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gridSpan="2">
                  <a:txBody>
                    <a:bodyPr/>
                    <a:lstStyle/>
                    <a:p>
                      <a:pPr algn="l"/>
                      <a:r>
                        <a:rPr lang="en-US" sz="1600" dirty="0"/>
                        <a:t>Annual Energy Status (MWh/yr.) </a:t>
                      </a:r>
                    </a:p>
                  </a:txBody>
                  <a:tcPr>
                    <a:lnL w="12700" cmpd="sng">
                      <a:noFill/>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en-US" dirty="0"/>
                    </a:p>
                  </a:txBody>
                  <a:tcPr>
                    <a:solidFill>
                      <a:schemeClr val="bg2">
                        <a:lumMod val="90000"/>
                      </a:schemeClr>
                    </a:solidFill>
                  </a:tcPr>
                </a:tc>
                <a:extLst>
                  <a:ext uri="{0D108BD9-81ED-4DB2-BD59-A6C34878D82A}">
                    <a16:rowId xmlns:a16="http://schemas.microsoft.com/office/drawing/2014/main" val="10001"/>
                  </a:ext>
                </a:extLst>
              </a:tr>
              <a:tr h="370840">
                <a:tc>
                  <a:txBody>
                    <a:bodyPr/>
                    <a:lstStyle/>
                    <a:p>
                      <a:pPr algn="l"/>
                      <a:r>
                        <a:rPr lang="en-US" sz="1600" dirty="0"/>
                        <a:t>PV</a:t>
                      </a:r>
                    </a:p>
                  </a:txBody>
                  <a:tcPr>
                    <a:lnL w="12700" cap="flat" cmpd="sng" algn="ctr">
                      <a:no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pPr algn="l"/>
                      <a:r>
                        <a:rPr lang="en-US" sz="1600" dirty="0"/>
                        <a:t>886.53</a:t>
                      </a:r>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pPr algn="l"/>
                      <a:r>
                        <a:rPr lang="en-US" sz="1600" dirty="0"/>
                        <a:t>8410.67</a:t>
                      </a:r>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pPr algn="l"/>
                      <a:endParaRPr lang="en-US" sz="1600" dirty="0"/>
                    </a:p>
                  </a:txBody>
                  <a:tcPr>
                    <a:lnL w="12700" cmpd="sng">
                      <a:noFill/>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pPr algn="l"/>
                      <a:r>
                        <a:rPr lang="en-US" sz="1600" dirty="0"/>
                        <a:t>Sold</a:t>
                      </a:r>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pPr algn="l"/>
                      <a:r>
                        <a:rPr lang="en-US" sz="1600" dirty="0"/>
                        <a:t>10.07</a:t>
                      </a:r>
                    </a:p>
                  </a:txBody>
                  <a:tcPr>
                    <a:lnL w="12700" cmpd="sng">
                      <a:noFill/>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2"/>
                  </a:ext>
                </a:extLst>
              </a:tr>
              <a:tr h="370840">
                <a:tc>
                  <a:txBody>
                    <a:bodyPr/>
                    <a:lstStyle/>
                    <a:p>
                      <a:pPr algn="l"/>
                      <a:r>
                        <a:rPr lang="en-US" sz="1600" dirty="0"/>
                        <a:t>WT</a:t>
                      </a:r>
                    </a:p>
                  </a:txBody>
                  <a:tcPr>
                    <a:lnL w="12700" cap="flat" cmpd="sng" algn="ctr">
                      <a:no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l"/>
                      <a:r>
                        <a:rPr lang="en-US" sz="1600" dirty="0"/>
                        <a:t>80</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l"/>
                      <a:r>
                        <a:rPr lang="en-US" sz="1600" dirty="0"/>
                        <a:t>78.25</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l"/>
                      <a:endParaRPr lang="en-US" sz="16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l"/>
                      <a:r>
                        <a:rPr lang="en-US" sz="1600" dirty="0"/>
                        <a:t>Bought</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l"/>
                      <a:r>
                        <a:rPr lang="en-US" sz="1600" dirty="0"/>
                        <a:t>33927.78</a:t>
                      </a:r>
                    </a:p>
                  </a:txBody>
                  <a:tcPr>
                    <a:lnL w="12700" cmpd="sng">
                      <a:noFill/>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3"/>
                  </a:ext>
                </a:extLst>
              </a:tr>
            </a:tbl>
          </a:graphicData>
        </a:graphic>
      </p:graphicFrame>
      <p:cxnSp>
        <p:nvCxnSpPr>
          <p:cNvPr id="5" name="Straight Connector 4"/>
          <p:cNvCxnSpPr/>
          <p:nvPr/>
        </p:nvCxnSpPr>
        <p:spPr>
          <a:xfrm>
            <a:off x="457200" y="1447800"/>
            <a:ext cx="8229600" cy="0"/>
          </a:xfrm>
          <a:prstGeom prst="line">
            <a:avLst/>
          </a:prstGeom>
          <a:ln w="28575"/>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6883550"/>
      </p:ext>
    </p:extLst>
  </p:cSld>
  <p:clrMapOvr>
    <a:masterClrMapping/>
  </p:clrMapOvr>
  <p:transition spd="slow">
    <p:push dir="u"/>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676400"/>
            <a:ext cx="8305800" cy="4876800"/>
          </a:xfrm>
        </p:spPr>
        <p:txBody>
          <a:bodyPr>
            <a:normAutofit/>
          </a:bodyPr>
          <a:lstStyle/>
          <a:p>
            <a:pPr marL="0" indent="0" algn="just">
              <a:buNone/>
            </a:pPr>
            <a:r>
              <a:rPr lang="en-US" sz="2000" dirty="0">
                <a:solidFill>
                  <a:schemeClr val="tx1">
                    <a:lumMod val="65000"/>
                    <a:lumOff val="35000"/>
                  </a:schemeClr>
                </a:solidFill>
                <a:latin typeface="Calibri" panose="020F0502020204030204" pitchFamily="34" charset="0"/>
                <a:cs typeface="Calibri" panose="020F0502020204030204" pitchFamily="34" charset="0"/>
              </a:rPr>
              <a:t>$9,31,149 needed to be invested as capital cost. $1,98,78,395 of operation and maintenance cost will be spend over project life time of 25 years.</a:t>
            </a:r>
          </a:p>
          <a:p>
            <a:pPr marL="0" indent="0" algn="just">
              <a:buNone/>
            </a:pPr>
            <a:endParaRPr lang="en-US" sz="2000" dirty="0">
              <a:solidFill>
                <a:schemeClr val="tx1">
                  <a:lumMod val="65000"/>
                  <a:lumOff val="35000"/>
                </a:schemeClr>
              </a:solidFill>
              <a:latin typeface="Calibri" panose="020F0502020204030204" pitchFamily="34" charset="0"/>
              <a:cs typeface="Calibri" panose="020F0502020204030204" pitchFamily="34" charset="0"/>
            </a:endParaRPr>
          </a:p>
          <a:p>
            <a:pPr marL="0" indent="0" algn="just">
              <a:buNone/>
            </a:pPr>
            <a:endParaRPr lang="en-US" sz="2000" dirty="0">
              <a:solidFill>
                <a:schemeClr val="tx1">
                  <a:lumMod val="65000"/>
                  <a:lumOff val="35000"/>
                </a:schemeClr>
              </a:solidFill>
              <a:latin typeface="Calibri" panose="020F0502020204030204" pitchFamily="34" charset="0"/>
              <a:cs typeface="Calibri" panose="020F0502020204030204" pitchFamily="34" charset="0"/>
            </a:endParaRPr>
          </a:p>
          <a:p>
            <a:pPr marL="0" indent="0" algn="just">
              <a:buNone/>
            </a:pPr>
            <a:endParaRPr lang="en-US" sz="2000" dirty="0">
              <a:solidFill>
                <a:schemeClr val="tx1">
                  <a:lumMod val="65000"/>
                  <a:lumOff val="35000"/>
                </a:schemeClr>
              </a:solidFill>
              <a:latin typeface="Calibri" panose="020F0502020204030204" pitchFamily="34" charset="0"/>
              <a:cs typeface="Calibri" panose="020F0502020204030204" pitchFamily="34" charset="0"/>
            </a:endParaRPr>
          </a:p>
          <a:p>
            <a:pPr marL="0" indent="0" algn="just">
              <a:buNone/>
            </a:pPr>
            <a:endParaRPr lang="en-US" sz="2000" dirty="0">
              <a:solidFill>
                <a:schemeClr val="tx1">
                  <a:lumMod val="65000"/>
                  <a:lumOff val="35000"/>
                </a:schemeClr>
              </a:solidFill>
              <a:latin typeface="Calibri" panose="020F0502020204030204" pitchFamily="34" charset="0"/>
              <a:cs typeface="Calibri" panose="020F0502020204030204" pitchFamily="34" charset="0"/>
            </a:endParaRPr>
          </a:p>
          <a:p>
            <a:pPr marL="0" indent="0" algn="just">
              <a:buNone/>
            </a:pPr>
            <a:endParaRPr lang="en-US" sz="2000" dirty="0">
              <a:solidFill>
                <a:schemeClr val="tx1">
                  <a:lumMod val="65000"/>
                  <a:lumOff val="35000"/>
                </a:schemeClr>
              </a:solidFill>
              <a:latin typeface="Calibri" panose="020F0502020204030204" pitchFamily="34" charset="0"/>
              <a:cs typeface="Calibri" panose="020F0502020204030204" pitchFamily="34" charset="0"/>
            </a:endParaRPr>
          </a:p>
          <a:p>
            <a:pPr marL="0" indent="0" algn="just">
              <a:buNone/>
            </a:pPr>
            <a:endParaRPr lang="en-US" sz="2000" dirty="0">
              <a:solidFill>
                <a:schemeClr val="tx1">
                  <a:lumMod val="65000"/>
                  <a:lumOff val="35000"/>
                </a:schemeClr>
              </a:solidFill>
              <a:latin typeface="Calibri" panose="020F0502020204030204" pitchFamily="34" charset="0"/>
              <a:cs typeface="Calibri" panose="020F0502020204030204" pitchFamily="34" charset="0"/>
            </a:endParaRPr>
          </a:p>
          <a:p>
            <a:pPr marL="0" indent="0" algn="just">
              <a:buNone/>
            </a:pPr>
            <a:endParaRPr lang="en-US" sz="2000" dirty="0">
              <a:solidFill>
                <a:schemeClr val="tx1">
                  <a:lumMod val="65000"/>
                  <a:lumOff val="35000"/>
                </a:schemeClr>
              </a:solidFill>
              <a:latin typeface="Calibri" panose="020F0502020204030204" pitchFamily="34" charset="0"/>
              <a:cs typeface="Calibri" panose="020F0502020204030204" pitchFamily="34" charset="0"/>
            </a:endParaRPr>
          </a:p>
          <a:p>
            <a:pPr marL="0" indent="0" algn="just">
              <a:buNone/>
            </a:pPr>
            <a:endParaRPr lang="en-US" sz="2000" dirty="0">
              <a:solidFill>
                <a:schemeClr val="tx1">
                  <a:lumMod val="65000"/>
                  <a:lumOff val="35000"/>
                </a:schemeClr>
              </a:solidFill>
              <a:latin typeface="Calibri" panose="020F0502020204030204" pitchFamily="34" charset="0"/>
              <a:cs typeface="Calibri" panose="020F0502020204030204" pitchFamily="34" charset="0"/>
            </a:endParaRPr>
          </a:p>
          <a:p>
            <a:pPr marL="0" indent="0" algn="just">
              <a:buNone/>
            </a:pPr>
            <a:r>
              <a:rPr lang="en-US" sz="2000" dirty="0">
                <a:solidFill>
                  <a:schemeClr val="tx1">
                    <a:lumMod val="65000"/>
                    <a:lumOff val="35000"/>
                  </a:schemeClr>
                </a:solidFill>
                <a:latin typeface="Calibri" panose="020F0502020204030204" pitchFamily="34" charset="0"/>
                <a:cs typeface="Calibri" panose="020F0502020204030204" pitchFamily="34" charset="0"/>
              </a:rPr>
              <a:t>Total net present cost of the system was found $2,08,28,456. Levelized cost of electricity was found 0.106 ($/KWh) for the proposed system.</a:t>
            </a:r>
          </a:p>
          <a:p>
            <a:pPr marL="0" indent="0" algn="just">
              <a:buNone/>
            </a:pPr>
            <a:endParaRPr lang="en-US" sz="2000" dirty="0">
              <a:solidFill>
                <a:schemeClr val="tx1">
                  <a:lumMod val="65000"/>
                  <a:lumOff val="35000"/>
                </a:schemeClr>
              </a:solidFill>
              <a:latin typeface="Calibri" panose="020F0502020204030204" pitchFamily="34" charset="0"/>
              <a:cs typeface="Calibri" panose="020F0502020204030204" pitchFamily="34" charset="0"/>
            </a:endParaRPr>
          </a:p>
        </p:txBody>
      </p:sp>
      <p:sp>
        <p:nvSpPr>
          <p:cNvPr id="2" name="Title 1"/>
          <p:cNvSpPr>
            <a:spLocks noGrp="1"/>
          </p:cNvSpPr>
          <p:nvPr>
            <p:ph type="title"/>
          </p:nvPr>
        </p:nvSpPr>
        <p:spPr>
          <a:noFill/>
          <a:ln>
            <a:noFill/>
          </a:ln>
        </p:spPr>
        <p:txBody>
          <a:bodyPr>
            <a:normAutofit/>
          </a:bodyPr>
          <a:lstStyle/>
          <a:p>
            <a:r>
              <a:rPr lang="en-US" sz="3600" dirty="0">
                <a:solidFill>
                  <a:schemeClr val="accent1"/>
                </a:solidFill>
                <a:latin typeface="Calibri" panose="020F0502020204030204" pitchFamily="34" charset="0"/>
                <a:cs typeface="Calibri" panose="020F0502020204030204" pitchFamily="34" charset="0"/>
              </a:rPr>
              <a:t>RESULTS AND SIMULATIONS (CONT.)</a:t>
            </a:r>
            <a:endParaRPr lang="en-US" dirty="0">
              <a:solidFill>
                <a:schemeClr val="accent1"/>
              </a:solidFill>
              <a:latin typeface="Calibri" panose="020F0502020204030204" pitchFamily="34" charset="0"/>
              <a:cs typeface="Calibri" panose="020F0502020204030204" pitchFamily="34" charset="0"/>
            </a:endParaRPr>
          </a:p>
        </p:txBody>
      </p:sp>
      <p:cxnSp>
        <p:nvCxnSpPr>
          <p:cNvPr id="5" name="Straight Connector 4"/>
          <p:cNvCxnSpPr/>
          <p:nvPr/>
        </p:nvCxnSpPr>
        <p:spPr>
          <a:xfrm>
            <a:off x="457200" y="1447800"/>
            <a:ext cx="8229600" cy="0"/>
          </a:xfrm>
          <a:prstGeom prst="line">
            <a:avLst/>
          </a:prstGeom>
          <a:ln w="28575"/>
        </p:spPr>
        <p:style>
          <a:lnRef idx="1">
            <a:schemeClr val="accent1"/>
          </a:lnRef>
          <a:fillRef idx="0">
            <a:schemeClr val="accent1"/>
          </a:fillRef>
          <a:effectRef idx="0">
            <a:schemeClr val="accent1"/>
          </a:effectRef>
          <a:fontRef idx="minor">
            <a:schemeClr val="tx1"/>
          </a:fontRef>
        </p:style>
      </p:cxnSp>
      <p:graphicFrame>
        <p:nvGraphicFramePr>
          <p:cNvPr id="6" name="Content Placeholder 3"/>
          <p:cNvGraphicFramePr>
            <a:graphicFrameLocks/>
          </p:cNvGraphicFramePr>
          <p:nvPr>
            <p:extLst>
              <p:ext uri="{D42A27DB-BD31-4B8C-83A1-F6EECF244321}">
                <p14:modId xmlns:p14="http://schemas.microsoft.com/office/powerpoint/2010/main" val="2400320466"/>
              </p:ext>
            </p:extLst>
          </p:nvPr>
        </p:nvGraphicFramePr>
        <p:xfrm>
          <a:off x="457200" y="2438400"/>
          <a:ext cx="8458199" cy="2794000"/>
        </p:xfrm>
        <a:graphic>
          <a:graphicData uri="http://schemas.openxmlformats.org/drawingml/2006/table">
            <a:tbl>
              <a:tblPr firstRow="1" bandRow="1">
                <a:tableStyleId>{2D5ABB26-0587-4C30-8999-92F81FD0307C}</a:tableStyleId>
              </a:tblPr>
              <a:tblGrid>
                <a:gridCol w="1092697">
                  <a:extLst>
                    <a:ext uri="{9D8B030D-6E8A-4147-A177-3AD203B41FA5}">
                      <a16:colId xmlns:a16="http://schemas.microsoft.com/office/drawing/2014/main" val="20000"/>
                    </a:ext>
                  </a:extLst>
                </a:gridCol>
                <a:gridCol w="1162974">
                  <a:extLst>
                    <a:ext uri="{9D8B030D-6E8A-4147-A177-3AD203B41FA5}">
                      <a16:colId xmlns:a16="http://schemas.microsoft.com/office/drawing/2014/main" val="20001"/>
                    </a:ext>
                  </a:extLst>
                </a:gridCol>
                <a:gridCol w="1293753">
                  <a:extLst>
                    <a:ext uri="{9D8B030D-6E8A-4147-A177-3AD203B41FA5}">
                      <a16:colId xmlns:a16="http://schemas.microsoft.com/office/drawing/2014/main" val="20002"/>
                    </a:ext>
                  </a:extLst>
                </a:gridCol>
                <a:gridCol w="1264789">
                  <a:extLst>
                    <a:ext uri="{9D8B030D-6E8A-4147-A177-3AD203B41FA5}">
                      <a16:colId xmlns:a16="http://schemas.microsoft.com/office/drawing/2014/main" val="20003"/>
                    </a:ext>
                  </a:extLst>
                </a:gridCol>
                <a:gridCol w="1085443">
                  <a:extLst>
                    <a:ext uri="{9D8B030D-6E8A-4147-A177-3AD203B41FA5}">
                      <a16:colId xmlns:a16="http://schemas.microsoft.com/office/drawing/2014/main" val="20004"/>
                    </a:ext>
                  </a:extLst>
                </a:gridCol>
                <a:gridCol w="232595">
                  <a:extLst>
                    <a:ext uri="{9D8B030D-6E8A-4147-A177-3AD203B41FA5}">
                      <a16:colId xmlns:a16="http://schemas.microsoft.com/office/drawing/2014/main" val="20005"/>
                    </a:ext>
                  </a:extLst>
                </a:gridCol>
                <a:gridCol w="930380">
                  <a:extLst>
                    <a:ext uri="{9D8B030D-6E8A-4147-A177-3AD203B41FA5}">
                      <a16:colId xmlns:a16="http://schemas.microsoft.com/office/drawing/2014/main" val="20006"/>
                    </a:ext>
                  </a:extLst>
                </a:gridCol>
                <a:gridCol w="1395568">
                  <a:extLst>
                    <a:ext uri="{9D8B030D-6E8A-4147-A177-3AD203B41FA5}">
                      <a16:colId xmlns:a16="http://schemas.microsoft.com/office/drawing/2014/main" val="20007"/>
                    </a:ext>
                  </a:extLst>
                </a:gridCol>
              </a:tblGrid>
              <a:tr h="370840">
                <a:tc gridSpan="3">
                  <a:txBody>
                    <a:bodyPr/>
                    <a:lstStyle/>
                    <a:p>
                      <a:pPr algn="l"/>
                      <a:r>
                        <a:rPr lang="en-US" sz="1600" b="1" dirty="0"/>
                        <a:t>Renewable</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a:p>
                  </a:txBody>
                  <a:tcPr/>
                </a:tc>
                <a:tc hMerge="1">
                  <a:txBody>
                    <a:bodyPr/>
                    <a:lstStyle/>
                    <a:p>
                      <a:endParaRPr lang="en-US" dirty="0"/>
                    </a:p>
                  </a:txBody>
                  <a:tcPr/>
                </a:tc>
                <a:tc>
                  <a:txBody>
                    <a:bodyPr/>
                    <a:lstStyle/>
                    <a:p>
                      <a:pPr algn="l"/>
                      <a:endParaRPr lang="en-US" sz="1600" b="1" dirty="0"/>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endParaRPr lang="en-US" sz="1600" b="1" dirty="0"/>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endParaRPr lang="en-US" sz="1600" b="1" dirty="0"/>
                    </a:p>
                  </a:txBody>
                  <a:tcP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gridSpan="2">
                  <a:txBody>
                    <a:bodyPr/>
                    <a:lstStyle/>
                    <a:p>
                      <a:pPr algn="l"/>
                      <a:r>
                        <a:rPr lang="en-US" sz="1600" b="1" dirty="0"/>
                        <a:t>Grid</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dirty="0"/>
                    </a:p>
                  </a:txBody>
                  <a:tcPr/>
                </a:tc>
                <a:extLst>
                  <a:ext uri="{0D108BD9-81ED-4DB2-BD59-A6C34878D82A}">
                    <a16:rowId xmlns:a16="http://schemas.microsoft.com/office/drawing/2014/main" val="10000"/>
                  </a:ext>
                </a:extLst>
              </a:tr>
              <a:tr h="370840">
                <a:tc>
                  <a:txBody>
                    <a:bodyPr/>
                    <a:lstStyle/>
                    <a:p>
                      <a:pPr algn="l"/>
                      <a:r>
                        <a:rPr lang="en-US" sz="1600" dirty="0"/>
                        <a:t>Item</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sz="1600" dirty="0"/>
                        <a:t>Capital </a:t>
                      </a:r>
                    </a:p>
                    <a:p>
                      <a:pPr algn="l"/>
                      <a:r>
                        <a:rPr lang="en-US" sz="1600" dirty="0"/>
                        <a:t>Cost ($)</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sz="1600" dirty="0"/>
                        <a:t>O&amp;M</a:t>
                      </a:r>
                      <a:r>
                        <a:rPr lang="en-US" sz="1600" baseline="0" dirty="0"/>
                        <a:t> </a:t>
                      </a:r>
                    </a:p>
                    <a:p>
                      <a:pPr algn="l"/>
                      <a:r>
                        <a:rPr lang="en-US" sz="1600" baseline="0" dirty="0"/>
                        <a:t>Cost ($)</a:t>
                      </a:r>
                      <a:endParaRPr lang="en-US" sz="1600" dirty="0"/>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sz="1600" dirty="0"/>
                        <a:t>Net</a:t>
                      </a:r>
                      <a:r>
                        <a:rPr lang="en-US" sz="1600" baseline="0" dirty="0"/>
                        <a:t> Preset</a:t>
                      </a:r>
                      <a:endParaRPr lang="en-US" sz="1600" dirty="0"/>
                    </a:p>
                    <a:p>
                      <a:pPr algn="l"/>
                      <a:r>
                        <a:rPr lang="en-US" sz="1600" dirty="0"/>
                        <a:t>Cost ($)</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sz="1600" dirty="0" err="1"/>
                        <a:t>LCoE</a:t>
                      </a:r>
                      <a:r>
                        <a:rPr lang="en-US" sz="1600" dirty="0"/>
                        <a:t> </a:t>
                      </a:r>
                    </a:p>
                    <a:p>
                      <a:pPr algn="l"/>
                      <a:r>
                        <a:rPr lang="en-US" sz="1600" dirty="0"/>
                        <a:t>($/kWh)</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endParaRPr lang="en-US" sz="1600" dirty="0"/>
                    </a:p>
                  </a:txBody>
                  <a:tcP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gridSpan="2">
                  <a:txBody>
                    <a:bodyPr/>
                    <a:lstStyle/>
                    <a:p>
                      <a:pPr algn="l"/>
                      <a:r>
                        <a:rPr lang="en-US" sz="1600" dirty="0"/>
                        <a:t>Tariff rate</a:t>
                      </a:r>
                    </a:p>
                    <a:p>
                      <a:pPr algn="l"/>
                      <a:r>
                        <a:rPr lang="en-US" sz="1600" dirty="0" err="1"/>
                        <a:t>CoE</a:t>
                      </a:r>
                      <a:r>
                        <a:rPr lang="en-US" sz="1600" baseline="0" dirty="0"/>
                        <a:t> </a:t>
                      </a:r>
                      <a:r>
                        <a:rPr lang="en-US" sz="1600" dirty="0"/>
                        <a:t>($/kWh) </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dirty="0"/>
                    </a:p>
                  </a:txBody>
                  <a:tcPr>
                    <a:solidFill>
                      <a:schemeClr val="bg2">
                        <a:lumMod val="90000"/>
                      </a:schemeClr>
                    </a:solidFill>
                  </a:tcPr>
                </a:tc>
                <a:extLst>
                  <a:ext uri="{0D108BD9-81ED-4DB2-BD59-A6C34878D82A}">
                    <a16:rowId xmlns:a16="http://schemas.microsoft.com/office/drawing/2014/main" val="10001"/>
                  </a:ext>
                </a:extLst>
              </a:tr>
              <a:tr h="360680">
                <a:tc>
                  <a:txBody>
                    <a:bodyPr/>
                    <a:lstStyle/>
                    <a:p>
                      <a:pPr algn="l"/>
                      <a:r>
                        <a:rPr lang="en-US" sz="1600" dirty="0"/>
                        <a:t>PV</a:t>
                      </a:r>
                    </a:p>
                  </a:txBody>
                  <a:tcPr>
                    <a:lnT w="12700" cap="flat" cmpd="sng" algn="ctr">
                      <a:solidFill>
                        <a:schemeClr val="tx1"/>
                      </a:solidFill>
                      <a:prstDash val="solid"/>
                      <a:round/>
                      <a:headEnd type="none" w="med" len="med"/>
                      <a:tailEnd type="none" w="med" len="med"/>
                    </a:lnT>
                  </a:tcPr>
                </a:tc>
                <a:tc>
                  <a:txBody>
                    <a:bodyPr/>
                    <a:lstStyle/>
                    <a:p>
                      <a:pPr algn="l"/>
                      <a:r>
                        <a:rPr lang="en-US" sz="1600" dirty="0"/>
                        <a:t>7,13,300</a:t>
                      </a:r>
                    </a:p>
                  </a:txBody>
                  <a:tcPr>
                    <a:lnT w="12700" cap="flat" cmpd="sng" algn="ctr">
                      <a:solidFill>
                        <a:schemeClr val="tx1"/>
                      </a:solidFill>
                      <a:prstDash val="solid"/>
                      <a:round/>
                      <a:headEnd type="none" w="med" len="med"/>
                      <a:tailEnd type="none" w="med" len="med"/>
                    </a:lnT>
                  </a:tcPr>
                </a:tc>
                <a:tc>
                  <a:txBody>
                    <a:bodyPr/>
                    <a:lstStyle/>
                    <a:p>
                      <a:pPr algn="l"/>
                      <a:r>
                        <a:rPr lang="en-US" sz="1600" dirty="0"/>
                        <a:t>1,64,07,726</a:t>
                      </a:r>
                    </a:p>
                  </a:txBody>
                  <a:tcPr>
                    <a:lnT w="12700" cap="flat" cmpd="sng" algn="ctr">
                      <a:solidFill>
                        <a:schemeClr val="tx1"/>
                      </a:solidFill>
                      <a:prstDash val="solid"/>
                      <a:round/>
                      <a:headEnd type="none" w="med" len="med"/>
                      <a:tailEnd type="none" w="med" len="med"/>
                    </a:lnT>
                  </a:tcPr>
                </a:tc>
                <a:tc>
                  <a:txBody>
                    <a:bodyPr/>
                    <a:lstStyle/>
                    <a:p>
                      <a:pPr algn="l"/>
                      <a:r>
                        <a:rPr lang="en-US" sz="1600" dirty="0"/>
                        <a:t>1,71,71,976</a:t>
                      </a:r>
                    </a:p>
                  </a:txBody>
                  <a:tcPr>
                    <a:lnT w="12700" cap="flat" cmpd="sng" algn="ctr">
                      <a:solidFill>
                        <a:schemeClr val="tx1"/>
                      </a:solidFill>
                      <a:prstDash val="solid"/>
                      <a:round/>
                      <a:headEnd type="none" w="med" len="med"/>
                      <a:tailEnd type="none" w="med" len="med"/>
                    </a:lnT>
                  </a:tcPr>
                </a:tc>
                <a:tc>
                  <a:txBody>
                    <a:bodyPr/>
                    <a:lstStyle/>
                    <a:p>
                      <a:pPr algn="l"/>
                      <a:endParaRPr lang="en-US" sz="1600" dirty="0"/>
                    </a:p>
                  </a:txBody>
                  <a:tcPr>
                    <a:lnT w="12700" cap="flat" cmpd="sng" algn="ctr">
                      <a:solidFill>
                        <a:schemeClr val="tx1"/>
                      </a:solidFill>
                      <a:prstDash val="solid"/>
                      <a:round/>
                      <a:headEnd type="none" w="med" len="med"/>
                      <a:tailEnd type="none" w="med" len="med"/>
                    </a:lnT>
                  </a:tcPr>
                </a:tc>
                <a:tc>
                  <a:txBody>
                    <a:bodyPr/>
                    <a:lstStyle/>
                    <a:p>
                      <a:pPr algn="l"/>
                      <a:endParaRPr lang="en-US" sz="1600" dirty="0"/>
                    </a:p>
                  </a:txBody>
                  <a:tcPr>
                    <a:lnT w="12700" cap="flat" cmpd="sng" algn="ctr">
                      <a:noFill/>
                      <a:prstDash val="solid"/>
                      <a:round/>
                      <a:headEnd type="none" w="med" len="med"/>
                      <a:tailEnd type="none" w="med" len="med"/>
                    </a:lnT>
                  </a:tcPr>
                </a:tc>
                <a:tc>
                  <a:txBody>
                    <a:bodyPr/>
                    <a:lstStyle/>
                    <a:p>
                      <a:pPr algn="l"/>
                      <a:r>
                        <a:rPr lang="en-US" sz="1600" dirty="0"/>
                        <a:t>Retail</a:t>
                      </a:r>
                    </a:p>
                  </a:txBody>
                  <a:tcPr>
                    <a:lnT w="12700" cap="flat" cmpd="sng" algn="ctr">
                      <a:solidFill>
                        <a:schemeClr val="tx1"/>
                      </a:solidFill>
                      <a:prstDash val="solid"/>
                      <a:round/>
                      <a:headEnd type="none" w="med" len="med"/>
                      <a:tailEnd type="none" w="med" len="med"/>
                    </a:lnT>
                  </a:tcPr>
                </a:tc>
                <a:tc>
                  <a:txBody>
                    <a:bodyPr/>
                    <a:lstStyle/>
                    <a:p>
                      <a:pPr algn="l"/>
                      <a:r>
                        <a:rPr lang="en-US" sz="1600" dirty="0"/>
                        <a:t>0.079</a:t>
                      </a:r>
                    </a:p>
                  </a:txBody>
                  <a:tcP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0002"/>
                  </a:ext>
                </a:extLst>
              </a:tr>
              <a:tr h="370840">
                <a:tc>
                  <a:txBody>
                    <a:bodyPr/>
                    <a:lstStyle/>
                    <a:p>
                      <a:pPr algn="l"/>
                      <a:r>
                        <a:rPr lang="en-US" sz="1600" dirty="0"/>
                        <a:t>Pontoon</a:t>
                      </a:r>
                    </a:p>
                  </a:txBody>
                  <a:tcPr/>
                </a:tc>
                <a:tc>
                  <a:txBody>
                    <a:bodyPr/>
                    <a:lstStyle/>
                    <a:p>
                      <a:pPr algn="l"/>
                      <a:r>
                        <a:rPr lang="en-US" sz="1600" dirty="0"/>
                        <a:t>50,950</a:t>
                      </a:r>
                    </a:p>
                  </a:txBody>
                  <a:tcPr/>
                </a:tc>
                <a:tc>
                  <a:txBody>
                    <a:bodyPr/>
                    <a:lstStyle/>
                    <a:p>
                      <a:pPr algn="l"/>
                      <a:r>
                        <a:rPr lang="en-US" sz="1600" dirty="0"/>
                        <a:t>0</a:t>
                      </a:r>
                    </a:p>
                  </a:txBody>
                  <a:tcPr/>
                </a:tc>
                <a:tc>
                  <a:txBody>
                    <a:bodyPr/>
                    <a:lstStyle/>
                    <a:p>
                      <a:pPr algn="l"/>
                      <a:r>
                        <a:rPr lang="en-US" sz="1600" dirty="0"/>
                        <a:t>0</a:t>
                      </a:r>
                    </a:p>
                  </a:txBody>
                  <a:tcPr/>
                </a:tc>
                <a:tc>
                  <a:txBody>
                    <a:bodyPr/>
                    <a:lstStyle/>
                    <a:p>
                      <a:pPr algn="l"/>
                      <a:endParaRPr lang="en-US" sz="1600" dirty="0"/>
                    </a:p>
                  </a:txBody>
                  <a:tcPr/>
                </a:tc>
                <a:tc>
                  <a:txBody>
                    <a:bodyPr/>
                    <a:lstStyle/>
                    <a:p>
                      <a:pPr algn="l"/>
                      <a:endParaRPr lang="en-US" sz="1600" dirty="0"/>
                    </a:p>
                  </a:txBody>
                  <a:tcPr/>
                </a:tc>
                <a:tc rowSpan="2">
                  <a:txBody>
                    <a:bodyPr/>
                    <a:lstStyle/>
                    <a:p>
                      <a:pPr algn="l"/>
                      <a:r>
                        <a:rPr lang="en-US" sz="1600" dirty="0"/>
                        <a:t>Sell</a:t>
                      </a:r>
                      <a:endParaRPr lang="en-US" sz="1600" i="0" dirty="0"/>
                    </a:p>
                  </a:txBody>
                  <a:tcPr/>
                </a:tc>
                <a:tc rowSpan="2">
                  <a:txBody>
                    <a:bodyPr/>
                    <a:lstStyle/>
                    <a:p>
                      <a:pPr algn="l"/>
                      <a:r>
                        <a:rPr lang="en-US" sz="1600" dirty="0"/>
                        <a:t>50% of retail price</a:t>
                      </a:r>
                    </a:p>
                  </a:txBody>
                  <a:tcPr/>
                </a:tc>
                <a:extLst>
                  <a:ext uri="{0D108BD9-81ED-4DB2-BD59-A6C34878D82A}">
                    <a16:rowId xmlns:a16="http://schemas.microsoft.com/office/drawing/2014/main" val="10003"/>
                  </a:ext>
                </a:extLst>
              </a:tr>
              <a:tr h="370840">
                <a:tc>
                  <a:txBody>
                    <a:bodyPr/>
                    <a:lstStyle/>
                    <a:p>
                      <a:pPr algn="l"/>
                      <a:r>
                        <a:rPr lang="en-US" sz="1600" dirty="0"/>
                        <a:t>WT</a:t>
                      </a:r>
                    </a:p>
                  </a:txBody>
                  <a:tcPr/>
                </a:tc>
                <a:tc>
                  <a:txBody>
                    <a:bodyPr/>
                    <a:lstStyle/>
                    <a:p>
                      <a:pPr algn="l"/>
                      <a:r>
                        <a:rPr lang="en-US" sz="1600" dirty="0"/>
                        <a:t>88,000</a:t>
                      </a:r>
                    </a:p>
                  </a:txBody>
                  <a:tcPr/>
                </a:tc>
                <a:tc>
                  <a:txBody>
                    <a:bodyPr/>
                    <a:lstStyle/>
                    <a:p>
                      <a:pPr algn="l"/>
                      <a:r>
                        <a:rPr lang="en-US" sz="1600" dirty="0"/>
                        <a:t>3,373,709</a:t>
                      </a:r>
                    </a:p>
                  </a:txBody>
                  <a:tcPr/>
                </a:tc>
                <a:tc>
                  <a:txBody>
                    <a:bodyPr/>
                    <a:lstStyle/>
                    <a:p>
                      <a:pPr algn="l"/>
                      <a:r>
                        <a:rPr lang="en-US" sz="1600" dirty="0"/>
                        <a:t>3,461,709</a:t>
                      </a:r>
                    </a:p>
                  </a:txBody>
                  <a:tcPr/>
                </a:tc>
                <a:tc>
                  <a:txBody>
                    <a:bodyPr/>
                    <a:lstStyle/>
                    <a:p>
                      <a:pPr algn="l"/>
                      <a:r>
                        <a:rPr lang="en-US" sz="1600" dirty="0"/>
                        <a:t>0.106</a:t>
                      </a:r>
                    </a:p>
                  </a:txBody>
                  <a:tcPr/>
                </a:tc>
                <a:tc>
                  <a:txBody>
                    <a:bodyPr/>
                    <a:lstStyle/>
                    <a:p>
                      <a:pPr algn="l"/>
                      <a:endParaRPr lang="en-US" sz="1600" dirty="0"/>
                    </a:p>
                  </a:txBody>
                  <a:tcPr/>
                </a:tc>
                <a:tc vMerge="1">
                  <a:txBody>
                    <a:bodyPr/>
                    <a:lstStyle/>
                    <a:p>
                      <a:pPr algn="ctr"/>
                      <a:endParaRPr lang="en-US" dirty="0"/>
                    </a:p>
                  </a:txBody>
                  <a:tcP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bg1"/>
                    </a:solidFill>
                  </a:tcPr>
                </a:tc>
                <a:tc vMerge="1">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370840">
                <a:tc>
                  <a:txBody>
                    <a:bodyPr/>
                    <a:lstStyle/>
                    <a:p>
                      <a:pPr algn="l"/>
                      <a:r>
                        <a:rPr lang="en-US" sz="1600" dirty="0"/>
                        <a:t>Inverter</a:t>
                      </a:r>
                    </a:p>
                  </a:txBody>
                  <a:tcPr/>
                </a:tc>
                <a:tc>
                  <a:txBody>
                    <a:bodyPr/>
                    <a:lstStyle/>
                    <a:p>
                      <a:pPr algn="l"/>
                      <a:r>
                        <a:rPr lang="en-US" sz="1600" dirty="0"/>
                        <a:t>9,31,149</a:t>
                      </a:r>
                    </a:p>
                  </a:txBody>
                  <a:tcPr/>
                </a:tc>
                <a:tc>
                  <a:txBody>
                    <a:bodyPr/>
                    <a:lstStyle/>
                    <a:p>
                      <a:pPr algn="l"/>
                      <a:r>
                        <a:rPr lang="en-US" sz="1600" dirty="0"/>
                        <a:t>96,960</a:t>
                      </a:r>
                    </a:p>
                  </a:txBody>
                  <a:tcPr/>
                </a:tc>
                <a:tc>
                  <a:txBody>
                    <a:bodyPr/>
                    <a:lstStyle/>
                    <a:p>
                      <a:pPr algn="l"/>
                      <a:r>
                        <a:rPr lang="en-US" sz="1600" dirty="0"/>
                        <a:t>1,94,772</a:t>
                      </a:r>
                    </a:p>
                  </a:txBody>
                  <a:tcPr/>
                </a:tc>
                <a:tc>
                  <a:txBody>
                    <a:bodyPr/>
                    <a:lstStyle/>
                    <a:p>
                      <a:pPr algn="l"/>
                      <a:endParaRPr lang="en-US" sz="1600" dirty="0"/>
                    </a:p>
                  </a:txBody>
                  <a:tcPr/>
                </a:tc>
                <a:tc>
                  <a:txBody>
                    <a:bodyPr/>
                    <a:lstStyle/>
                    <a:p>
                      <a:pPr algn="l"/>
                      <a:endParaRPr lang="en-US" sz="1600" dirty="0"/>
                    </a:p>
                  </a:txBody>
                  <a:tcPr/>
                </a:tc>
                <a:tc>
                  <a:txBody>
                    <a:bodyPr/>
                    <a:lstStyle/>
                    <a:p>
                      <a:pPr algn="l"/>
                      <a:endParaRPr lang="en-US" sz="1600" i="0" dirty="0"/>
                    </a:p>
                  </a:txBody>
                  <a:tcPr/>
                </a:tc>
                <a:tc>
                  <a:txBody>
                    <a:bodyPr/>
                    <a:lstStyle/>
                    <a:p>
                      <a:pPr algn="l"/>
                      <a:endParaRPr lang="en-US" sz="1600" dirty="0"/>
                    </a:p>
                  </a:txBody>
                  <a:tcPr/>
                </a:tc>
                <a:extLst>
                  <a:ext uri="{0D108BD9-81ED-4DB2-BD59-A6C34878D82A}">
                    <a16:rowId xmlns:a16="http://schemas.microsoft.com/office/drawing/2014/main" val="10005"/>
                  </a:ext>
                </a:extLst>
              </a:tr>
              <a:tr h="370840">
                <a:tc>
                  <a:txBody>
                    <a:bodyPr/>
                    <a:lstStyle/>
                    <a:p>
                      <a:pPr algn="l"/>
                      <a:r>
                        <a:rPr lang="en-US" sz="1600" b="0" dirty="0"/>
                        <a:t>Total</a:t>
                      </a:r>
                    </a:p>
                  </a:txBody>
                  <a:tcPr>
                    <a:lnB w="12700" cap="flat" cmpd="sng" algn="ctr">
                      <a:solidFill>
                        <a:schemeClr val="tx1"/>
                      </a:solidFill>
                      <a:prstDash val="solid"/>
                      <a:round/>
                      <a:headEnd type="none" w="med" len="med"/>
                      <a:tailEnd type="none" w="med" len="med"/>
                    </a:lnB>
                  </a:tcPr>
                </a:tc>
                <a:tc>
                  <a:txBody>
                    <a:bodyPr/>
                    <a:lstStyle/>
                    <a:p>
                      <a:pPr algn="l"/>
                      <a:r>
                        <a:rPr lang="en-US" sz="1600" dirty="0"/>
                        <a:t>9,31,149</a:t>
                      </a:r>
                    </a:p>
                  </a:txBody>
                  <a:tcPr>
                    <a:lnB w="12700" cap="flat" cmpd="sng" algn="ctr">
                      <a:solidFill>
                        <a:schemeClr val="tx1"/>
                      </a:solidFill>
                      <a:prstDash val="solid"/>
                      <a:round/>
                      <a:headEnd type="none" w="med" len="med"/>
                      <a:tailEnd type="none" w="med" len="med"/>
                    </a:lnB>
                  </a:tcPr>
                </a:tc>
                <a:tc>
                  <a:txBody>
                    <a:bodyPr/>
                    <a:lstStyle/>
                    <a:p>
                      <a:pPr algn="l"/>
                      <a:r>
                        <a:rPr lang="en-US" sz="1600" dirty="0"/>
                        <a:t>1,98,78,395</a:t>
                      </a:r>
                    </a:p>
                  </a:txBody>
                  <a:tcPr>
                    <a:lnB w="12700" cap="flat" cmpd="sng" algn="ctr">
                      <a:solidFill>
                        <a:schemeClr val="tx1"/>
                      </a:solidFill>
                      <a:prstDash val="solid"/>
                      <a:round/>
                      <a:headEnd type="none" w="med" len="med"/>
                      <a:tailEnd type="none" w="med" len="med"/>
                    </a:lnB>
                  </a:tcPr>
                </a:tc>
                <a:tc>
                  <a:txBody>
                    <a:bodyPr/>
                    <a:lstStyle/>
                    <a:p>
                      <a:pPr algn="l"/>
                      <a:r>
                        <a:rPr lang="en-US" sz="1600" dirty="0"/>
                        <a:t>2,08,28,456</a:t>
                      </a:r>
                    </a:p>
                  </a:txBody>
                  <a:tcPr>
                    <a:lnB w="12700" cap="flat" cmpd="sng" algn="ctr">
                      <a:solidFill>
                        <a:schemeClr val="tx1"/>
                      </a:solidFill>
                      <a:prstDash val="solid"/>
                      <a:round/>
                      <a:headEnd type="none" w="med" len="med"/>
                      <a:tailEnd type="none" w="med" len="med"/>
                    </a:lnB>
                  </a:tcPr>
                </a:tc>
                <a:tc>
                  <a:txBody>
                    <a:bodyPr/>
                    <a:lstStyle/>
                    <a:p>
                      <a:pPr algn="l"/>
                      <a:endParaRPr lang="en-US" sz="1600" dirty="0"/>
                    </a:p>
                  </a:txBody>
                  <a:tcPr>
                    <a:lnB w="12700" cap="flat" cmpd="sng" algn="ctr">
                      <a:solidFill>
                        <a:schemeClr val="tx1"/>
                      </a:solidFill>
                      <a:prstDash val="solid"/>
                      <a:round/>
                      <a:headEnd type="none" w="med" len="med"/>
                      <a:tailEnd type="none" w="med" len="med"/>
                    </a:lnB>
                  </a:tcPr>
                </a:tc>
                <a:tc>
                  <a:txBody>
                    <a:bodyPr/>
                    <a:lstStyle/>
                    <a:p>
                      <a:pPr algn="l"/>
                      <a:endParaRPr lang="en-US" sz="1600" dirty="0"/>
                    </a:p>
                  </a:txBody>
                  <a:tcPr>
                    <a:lnB w="12700" cap="flat" cmpd="sng" algn="ctr">
                      <a:solidFill>
                        <a:schemeClr val="tx1"/>
                      </a:solidFill>
                      <a:prstDash val="solid"/>
                      <a:round/>
                      <a:headEnd type="none" w="med" len="med"/>
                      <a:tailEnd type="none" w="med" len="med"/>
                    </a:lnB>
                  </a:tcPr>
                </a:tc>
                <a:tc>
                  <a:txBody>
                    <a:bodyPr/>
                    <a:lstStyle/>
                    <a:p>
                      <a:pPr algn="l"/>
                      <a:endParaRPr lang="en-US" sz="1600" i="0" dirty="0"/>
                    </a:p>
                  </a:txBody>
                  <a:tcPr>
                    <a:lnB w="12700" cap="flat" cmpd="sng" algn="ctr">
                      <a:solidFill>
                        <a:schemeClr val="tx1"/>
                      </a:solidFill>
                      <a:prstDash val="solid"/>
                      <a:round/>
                      <a:headEnd type="none" w="med" len="med"/>
                      <a:tailEnd type="none" w="med" len="med"/>
                    </a:lnB>
                  </a:tcPr>
                </a:tc>
                <a:tc>
                  <a:txBody>
                    <a:bodyPr/>
                    <a:lstStyle/>
                    <a:p>
                      <a:pPr algn="l"/>
                      <a:endParaRPr lang="en-US" sz="1600" dirty="0"/>
                    </a:p>
                  </a:txBody>
                  <a:tcP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2832061388"/>
      </p:ext>
    </p:extLst>
  </p:cSld>
  <p:clrMapOvr>
    <a:masterClrMapping/>
  </p:clrMapOvr>
  <p:transition spd="slow">
    <p:push dir="u"/>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noFill/>
          <a:ln>
            <a:noFill/>
          </a:ln>
        </p:spPr>
        <p:txBody>
          <a:bodyPr>
            <a:normAutofit/>
          </a:bodyPr>
          <a:lstStyle/>
          <a:p>
            <a:r>
              <a:rPr lang="en-US" sz="3600" dirty="0">
                <a:solidFill>
                  <a:schemeClr val="accent1"/>
                </a:solidFill>
                <a:latin typeface="Calibri" panose="020F0502020204030204" pitchFamily="34" charset="0"/>
                <a:cs typeface="Calibri" panose="020F0502020204030204" pitchFamily="34" charset="0"/>
              </a:rPr>
              <a:t>CONCLUSIONS</a:t>
            </a:r>
            <a:endParaRPr lang="en-US" dirty="0">
              <a:solidFill>
                <a:schemeClr val="accent1"/>
              </a:solidFill>
              <a:latin typeface="Calibri" panose="020F0502020204030204" pitchFamily="34" charset="0"/>
              <a:cs typeface="Calibri" panose="020F0502020204030204" pitchFamily="34" charset="0"/>
            </a:endParaRPr>
          </a:p>
        </p:txBody>
      </p:sp>
      <p:sp>
        <p:nvSpPr>
          <p:cNvPr id="3" name="Content Placeholder 2"/>
          <p:cNvSpPr>
            <a:spLocks noGrp="1"/>
          </p:cNvSpPr>
          <p:nvPr>
            <p:ph idx="1"/>
          </p:nvPr>
        </p:nvSpPr>
        <p:spPr/>
        <p:txBody>
          <a:bodyPr>
            <a:normAutofit/>
          </a:bodyPr>
          <a:lstStyle/>
          <a:p>
            <a:pPr marL="457200" indent="-457200" algn="just">
              <a:buNone/>
            </a:pPr>
            <a:endParaRPr lang="en-US" sz="2000" dirty="0">
              <a:solidFill>
                <a:schemeClr val="tx1">
                  <a:lumMod val="65000"/>
                  <a:lumOff val="35000"/>
                </a:schemeClr>
              </a:solidFill>
              <a:latin typeface="Calibri" panose="020F0502020204030204" pitchFamily="34" charset="0"/>
              <a:cs typeface="Calibri" panose="020F0502020204030204" pitchFamily="34" charset="0"/>
            </a:endParaRPr>
          </a:p>
          <a:p>
            <a:pPr algn="just">
              <a:buFont typeface="Wingdings" pitchFamily="2" charset="2"/>
              <a:buChar char="§"/>
            </a:pPr>
            <a:r>
              <a:rPr lang="en-US" sz="2000" dirty="0">
                <a:solidFill>
                  <a:schemeClr val="tx1">
                    <a:lumMod val="65000"/>
                    <a:lumOff val="35000"/>
                  </a:schemeClr>
                </a:solidFill>
                <a:latin typeface="Calibri" panose="020F0502020204030204" pitchFamily="34" charset="0"/>
                <a:cs typeface="Calibri" panose="020F0502020204030204" pitchFamily="34" charset="0"/>
              </a:rPr>
              <a:t>An economic model for RES was proposed to calculate the annual cost and cost of energy (</a:t>
            </a:r>
            <a:r>
              <a:rPr lang="en-US" sz="2000" dirty="0" err="1">
                <a:solidFill>
                  <a:schemeClr val="tx1">
                    <a:lumMod val="65000"/>
                    <a:lumOff val="35000"/>
                  </a:schemeClr>
                </a:solidFill>
                <a:latin typeface="Calibri" panose="020F0502020204030204" pitchFamily="34" charset="0"/>
                <a:cs typeface="Calibri" panose="020F0502020204030204" pitchFamily="34" charset="0"/>
              </a:rPr>
              <a:t>CoE</a:t>
            </a:r>
            <a:r>
              <a:rPr lang="en-US" sz="2000" dirty="0">
                <a:solidFill>
                  <a:schemeClr val="tx1">
                    <a:lumMod val="65000"/>
                    <a:lumOff val="35000"/>
                  </a:schemeClr>
                </a:solidFill>
                <a:latin typeface="Calibri" panose="020F0502020204030204" pitchFamily="34" charset="0"/>
                <a:cs typeface="Calibri" panose="020F0502020204030204" pitchFamily="34" charset="0"/>
              </a:rPr>
              <a:t>) considering profit margin, lifetime of component.               </a:t>
            </a:r>
          </a:p>
          <a:p>
            <a:pPr algn="just">
              <a:buFont typeface="Wingdings" pitchFamily="2" charset="2"/>
              <a:buChar char="§"/>
            </a:pPr>
            <a:r>
              <a:rPr lang="en-US" sz="2000" dirty="0">
                <a:solidFill>
                  <a:schemeClr val="tx1">
                    <a:lumMod val="65000"/>
                    <a:lumOff val="35000"/>
                  </a:schemeClr>
                </a:solidFill>
                <a:latin typeface="Calibri" panose="020F0502020204030204" pitchFamily="34" charset="0"/>
                <a:cs typeface="Calibri" panose="020F0502020204030204" pitchFamily="34" charset="0"/>
              </a:rPr>
              <a:t>GWO algorithm determine economic and technical feasibility of floating    solar PV panels, wind turbine for Korean Export Processing Zone (KEPZ),   and </a:t>
            </a:r>
            <a:r>
              <a:rPr lang="en-US" sz="2000" dirty="0" err="1">
                <a:solidFill>
                  <a:schemeClr val="tx1">
                    <a:lumMod val="65000"/>
                    <a:lumOff val="35000"/>
                  </a:schemeClr>
                </a:solidFill>
                <a:latin typeface="Calibri" panose="020F0502020204030204" pitchFamily="34" charset="0"/>
                <a:cs typeface="Calibri" panose="020F0502020204030204" pitchFamily="34" charset="0"/>
              </a:rPr>
              <a:t>LCoE</a:t>
            </a:r>
            <a:r>
              <a:rPr lang="en-US" sz="2000" dirty="0">
                <a:solidFill>
                  <a:schemeClr val="tx1">
                    <a:lumMod val="65000"/>
                    <a:lumOff val="35000"/>
                  </a:schemeClr>
                </a:solidFill>
                <a:latin typeface="Calibri" panose="020F0502020204030204" pitchFamily="34" charset="0"/>
                <a:cs typeface="Calibri" panose="020F0502020204030204" pitchFamily="34" charset="0"/>
              </a:rPr>
              <a:t> was found 0.106 $/kWh. </a:t>
            </a:r>
          </a:p>
          <a:p>
            <a:pPr algn="just">
              <a:buFont typeface="Wingdings" pitchFamily="2" charset="2"/>
              <a:buChar char="§"/>
            </a:pPr>
            <a:r>
              <a:rPr lang="en-US" sz="2000" dirty="0">
                <a:solidFill>
                  <a:schemeClr val="tx1">
                    <a:lumMod val="65000"/>
                    <a:lumOff val="35000"/>
                  </a:schemeClr>
                </a:solidFill>
                <a:latin typeface="Calibri" panose="020F0502020204030204" pitchFamily="34" charset="0"/>
                <a:cs typeface="Calibri" panose="020F0502020204030204" pitchFamily="34" charset="0"/>
              </a:rPr>
              <a:t>It can be concluded that 20% of total annual energy demand of KEPZ, </a:t>
            </a:r>
            <a:r>
              <a:rPr lang="en-US" sz="2000" dirty="0" err="1">
                <a:solidFill>
                  <a:schemeClr val="tx1">
                    <a:lumMod val="65000"/>
                    <a:lumOff val="35000"/>
                  </a:schemeClr>
                </a:solidFill>
                <a:latin typeface="Calibri" panose="020F0502020204030204" pitchFamily="34" charset="0"/>
                <a:cs typeface="Calibri" panose="020F0502020204030204" pitchFamily="34" charset="0"/>
              </a:rPr>
              <a:t>Chattagram</a:t>
            </a:r>
            <a:r>
              <a:rPr lang="en-US" sz="2000" dirty="0">
                <a:solidFill>
                  <a:schemeClr val="tx1">
                    <a:lumMod val="65000"/>
                    <a:lumOff val="35000"/>
                  </a:schemeClr>
                </a:solidFill>
                <a:latin typeface="Calibri" panose="020F0502020204030204" pitchFamily="34" charset="0"/>
                <a:cs typeface="Calibri" panose="020F0502020204030204" pitchFamily="34" charset="0"/>
              </a:rPr>
              <a:t> can be provided by renewable distributed  generator.</a:t>
            </a:r>
          </a:p>
          <a:p>
            <a:pPr marL="457200" indent="-457200" algn="just">
              <a:buNone/>
            </a:pPr>
            <a:endParaRPr lang="en-US" sz="2000" dirty="0">
              <a:solidFill>
                <a:schemeClr val="tx1">
                  <a:lumMod val="65000"/>
                  <a:lumOff val="35000"/>
                </a:schemeClr>
              </a:solidFill>
              <a:latin typeface="Calibri" panose="020F0502020204030204" pitchFamily="34" charset="0"/>
              <a:cs typeface="Calibri" panose="020F0502020204030204" pitchFamily="34" charset="0"/>
            </a:endParaRPr>
          </a:p>
          <a:p>
            <a:pPr marL="457200" indent="-457200" algn="just">
              <a:buNone/>
            </a:pPr>
            <a:endParaRPr lang="en-US" sz="2000" dirty="0">
              <a:solidFill>
                <a:schemeClr val="tx1">
                  <a:lumMod val="65000"/>
                  <a:lumOff val="35000"/>
                </a:schemeClr>
              </a:solidFill>
              <a:latin typeface="Calibri" panose="020F0502020204030204" pitchFamily="34" charset="0"/>
              <a:cs typeface="Calibri" panose="020F0502020204030204" pitchFamily="34" charset="0"/>
            </a:endParaRPr>
          </a:p>
        </p:txBody>
      </p:sp>
      <p:cxnSp>
        <p:nvCxnSpPr>
          <p:cNvPr id="5" name="Straight Connector 4"/>
          <p:cNvCxnSpPr/>
          <p:nvPr/>
        </p:nvCxnSpPr>
        <p:spPr>
          <a:xfrm>
            <a:off x="457200" y="1447800"/>
            <a:ext cx="8229600" cy="0"/>
          </a:xfrm>
          <a:prstGeom prst="line">
            <a:avLst/>
          </a:prstGeom>
          <a:ln w="28575"/>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09001916"/>
      </p:ext>
    </p:extLst>
  </p:cSld>
  <p:clrMapOvr>
    <a:masterClrMapping/>
  </p:clrMapOvr>
  <p:transition spd="slow">
    <p:push dir="u"/>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noFill/>
          <a:ln>
            <a:noFill/>
          </a:ln>
        </p:spPr>
        <p:txBody>
          <a:bodyPr>
            <a:normAutofit/>
          </a:bodyPr>
          <a:lstStyle/>
          <a:p>
            <a:r>
              <a:rPr lang="en-US" sz="3600" dirty="0">
                <a:solidFill>
                  <a:schemeClr val="accent1"/>
                </a:solidFill>
                <a:latin typeface="Calibri" panose="020F0502020204030204" pitchFamily="34" charset="0"/>
                <a:cs typeface="Calibri" panose="020F0502020204030204" pitchFamily="34" charset="0"/>
              </a:rPr>
              <a:t>REFERENCES</a:t>
            </a:r>
            <a:endParaRPr lang="en-US" dirty="0">
              <a:solidFill>
                <a:schemeClr val="accent1"/>
              </a:solidFill>
              <a:latin typeface="Calibri" panose="020F0502020204030204" pitchFamily="34" charset="0"/>
              <a:cs typeface="Calibri" panose="020F0502020204030204" pitchFamily="34" charset="0"/>
            </a:endParaRPr>
          </a:p>
        </p:txBody>
      </p:sp>
      <p:sp>
        <p:nvSpPr>
          <p:cNvPr id="3" name="Content Placeholder 2"/>
          <p:cNvSpPr>
            <a:spLocks noGrp="1"/>
          </p:cNvSpPr>
          <p:nvPr>
            <p:ph idx="1"/>
          </p:nvPr>
        </p:nvSpPr>
        <p:spPr/>
        <p:txBody>
          <a:bodyPr>
            <a:normAutofit lnSpcReduction="10000"/>
          </a:bodyPr>
          <a:lstStyle/>
          <a:p>
            <a:pPr marL="457200" indent="-457200" algn="just">
              <a:buFont typeface="+mj-lt"/>
              <a:buAutoNum type="arabicPeriod"/>
            </a:pPr>
            <a:r>
              <a:rPr lang="en-US" sz="2000" dirty="0">
                <a:latin typeface="Times New Roman" panose="02020603050405020304" pitchFamily="18" charset="0"/>
                <a:cs typeface="Times New Roman" panose="02020603050405020304" pitchFamily="18" charset="0"/>
              </a:rPr>
              <a:t>A. </a:t>
            </a:r>
            <a:r>
              <a:rPr lang="en-US" sz="2000" dirty="0" err="1">
                <a:latin typeface="Times New Roman" panose="02020603050405020304" pitchFamily="18" charset="0"/>
                <a:cs typeface="Times New Roman" panose="02020603050405020304" pitchFamily="18" charset="0"/>
              </a:rPr>
              <a:t>Sahu</a:t>
            </a:r>
            <a:r>
              <a:rPr lang="en-US" sz="2000" dirty="0">
                <a:latin typeface="Times New Roman" panose="02020603050405020304" pitchFamily="18" charset="0"/>
                <a:cs typeface="Times New Roman" panose="02020603050405020304" pitchFamily="18" charset="0"/>
              </a:rPr>
              <a:t>, N. </a:t>
            </a:r>
            <a:r>
              <a:rPr lang="en-US" sz="2000" dirty="0" err="1">
                <a:latin typeface="Times New Roman" panose="02020603050405020304" pitchFamily="18" charset="0"/>
                <a:cs typeface="Times New Roman" panose="02020603050405020304" pitchFamily="18" charset="0"/>
              </a:rPr>
              <a:t>Yadav</a:t>
            </a:r>
            <a:r>
              <a:rPr lang="en-US" sz="2000" dirty="0">
                <a:latin typeface="Times New Roman" panose="02020603050405020304" pitchFamily="18" charset="0"/>
                <a:cs typeface="Times New Roman" panose="02020603050405020304" pitchFamily="18" charset="0"/>
              </a:rPr>
              <a:t>, and K. </a:t>
            </a:r>
            <a:r>
              <a:rPr lang="en-US" sz="2000" dirty="0" err="1">
                <a:latin typeface="Times New Roman" panose="02020603050405020304" pitchFamily="18" charset="0"/>
                <a:cs typeface="Times New Roman" panose="02020603050405020304" pitchFamily="18" charset="0"/>
              </a:rPr>
              <a:t>Sudhakar</a:t>
            </a:r>
            <a:r>
              <a:rPr lang="en-US" sz="2000" dirty="0">
                <a:latin typeface="Times New Roman" panose="02020603050405020304" pitchFamily="18" charset="0"/>
                <a:cs typeface="Times New Roman" panose="02020603050405020304" pitchFamily="18" charset="0"/>
              </a:rPr>
              <a:t>, “Floating photovoltaic power plant: A review,” </a:t>
            </a:r>
            <a:r>
              <a:rPr lang="en-US" sz="2000" i="1" dirty="0">
                <a:latin typeface="Times New Roman" panose="02020603050405020304" pitchFamily="18" charset="0"/>
                <a:cs typeface="Times New Roman" panose="02020603050405020304" pitchFamily="18" charset="0"/>
              </a:rPr>
              <a:t>Renewable and sustainable energy reviews</a:t>
            </a:r>
            <a:r>
              <a:rPr lang="en-US" sz="2000" dirty="0">
                <a:latin typeface="Times New Roman" panose="02020603050405020304" pitchFamily="18" charset="0"/>
                <a:cs typeface="Times New Roman" panose="02020603050405020304" pitchFamily="18" charset="0"/>
              </a:rPr>
              <a:t>, vol. 66, pp. 815–824, 2016.</a:t>
            </a:r>
          </a:p>
          <a:p>
            <a:pPr marL="457200" indent="-457200" algn="just">
              <a:buFont typeface="+mj-lt"/>
              <a:buAutoNum type="arabicPeriod"/>
            </a:pPr>
            <a:r>
              <a:rPr lang="en-US" sz="2000" dirty="0">
                <a:latin typeface="Times New Roman" panose="02020603050405020304" pitchFamily="18" charset="0"/>
                <a:cs typeface="Times New Roman" panose="02020603050405020304" pitchFamily="18" charset="0"/>
              </a:rPr>
              <a:t>S. </a:t>
            </a:r>
            <a:r>
              <a:rPr lang="en-US" sz="2000" dirty="0" err="1">
                <a:latin typeface="Times New Roman" panose="02020603050405020304" pitchFamily="18" charset="0"/>
                <a:cs typeface="Times New Roman" panose="02020603050405020304" pitchFamily="18" charset="0"/>
              </a:rPr>
              <a:t>Mirjalili</a:t>
            </a:r>
            <a:r>
              <a:rPr lang="en-US" sz="2000" dirty="0">
                <a:latin typeface="Times New Roman" panose="02020603050405020304" pitchFamily="18" charset="0"/>
                <a:cs typeface="Times New Roman" panose="02020603050405020304" pitchFamily="18" charset="0"/>
              </a:rPr>
              <a:t>, S. M. </a:t>
            </a:r>
            <a:r>
              <a:rPr lang="en-US" sz="2000" dirty="0" err="1">
                <a:latin typeface="Times New Roman" panose="02020603050405020304" pitchFamily="18" charset="0"/>
                <a:cs typeface="Times New Roman" panose="02020603050405020304" pitchFamily="18" charset="0"/>
              </a:rPr>
              <a:t>Mirjalili</a:t>
            </a:r>
            <a:r>
              <a:rPr lang="en-US" sz="2000" dirty="0">
                <a:latin typeface="Times New Roman" panose="02020603050405020304" pitchFamily="18" charset="0"/>
                <a:cs typeface="Times New Roman" panose="02020603050405020304" pitchFamily="18" charset="0"/>
              </a:rPr>
              <a:t>, and A. Lewis, “Grey wolf optimizer,” </a:t>
            </a:r>
            <a:r>
              <a:rPr lang="en-US" sz="2000" i="1" dirty="0">
                <a:latin typeface="Times New Roman" panose="02020603050405020304" pitchFamily="18" charset="0"/>
                <a:cs typeface="Times New Roman" panose="02020603050405020304" pitchFamily="18" charset="0"/>
              </a:rPr>
              <a:t>Advances in engineering software</a:t>
            </a:r>
            <a:r>
              <a:rPr lang="en-US" sz="2000" dirty="0">
                <a:latin typeface="Times New Roman" panose="02020603050405020304" pitchFamily="18" charset="0"/>
                <a:cs typeface="Times New Roman" panose="02020603050405020304" pitchFamily="18" charset="0"/>
              </a:rPr>
              <a:t>, vol. 69, pp. 46–61, 2014. </a:t>
            </a:r>
          </a:p>
          <a:p>
            <a:pPr marL="457200" indent="-457200" algn="just">
              <a:buFont typeface="+mj-lt"/>
              <a:buAutoNum type="arabicPeriod"/>
            </a:pPr>
            <a:r>
              <a:rPr lang="en-US" sz="2000" dirty="0">
                <a:latin typeface="Times New Roman" panose="02020603050405020304" pitchFamily="18" charset="0"/>
                <a:cs typeface="Times New Roman" panose="02020603050405020304" pitchFamily="18" charset="0"/>
              </a:rPr>
              <a:t>S. </a:t>
            </a:r>
            <a:r>
              <a:rPr lang="en-US" sz="2000" dirty="0" err="1">
                <a:latin typeface="Times New Roman" panose="02020603050405020304" pitchFamily="18" charset="0"/>
                <a:cs typeface="Times New Roman" panose="02020603050405020304" pitchFamily="18" charset="0"/>
              </a:rPr>
              <a:t>Diaf</a:t>
            </a:r>
            <a:r>
              <a:rPr lang="en-US" sz="2000" dirty="0">
                <a:latin typeface="Times New Roman" panose="02020603050405020304" pitchFamily="18" charset="0"/>
                <a:cs typeface="Times New Roman" panose="02020603050405020304" pitchFamily="18" charset="0"/>
              </a:rPr>
              <a:t>, G. </a:t>
            </a:r>
            <a:r>
              <a:rPr lang="en-US" sz="2000" dirty="0" err="1">
                <a:latin typeface="Times New Roman" panose="02020603050405020304" pitchFamily="18" charset="0"/>
                <a:cs typeface="Times New Roman" panose="02020603050405020304" pitchFamily="18" charset="0"/>
              </a:rPr>
              <a:t>Notton</a:t>
            </a:r>
            <a:r>
              <a:rPr lang="en-US" sz="2000" dirty="0">
                <a:latin typeface="Times New Roman" panose="02020603050405020304" pitchFamily="18" charset="0"/>
                <a:cs typeface="Times New Roman" panose="02020603050405020304" pitchFamily="18" charset="0"/>
              </a:rPr>
              <a:t>, M. </a:t>
            </a:r>
            <a:r>
              <a:rPr lang="en-US" sz="2000" dirty="0" err="1">
                <a:latin typeface="Times New Roman" panose="02020603050405020304" pitchFamily="18" charset="0"/>
                <a:cs typeface="Times New Roman" panose="02020603050405020304" pitchFamily="18" charset="0"/>
              </a:rPr>
              <a:t>Belhamel</a:t>
            </a:r>
            <a:r>
              <a:rPr lang="en-US" sz="2000" dirty="0">
                <a:latin typeface="Times New Roman" panose="02020603050405020304" pitchFamily="18" charset="0"/>
                <a:cs typeface="Times New Roman" panose="02020603050405020304" pitchFamily="18" charset="0"/>
              </a:rPr>
              <a:t>, M. </a:t>
            </a:r>
            <a:r>
              <a:rPr lang="en-US" sz="2000" dirty="0" err="1">
                <a:latin typeface="Times New Roman" panose="02020603050405020304" pitchFamily="18" charset="0"/>
                <a:cs typeface="Times New Roman" panose="02020603050405020304" pitchFamily="18" charset="0"/>
              </a:rPr>
              <a:t>Haddadi</a:t>
            </a:r>
            <a:r>
              <a:rPr lang="en-US" sz="2000" dirty="0">
                <a:latin typeface="Times New Roman" panose="02020603050405020304" pitchFamily="18" charset="0"/>
                <a:cs typeface="Times New Roman" panose="02020603050405020304" pitchFamily="18" charset="0"/>
              </a:rPr>
              <a:t>, and A. Louche, “Design and techno-economical optimization for hybrid </a:t>
            </a:r>
            <a:r>
              <a:rPr lang="en-US" sz="2000" dirty="0" err="1">
                <a:latin typeface="Times New Roman" panose="02020603050405020304" pitchFamily="18" charset="0"/>
                <a:cs typeface="Times New Roman" panose="02020603050405020304" pitchFamily="18" charset="0"/>
              </a:rPr>
              <a:t>pv</a:t>
            </a:r>
            <a:r>
              <a:rPr lang="en-US" sz="2000" dirty="0">
                <a:latin typeface="Times New Roman" panose="02020603050405020304" pitchFamily="18" charset="0"/>
                <a:cs typeface="Times New Roman" panose="02020603050405020304" pitchFamily="18" charset="0"/>
              </a:rPr>
              <a:t>/wind system under various meteorological conditions,” </a:t>
            </a:r>
            <a:r>
              <a:rPr lang="en-US" sz="2000" i="1" dirty="0">
                <a:latin typeface="Times New Roman" panose="02020603050405020304" pitchFamily="18" charset="0"/>
                <a:cs typeface="Times New Roman" panose="02020603050405020304" pitchFamily="18" charset="0"/>
              </a:rPr>
              <a:t>Applied Energy, </a:t>
            </a:r>
            <a:r>
              <a:rPr lang="en-US" sz="2000" dirty="0">
                <a:latin typeface="Times New Roman" panose="02020603050405020304" pitchFamily="18" charset="0"/>
                <a:cs typeface="Times New Roman" panose="02020603050405020304" pitchFamily="18" charset="0"/>
              </a:rPr>
              <a:t>vol. 85, no. 10, pp. 968–987, 2008</a:t>
            </a:r>
          </a:p>
          <a:p>
            <a:pPr marL="457200" indent="-457200" algn="just">
              <a:buFont typeface="+mj-lt"/>
              <a:buAutoNum type="arabicPeriod"/>
            </a:pPr>
            <a:r>
              <a:rPr lang="en-US" sz="2000" dirty="0">
                <a:latin typeface="Times New Roman" panose="02020603050405020304" pitchFamily="18" charset="0"/>
                <a:cs typeface="Times New Roman" panose="02020603050405020304" pitchFamily="18" charset="0"/>
              </a:rPr>
              <a:t>NREL, “Solar resource data and tools,” 2022. [Online]. Available: https://www.nrel.gov/grid/solar-resource/renewable-resource-data.html</a:t>
            </a:r>
          </a:p>
          <a:p>
            <a:pPr marL="457200" indent="-457200" algn="just">
              <a:buFont typeface="+mj-lt"/>
              <a:buAutoNum type="arabicPeriod"/>
            </a:pPr>
            <a:r>
              <a:rPr lang="en-US" sz="2000" dirty="0">
                <a:latin typeface="Times New Roman" panose="02020603050405020304" pitchFamily="18" charset="0"/>
                <a:cs typeface="Times New Roman" panose="02020603050405020304" pitchFamily="18" charset="0"/>
              </a:rPr>
              <a:t>S. Singh, M. Singh, and S. C. </a:t>
            </a:r>
            <a:r>
              <a:rPr lang="en-US" sz="2000" dirty="0" err="1">
                <a:latin typeface="Times New Roman" panose="02020603050405020304" pitchFamily="18" charset="0"/>
                <a:cs typeface="Times New Roman" panose="02020603050405020304" pitchFamily="18" charset="0"/>
              </a:rPr>
              <a:t>Kaushik</a:t>
            </a:r>
            <a:r>
              <a:rPr lang="en-US" sz="2000" dirty="0">
                <a:latin typeface="Times New Roman" panose="02020603050405020304" pitchFamily="18" charset="0"/>
                <a:cs typeface="Times New Roman" panose="02020603050405020304" pitchFamily="18" charset="0"/>
              </a:rPr>
              <a:t>, “Feasibility study of an islanded </a:t>
            </a:r>
            <a:r>
              <a:rPr lang="en-US" sz="2000" dirty="0" err="1">
                <a:latin typeface="Times New Roman" panose="02020603050405020304" pitchFamily="18" charset="0"/>
                <a:cs typeface="Times New Roman" panose="02020603050405020304" pitchFamily="18" charset="0"/>
              </a:rPr>
              <a:t>microgrid</a:t>
            </a:r>
            <a:r>
              <a:rPr lang="en-US" sz="2000" dirty="0">
                <a:latin typeface="Times New Roman" panose="02020603050405020304" pitchFamily="18" charset="0"/>
                <a:cs typeface="Times New Roman" panose="02020603050405020304" pitchFamily="18" charset="0"/>
              </a:rPr>
              <a:t> in rural area consisting of </a:t>
            </a:r>
            <a:r>
              <a:rPr lang="en-US" sz="2000" dirty="0" err="1">
                <a:latin typeface="Times New Roman" panose="02020603050405020304" pitchFamily="18" charset="0"/>
                <a:cs typeface="Times New Roman" panose="02020603050405020304" pitchFamily="18" charset="0"/>
              </a:rPr>
              <a:t>pv</a:t>
            </a:r>
            <a:r>
              <a:rPr lang="en-US" sz="2000" dirty="0">
                <a:latin typeface="Times New Roman" panose="02020603050405020304" pitchFamily="18" charset="0"/>
                <a:cs typeface="Times New Roman" panose="02020603050405020304" pitchFamily="18" charset="0"/>
              </a:rPr>
              <a:t>, wind, biomass and battery energy storage system,”</a:t>
            </a:r>
            <a:r>
              <a:rPr lang="en-US" sz="2000" i="1" dirty="0">
                <a:latin typeface="Times New Roman" panose="02020603050405020304" pitchFamily="18" charset="0"/>
                <a:cs typeface="Times New Roman" panose="02020603050405020304" pitchFamily="18" charset="0"/>
              </a:rPr>
              <a:t> Energy Conversion and Management</a:t>
            </a:r>
            <a:r>
              <a:rPr lang="en-US" sz="2000" dirty="0">
                <a:latin typeface="Times New Roman" panose="02020603050405020304" pitchFamily="18" charset="0"/>
                <a:cs typeface="Times New Roman" panose="02020603050405020304" pitchFamily="18" charset="0"/>
              </a:rPr>
              <a:t>, vol. 128, pp. 178–190, 2016</a:t>
            </a:r>
            <a:endParaRPr lang="en-US" sz="2000" dirty="0">
              <a:solidFill>
                <a:schemeClr val="tx1">
                  <a:lumMod val="65000"/>
                  <a:lumOff val="35000"/>
                </a:schemeClr>
              </a:solidFill>
              <a:latin typeface="Times New Roman" panose="02020603050405020304" pitchFamily="18" charset="0"/>
              <a:cs typeface="Times New Roman" panose="02020603050405020304" pitchFamily="18" charset="0"/>
            </a:endParaRPr>
          </a:p>
        </p:txBody>
      </p:sp>
      <p:cxnSp>
        <p:nvCxnSpPr>
          <p:cNvPr id="5" name="Straight Connector 4"/>
          <p:cNvCxnSpPr/>
          <p:nvPr/>
        </p:nvCxnSpPr>
        <p:spPr>
          <a:xfrm>
            <a:off x="457200" y="1447800"/>
            <a:ext cx="8229600" cy="0"/>
          </a:xfrm>
          <a:prstGeom prst="line">
            <a:avLst/>
          </a:prstGeom>
          <a:ln w="28575"/>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27098223"/>
      </p:ext>
    </p:extLst>
  </p:cSld>
  <p:clrMapOvr>
    <a:masterClrMapping/>
  </p:clrMapOvr>
  <p:transition spd="slow">
    <p:push dir="u"/>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00400" y="3124200"/>
            <a:ext cx="2514600" cy="990600"/>
          </a:xfrm>
          <a:noFill/>
          <a:ln>
            <a:noFill/>
          </a:ln>
        </p:spPr>
        <p:txBody>
          <a:bodyPr>
            <a:normAutofit/>
          </a:bodyPr>
          <a:lstStyle/>
          <a:p>
            <a:r>
              <a:rPr lang="en-US" sz="3600" dirty="0">
                <a:solidFill>
                  <a:schemeClr val="accent1"/>
                </a:solidFill>
                <a:latin typeface="Calibri" panose="020F0502020204030204" pitchFamily="34" charset="0"/>
                <a:cs typeface="Calibri" panose="020F0502020204030204" pitchFamily="34" charset="0"/>
              </a:rPr>
              <a:t>THANK YOU</a:t>
            </a:r>
            <a:endParaRPr lang="en-US" dirty="0">
              <a:solidFill>
                <a:schemeClr val="accent1"/>
              </a:solidFill>
              <a:latin typeface="Calibri" panose="020F0502020204030204" pitchFamily="34" charset="0"/>
              <a:cs typeface="Calibri" panose="020F0502020204030204" pitchFamily="34" charset="0"/>
            </a:endParaRPr>
          </a:p>
        </p:txBody>
      </p:sp>
      <p:cxnSp>
        <p:nvCxnSpPr>
          <p:cNvPr id="5" name="Straight Connector 4"/>
          <p:cNvCxnSpPr/>
          <p:nvPr/>
        </p:nvCxnSpPr>
        <p:spPr>
          <a:xfrm>
            <a:off x="381000" y="4038600"/>
            <a:ext cx="8229600"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6" name="Straight Connector 5"/>
          <p:cNvCxnSpPr/>
          <p:nvPr/>
        </p:nvCxnSpPr>
        <p:spPr>
          <a:xfrm>
            <a:off x="457200" y="3200400"/>
            <a:ext cx="8229600" cy="0"/>
          </a:xfrm>
          <a:prstGeom prst="line">
            <a:avLst/>
          </a:prstGeom>
          <a:ln w="28575"/>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90363321"/>
      </p:ext>
    </p:extLst>
  </p:cSld>
  <p:clrMapOvr>
    <a:masterClrMapping/>
  </p:clrMapOvr>
  <p:transition spd="slow">
    <p:push dir="u"/>
  </p:transition>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larity">
  <a:themeElements>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Office Classic 2">
      <a:majorFont>
        <a:latin typeface="Arial"/>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larity">
      <a:fillStyleLst>
        <a:solidFill>
          <a:schemeClr val="phClr"/>
        </a:solidFill>
        <a:gradFill rotWithShape="1">
          <a:gsLst>
            <a:gs pos="0">
              <a:schemeClr val="phClr">
                <a:tint val="50000"/>
                <a:shade val="86000"/>
                <a:satMod val="140000"/>
              </a:schemeClr>
            </a:gs>
            <a:gs pos="45000">
              <a:schemeClr val="phClr">
                <a:tint val="48000"/>
                <a:satMod val="150000"/>
              </a:schemeClr>
            </a:gs>
            <a:gs pos="100000">
              <a:schemeClr val="phClr">
                <a:tint val="28000"/>
                <a:satMod val="160000"/>
              </a:schemeClr>
            </a:gs>
          </a:gsLst>
          <a:path path="circle">
            <a:fillToRect l="100000" t="100000" r="100000" b="100000"/>
          </a:path>
        </a:gradFill>
        <a:gradFill rotWithShape="1">
          <a:gsLst>
            <a:gs pos="0">
              <a:schemeClr val="phClr">
                <a:shade val="70000"/>
                <a:satMod val="150000"/>
              </a:schemeClr>
            </a:gs>
            <a:gs pos="34000">
              <a:schemeClr val="phClr">
                <a:shade val="70000"/>
                <a:satMod val="140000"/>
              </a:schemeClr>
            </a:gs>
            <a:gs pos="70000">
              <a:schemeClr val="phClr">
                <a:tint val="100000"/>
                <a:shade val="90000"/>
                <a:satMod val="140000"/>
              </a:schemeClr>
            </a:gs>
            <a:gs pos="100000">
              <a:schemeClr val="phClr">
                <a:tint val="100000"/>
                <a:shade val="100000"/>
                <a:satMod val="100000"/>
              </a:schemeClr>
            </a:gs>
          </a:gsLst>
          <a:path path="circle">
            <a:fillToRect l="100000" t="100000" r="100000" b="100000"/>
          </a:path>
        </a:gradFill>
      </a:fillStyleLst>
      <a:lnStyleLst>
        <a:ln w="9525" cap="flat" cmpd="sng" algn="ctr">
          <a:solidFill>
            <a:schemeClr val="phClr"/>
          </a:solidFill>
          <a:prstDash val="solid"/>
        </a:ln>
        <a:ln w="26425" cap="flat" cmpd="sng" algn="ctr">
          <a:solidFill>
            <a:schemeClr val="phClr"/>
          </a:solidFill>
          <a:prstDash val="solid"/>
        </a:ln>
        <a:ln w="4445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38100" dist="25400" dir="2700000" algn="br" rotWithShape="0">
              <a:srgbClr val="000000">
                <a:alpha val="60000"/>
              </a:srgbClr>
            </a:outerShdw>
          </a:effectLst>
          <a:scene3d>
            <a:camera prst="orthographicFront">
              <a:rot lat="0" lon="0" rev="0"/>
            </a:camera>
            <a:lightRig rig="balanced" dir="t">
              <a:rot lat="0" lon="0" rev="5100000"/>
            </a:lightRig>
          </a:scene3d>
          <a:sp3d contourW="6350">
            <a:bevelT w="29210" h="12700"/>
            <a:contourClr>
              <a:schemeClr val="phClr">
                <a:shade val="30000"/>
                <a:satMod val="130000"/>
              </a:schemeClr>
            </a:contourClr>
          </a:sp3d>
        </a:effectStyle>
      </a:effectStyleLst>
      <a:bgFillStyleLst>
        <a:solidFill>
          <a:schemeClr val="phClr"/>
        </a:solidFill>
        <a:gradFill rotWithShape="1">
          <a:gsLst>
            <a:gs pos="0">
              <a:schemeClr val="phClr">
                <a:tint val="85000"/>
                <a:satMod val="180000"/>
              </a:schemeClr>
            </a:gs>
            <a:gs pos="40000">
              <a:schemeClr val="phClr">
                <a:tint val="95000"/>
                <a:shade val="85000"/>
                <a:satMod val="150000"/>
              </a:schemeClr>
            </a:gs>
            <a:gs pos="100000">
              <a:schemeClr val="phClr">
                <a:shade val="45000"/>
                <a:satMod val="200000"/>
              </a:schemeClr>
            </a:gs>
          </a:gsLst>
          <a:lin ang="5400000" scaled="0"/>
        </a:gradFill>
        <a:blipFill rotWithShape="1">
          <a:blip xmlns:r="http://schemas.openxmlformats.org/officeDocument/2006/relationships" r:embed="rId1">
            <a:duotone>
              <a:schemeClr val="phClr">
                <a:shade val="55000"/>
              </a:schemeClr>
              <a:schemeClr val="phClr">
                <a:tint val="97000"/>
                <a:satMod val="95000"/>
              </a:schemeClr>
            </a:duotone>
          </a:blip>
          <a:tile tx="0" ty="0" sx="70000" sy="70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Clarity</Template>
  <TotalTime>546</TotalTime>
  <Words>1424</Words>
  <Application>Microsoft Office PowerPoint</Application>
  <PresentationFormat>On-screen Show (4:3)</PresentationFormat>
  <Paragraphs>220</Paragraphs>
  <Slides>19</Slides>
  <Notes>8</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19</vt:i4>
      </vt:variant>
    </vt:vector>
  </HeadingPairs>
  <TitlesOfParts>
    <vt:vector size="27" baseType="lpstr">
      <vt:lpstr>Arial</vt:lpstr>
      <vt:lpstr>Arial Narrow</vt:lpstr>
      <vt:lpstr>Calibri</vt:lpstr>
      <vt:lpstr>Cambria Math</vt:lpstr>
      <vt:lpstr>Liberation Serif</vt:lpstr>
      <vt:lpstr>Times New Roman</vt:lpstr>
      <vt:lpstr>Wingdings</vt:lpstr>
      <vt:lpstr>Clarity</vt:lpstr>
      <vt:lpstr>Design Optimization and Assessment of Floating Solar PV with Wind Turbine Systems at KEPZ</vt:lpstr>
      <vt:lpstr>PRESENTATION OUTLINE</vt:lpstr>
      <vt:lpstr>INTRODUCTION</vt:lpstr>
      <vt:lpstr>LITERATURE REVIEW</vt:lpstr>
      <vt:lpstr>AIMS AND OBJECTIVES</vt:lpstr>
      <vt:lpstr>METHODOLOGY (CONT.)</vt:lpstr>
      <vt:lpstr>METHODOLOGY</vt:lpstr>
      <vt:lpstr>METHODOLOGY (CONT.)</vt:lpstr>
      <vt:lpstr>METHODOLOGY (CONT.)</vt:lpstr>
      <vt:lpstr>ANALYSIS CONDITIONS</vt:lpstr>
      <vt:lpstr>ANALYSIS CONDITIONS (CONT.)</vt:lpstr>
      <vt:lpstr>RESULTS AND SIMULATIONS</vt:lpstr>
      <vt:lpstr>RESULTS AND SIMULATIONS (CONT.)</vt:lpstr>
      <vt:lpstr>RESULTS AND SIMULATIONS (CONT.)</vt:lpstr>
      <vt:lpstr>RESULTS AND SIMULATIONS (CONT.)</vt:lpstr>
      <vt:lpstr>RESULTS AND SIMULATIONS (CONT.)</vt:lpstr>
      <vt:lpstr>CONCLUSIONS</vt:lpstr>
      <vt:lpstr>REFERENCES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Techno-Economic Optimization of Floating Solar PV and WT Using Gray Wolf Optimization at KEPZ</dc:title>
  <dc:creator>SHANTO</dc:creator>
  <cp:lastModifiedBy>Arafat Ibne Ikram</cp:lastModifiedBy>
  <cp:revision>83</cp:revision>
  <dcterms:created xsi:type="dcterms:W3CDTF">2006-08-16T00:00:00Z</dcterms:created>
  <dcterms:modified xsi:type="dcterms:W3CDTF">2023-11-24T19:57:52Z</dcterms:modified>
</cp:coreProperties>
</file>